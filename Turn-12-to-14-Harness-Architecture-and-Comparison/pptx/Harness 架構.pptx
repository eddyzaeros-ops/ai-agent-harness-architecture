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1" r:id="rId2"/>
    <p:sldId id="270" r:id="rId3"/>
    <p:sldId id="273" r:id="rId4"/>
    <p:sldId id="27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BAA6D-B321-4284-A881-904440566177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887E6-BE68-414D-95E4-0E3A535EFF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56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OPA (Open Policy Agent)</a:t>
            </a:r>
            <a:r>
              <a:rPr lang="zh-TW" altLang="en-US" dirty="0"/>
              <a:t> 是一個開源且通用的「政策引擎」，而它的政策（</a:t>
            </a:r>
            <a:r>
              <a:rPr lang="en-US" altLang="zh-TW" dirty="0"/>
              <a:t>Policy</a:t>
            </a:r>
            <a:r>
              <a:rPr lang="zh-TW" altLang="en-US" dirty="0"/>
              <a:t>）是用來定義誰有權限存取什麼資源、哪些設定符合安全規範的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規則檔案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2AD113-872C-4A7B-A499-0360F2B87D5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22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733758-8BC0-2970-0870-5E40CBCA3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66D383-02AE-C257-0DA7-C1BA5A8C2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E2C9E6-B037-9BFF-4B06-5013A0AC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A28CD7-A22F-620A-875C-4378DDC3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E4B604-4DAE-AAF4-F2D6-DFCA0896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75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0BA44F-0AF4-FD56-DADC-4000FB25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35F622-E0E0-7185-C3A4-BA136A5D3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E07DBA-AA3C-CE9F-229E-5B53D4C2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24932E-093D-52B3-4685-1C2A1687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838169-B92C-A79F-1DBD-724C8113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17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F6D54B-3C3C-0651-47A6-52D4C7DF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4FD479-E8AA-AAEF-CA0D-82BE3EFA4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639F93-F973-A526-2068-00692372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AB36F6-274F-2909-4D50-522E93FF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59A8C0-F5CA-86BC-7A90-1304A2F0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023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64066-7331-9F90-C102-E676398E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D605B9-CF80-2888-DBAA-22D56777E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9ED90-0488-99EF-DD6C-C183F7850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73C016-C11C-F6D8-412E-EE26A6BF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2C6F8F-54F0-9868-F711-C2161E29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205670-8376-16C9-2F26-674CA925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00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E194A-850D-87D3-714D-D916B3E5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B48E6C-3E0C-33CB-F061-BAA087270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79BC78-CAE3-EE35-8B29-49F31460B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B8A187E-155A-85B7-8C99-E915BCBD0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76AC9C-45E1-AD65-B875-EDF74E133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F4947AC-67E0-5C1D-66A5-C53C754C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505D6CB-279B-3579-F471-0795E3D8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74DBFC-AC1F-7754-F2B6-341496EB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54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77D7A-7B2E-3098-B706-71AD5235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5DDA7D-DAC1-D6A9-D7B2-5520F837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48307D-6A49-82D8-6C95-5504258A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9D28A6-C32E-3CB0-71C7-2B4D9639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38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A156B5-6A27-A712-56DA-39C3FA11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6279409-B24B-FEA3-845C-26264546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9C872C-F3B9-96A7-4084-2A11A4B6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99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286B7-39A6-0AC2-C8E3-DF85D8BA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54751D-99D6-421D-4797-AF2130A1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2BEE09-64A4-B827-D05A-B3AA5AF45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6AF1BA-C53E-2B1D-ADC2-DCE8316C7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F0C576-366A-4375-7CC7-A8FF263A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904C58-F5EC-7AEC-965A-F92C70B36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44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010EB-F08F-71B9-1AFE-7FA8EFB9E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774B6B-E450-0223-7F86-98BEF743F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776387C-5F3B-3A41-0D95-23F319F2B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040930-D2DB-509D-9049-2DBB30DF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983868-F006-1675-39F9-8C7040C7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32E546-05B4-879E-1F27-89D52082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39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6F526-DA35-662B-547D-470A92E3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A66B53-B925-049F-5469-2B43DA40D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D39034-F1B6-24CC-AE5E-2CA29A9F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F6D644-E3A3-EDC1-630D-5C98039C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4F4028-83FF-AEF2-2A08-44548CA5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17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E92FDB-F2DC-C0CC-6B19-904DF890A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96778C-318B-ADB9-4CC7-4E2E749AA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E6667B-F4D6-FA03-91B3-97C06F94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ADD356-2DB1-2B9A-61AE-F092EBEB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C3AC8D-9F2B-1333-03CE-CC5EF59C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12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DB8409-1B20-E81D-9265-39F44200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AA13D1-4A8C-C2B7-B83B-1001B1F1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0EB23B-D508-EB8C-F797-95163C839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0D09D-49BA-4A9E-9882-B3AFA331034E}" type="datetimeFigureOut">
              <a:rPr lang="zh-TW" altLang="en-US" smtClean="0"/>
              <a:t>2026/9/13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BD8BB8-A8A9-F1E2-00D1-81CB5B17D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9576C6-1C16-ADDF-42C8-F068F2176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AC6D2-7D68-4576-9360-0FA27B2955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55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FF212F5-4A2E-8E53-77FB-330626C7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C5E3DA9-8E37-04BF-953B-D1FB74EEBF15}"/>
              </a:ext>
            </a:extLst>
          </p:cNvPr>
          <p:cNvSpPr/>
          <p:nvPr/>
        </p:nvSpPr>
        <p:spPr>
          <a:xfrm>
            <a:off x="2045110" y="1445342"/>
            <a:ext cx="1150374" cy="373626"/>
          </a:xfrm>
          <a:prstGeom prst="rect">
            <a:avLst/>
          </a:prstGeom>
          <a:solidFill>
            <a:srgbClr val="0E3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ECA2C8-78F2-9AFB-C10A-B737C05616C7}"/>
              </a:ext>
            </a:extLst>
          </p:cNvPr>
          <p:cNvSpPr txBox="1"/>
          <p:nvPr/>
        </p:nvSpPr>
        <p:spPr>
          <a:xfrm>
            <a:off x="2109019" y="1401322"/>
            <a:ext cx="1022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身分鑑別與動態分流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879934-6C2B-2802-BF95-5469CD8FA5F3}"/>
              </a:ext>
            </a:extLst>
          </p:cNvPr>
          <p:cNvSpPr/>
          <p:nvPr/>
        </p:nvSpPr>
        <p:spPr>
          <a:xfrm>
            <a:off x="5024283" y="1568017"/>
            <a:ext cx="2276585" cy="373626"/>
          </a:xfrm>
          <a:prstGeom prst="rect">
            <a:avLst/>
          </a:prstGeom>
          <a:solidFill>
            <a:srgbClr val="FCFE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6CFADF-0838-9F91-ECDA-D914173E8F4F}"/>
              </a:ext>
            </a:extLst>
          </p:cNvPr>
          <p:cNvSpPr txBox="1"/>
          <p:nvPr/>
        </p:nvSpPr>
        <p:spPr>
          <a:xfrm>
            <a:off x="5024282" y="1499642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結合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RBAC/ABAC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零信任架構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落實最小權限動態授權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4843CF-4CBD-BE81-8507-FE275D4CEAEA}"/>
              </a:ext>
            </a:extLst>
          </p:cNvPr>
          <p:cNvSpPr txBox="1"/>
          <p:nvPr/>
        </p:nvSpPr>
        <p:spPr>
          <a:xfrm>
            <a:off x="1925099" y="2745880"/>
            <a:ext cx="2276585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輸出資料清洗、機密等級合規檢核、標籤式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ABAC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存取控制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1449F0-AA11-28F2-E9C1-8B9B1ACAB4C0}"/>
              </a:ext>
            </a:extLst>
          </p:cNvPr>
          <p:cNvSpPr txBox="1"/>
          <p:nvPr/>
        </p:nvSpPr>
        <p:spPr>
          <a:xfrm>
            <a:off x="5550725" y="2745880"/>
            <a:ext cx="1921790" cy="369332"/>
          </a:xfrm>
          <a:prstGeom prst="rect">
            <a:avLst/>
          </a:prstGeom>
          <a:solidFill>
            <a:schemeClr val="bg1"/>
          </a:solidFill>
          <a:ln>
            <a:solidFill>
              <a:srgbClr val="F2F6F7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動態流量分配於大中小模型，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純地端實體隔離，專網運算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E8724D-1881-C21E-C831-FF0E77BCE1BD}"/>
              </a:ext>
            </a:extLst>
          </p:cNvPr>
          <p:cNvSpPr txBox="1"/>
          <p:nvPr/>
        </p:nvSpPr>
        <p:spPr>
          <a:xfrm>
            <a:off x="9129023" y="2745880"/>
            <a:ext cx="2433067" cy="369332"/>
          </a:xfrm>
          <a:prstGeom prst="rect">
            <a:avLst/>
          </a:prstGeom>
          <a:solidFill>
            <a:srgbClr val="F1F6F7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對齊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OWASP Top 10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，防止提示詞注入、特權提升與敏感資料洩漏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0266D8-5C9D-2830-30A7-95153681B638}"/>
              </a:ext>
            </a:extLst>
          </p:cNvPr>
          <p:cNvSpPr txBox="1"/>
          <p:nvPr/>
        </p:nvSpPr>
        <p:spPr>
          <a:xfrm>
            <a:off x="1465007" y="3713293"/>
            <a:ext cx="1637641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Graph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工作流狀態機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虛擬檔案系統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(VFS)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D5D09F-D593-C892-7CCB-DF71BD6E23C2}"/>
              </a:ext>
            </a:extLst>
          </p:cNvPr>
          <p:cNvSpPr txBox="1"/>
          <p:nvPr/>
        </p:nvSpPr>
        <p:spPr>
          <a:xfrm>
            <a:off x="3131574" y="3732741"/>
            <a:ext cx="1494503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 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協同編排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深度任務規劃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AE2A7EF-A106-CC76-9C5C-392E6AA58AE6}"/>
              </a:ext>
            </a:extLst>
          </p:cNvPr>
          <p:cNvSpPr txBox="1"/>
          <p:nvPr/>
        </p:nvSpPr>
        <p:spPr>
          <a:xfrm>
            <a:off x="7844304" y="3713293"/>
            <a:ext cx="1872452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多層安全沙箱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(Sandbox)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人機審批中斷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(HITL)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1755FAC-ADA3-54DB-31D6-32B459AB1756}"/>
              </a:ext>
            </a:extLst>
          </p:cNvPr>
          <p:cNvSpPr txBox="1"/>
          <p:nvPr/>
        </p:nvSpPr>
        <p:spPr>
          <a:xfrm>
            <a:off x="9745682" y="3706239"/>
            <a:ext cx="1970696" cy="369332"/>
          </a:xfrm>
          <a:prstGeom prst="rect">
            <a:avLst/>
          </a:prstGeom>
          <a:solidFill>
            <a:srgbClr val="F2F7F8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動態權限攔截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(Deny-First)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紅隊測試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異常行為熔斷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A7581E-137B-33F2-2A5E-D3EA3FE375B8}"/>
              </a:ext>
            </a:extLst>
          </p:cNvPr>
          <p:cNvSpPr txBox="1"/>
          <p:nvPr/>
        </p:nvSpPr>
        <p:spPr>
          <a:xfrm>
            <a:off x="5817495" y="5328214"/>
            <a:ext cx="1678578" cy="184666"/>
          </a:xfrm>
          <a:prstGeom prst="rect">
            <a:avLst/>
          </a:prstGeom>
          <a:solidFill>
            <a:srgbClr val="3D6450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高效能推理基礎模型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885BFFE-8749-153E-71B9-769006A26651}"/>
              </a:ext>
            </a:extLst>
          </p:cNvPr>
          <p:cNvSpPr txBox="1"/>
          <p:nvPr/>
        </p:nvSpPr>
        <p:spPr>
          <a:xfrm>
            <a:off x="5631109" y="5077153"/>
            <a:ext cx="1678578" cy="184666"/>
          </a:xfrm>
          <a:prstGeom prst="rect">
            <a:avLst/>
          </a:prstGeom>
          <a:solidFill>
            <a:srgbClr val="3D6450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領域專用微調模型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7E9E746-825A-ECA9-0836-CE34CF25BA4D}"/>
              </a:ext>
            </a:extLst>
          </p:cNvPr>
          <p:cNvSpPr txBox="1"/>
          <p:nvPr/>
        </p:nvSpPr>
        <p:spPr>
          <a:xfrm>
            <a:off x="5713553" y="4836140"/>
            <a:ext cx="1782520" cy="184666"/>
          </a:xfrm>
          <a:prstGeom prst="rect">
            <a:avLst/>
          </a:prstGeom>
          <a:solidFill>
            <a:srgbClr val="296693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多代理決策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上下文隔離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BEECF58-447B-BFE8-FD13-CF0043D3E8BC}"/>
              </a:ext>
            </a:extLst>
          </p:cNvPr>
          <p:cNvSpPr txBox="1"/>
          <p:nvPr/>
        </p:nvSpPr>
        <p:spPr>
          <a:xfrm>
            <a:off x="5538946" y="4588133"/>
            <a:ext cx="1782520" cy="184666"/>
          </a:xfrm>
          <a:prstGeom prst="rect">
            <a:avLst/>
          </a:prstGeom>
          <a:solidFill>
            <a:srgbClr val="0F3665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受控沙箱工具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專用微服務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kumimoji="0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BE45622-EC78-065C-9575-DFFD6B4CAA5E}"/>
              </a:ext>
            </a:extLst>
          </p:cNvPr>
          <p:cNvSpPr txBox="1"/>
          <p:nvPr/>
        </p:nvSpPr>
        <p:spPr>
          <a:xfrm>
            <a:off x="1373109" y="6209883"/>
            <a:ext cx="153888" cy="184666"/>
          </a:xfrm>
          <a:prstGeom prst="rect">
            <a:avLst/>
          </a:prstGeom>
          <a:solidFill>
            <a:srgbClr val="F1F5F8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符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1DD21E2-596A-7C2B-ED41-0B5E7BACB8AC}"/>
              </a:ext>
            </a:extLst>
          </p:cNvPr>
          <p:cNvSpPr txBox="1"/>
          <p:nvPr/>
        </p:nvSpPr>
        <p:spPr>
          <a:xfrm>
            <a:off x="5497615" y="5644364"/>
            <a:ext cx="1974900" cy="215444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底層標準規範與多維評測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FF2FF41-F8D2-292A-58AC-70F03FA734CB}"/>
              </a:ext>
            </a:extLst>
          </p:cNvPr>
          <p:cNvSpPr txBox="1"/>
          <p:nvPr/>
        </p:nvSpPr>
        <p:spPr>
          <a:xfrm>
            <a:off x="5447375" y="5938036"/>
            <a:ext cx="1376980" cy="200055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AIEC</a:t>
            </a:r>
            <a:r>
              <a:rPr kumimoji="0" lang="zh-TW" altLang="en-US" sz="1300" b="1" i="0" u="none" strike="noStrike" kern="1200" cap="none" spc="0" normalizeH="0" baseline="0" noProof="0" dirty="0">
                <a:ln w="0">
                  <a:solidFill>
                    <a:prstClr val="black">
                      <a:alpha val="66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多維評測體系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6C833B2-49B6-D047-7BD1-7228B1CE8930}"/>
              </a:ext>
            </a:extLst>
          </p:cNvPr>
          <p:cNvSpPr txBox="1"/>
          <p:nvPr/>
        </p:nvSpPr>
        <p:spPr>
          <a:xfrm>
            <a:off x="4131348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準確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BB1A2E9-520D-5669-4729-687A968F5DAE}"/>
              </a:ext>
            </a:extLst>
          </p:cNvPr>
          <p:cNvSpPr txBox="1"/>
          <p:nvPr/>
        </p:nvSpPr>
        <p:spPr>
          <a:xfrm>
            <a:off x="4757754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安全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A674E30-71FE-6D68-A552-7EE4066F6E92}"/>
              </a:ext>
            </a:extLst>
          </p:cNvPr>
          <p:cNvSpPr txBox="1"/>
          <p:nvPr/>
        </p:nvSpPr>
        <p:spPr>
          <a:xfrm>
            <a:off x="5342101" y="6434741"/>
            <a:ext cx="346249" cy="138499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可解釋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22457F8-50A0-FFCD-F00E-92D147101AF4}"/>
              </a:ext>
            </a:extLst>
          </p:cNvPr>
          <p:cNvSpPr txBox="1"/>
          <p:nvPr/>
        </p:nvSpPr>
        <p:spPr>
          <a:xfrm>
            <a:off x="6024286" y="6420516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公平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46551B0-5709-74B4-D1F5-F18C660D7CAB}"/>
              </a:ext>
            </a:extLst>
          </p:cNvPr>
          <p:cNvSpPr txBox="1"/>
          <p:nvPr/>
        </p:nvSpPr>
        <p:spPr>
          <a:xfrm>
            <a:off x="6650692" y="6424693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隱私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8427B9E-00F4-CFDB-8BA9-B41C694C363B}"/>
              </a:ext>
            </a:extLst>
          </p:cNvPr>
          <p:cNvSpPr txBox="1"/>
          <p:nvPr/>
        </p:nvSpPr>
        <p:spPr>
          <a:xfrm>
            <a:off x="7261880" y="6414645"/>
            <a:ext cx="256480" cy="153888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透明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69C8769-5E02-CE6B-18EE-BD7E734F1C82}"/>
              </a:ext>
            </a:extLst>
          </p:cNvPr>
          <p:cNvSpPr txBox="1"/>
          <p:nvPr/>
        </p:nvSpPr>
        <p:spPr>
          <a:xfrm>
            <a:off x="7854352" y="6424693"/>
            <a:ext cx="346249" cy="138499"/>
          </a:xfrm>
          <a:prstGeom prst="rect">
            <a:avLst/>
          </a:prstGeom>
          <a:solidFill>
            <a:srgbClr val="95DFBC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在地化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C3585F4-3B56-8CD1-7A14-A19F51F23BC8}"/>
              </a:ext>
            </a:extLst>
          </p:cNvPr>
          <p:cNvSpPr txBox="1"/>
          <p:nvPr/>
        </p:nvSpPr>
        <p:spPr>
          <a:xfrm>
            <a:off x="9129023" y="6203908"/>
            <a:ext cx="1921790" cy="369332"/>
          </a:xfrm>
          <a:prstGeom prst="rect">
            <a:avLst/>
          </a:prstGeom>
          <a:solidFill>
            <a:schemeClr val="bg1"/>
          </a:solidFill>
          <a:ln>
            <a:solidFill>
              <a:srgbClr val="F2F6F7"/>
            </a:solidFill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全鏈路加密稽核日誌，確保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全生命週期不可竄改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BD4F94-78B1-7D3A-B9BB-87AA3DAB38A3}"/>
              </a:ext>
            </a:extLst>
          </p:cNvPr>
          <p:cNvSpPr/>
          <p:nvPr/>
        </p:nvSpPr>
        <p:spPr>
          <a:xfrm>
            <a:off x="1312984" y="167778"/>
            <a:ext cx="9566031" cy="499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Agent 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安全治理與縱身防禦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D4854EC-AF73-C99B-225C-DB2427A6B1AE}"/>
              </a:ext>
            </a:extLst>
          </p:cNvPr>
          <p:cNvSpPr txBox="1"/>
          <p:nvPr/>
        </p:nvSpPr>
        <p:spPr>
          <a:xfrm>
            <a:off x="2931234" y="2447935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(Diode/PQC)</a:t>
            </a:r>
            <a:endParaRPr kumimoji="0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7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72C12DD-A264-282A-B6A4-27156914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6952FC3-9DAA-5B9A-3DFD-E65CC86EBF65}"/>
              </a:ext>
            </a:extLst>
          </p:cNvPr>
          <p:cNvSpPr/>
          <p:nvPr/>
        </p:nvSpPr>
        <p:spPr>
          <a:xfrm>
            <a:off x="9527458" y="1071716"/>
            <a:ext cx="2241755" cy="806245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A8C9AF-E658-EF79-4C8B-9C2C11892DEF}"/>
              </a:ext>
            </a:extLst>
          </p:cNvPr>
          <p:cNvSpPr/>
          <p:nvPr/>
        </p:nvSpPr>
        <p:spPr>
          <a:xfrm>
            <a:off x="570271" y="1140542"/>
            <a:ext cx="1632155" cy="609600"/>
          </a:xfrm>
          <a:prstGeom prst="rect">
            <a:avLst/>
          </a:prstGeom>
          <a:solidFill>
            <a:srgbClr val="F0EF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1F5CCA-DE7B-9F60-F461-5970681C21B4}"/>
              </a:ext>
            </a:extLst>
          </p:cNvPr>
          <p:cNvSpPr/>
          <p:nvPr/>
        </p:nvSpPr>
        <p:spPr>
          <a:xfrm>
            <a:off x="570271" y="5407742"/>
            <a:ext cx="3323303" cy="766916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D75454-4338-51AE-E5FD-85F6C9CDC9C7}"/>
              </a:ext>
            </a:extLst>
          </p:cNvPr>
          <p:cNvSpPr txBox="1"/>
          <p:nvPr/>
        </p:nvSpPr>
        <p:spPr>
          <a:xfrm>
            <a:off x="677940" y="2945896"/>
            <a:ext cx="1356528" cy="215444"/>
          </a:xfrm>
          <a:prstGeom prst="rect">
            <a:avLst/>
          </a:prstGeom>
          <a:solidFill>
            <a:srgbClr val="FEFEFE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現有版本案例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solidFill>
                    <a:prstClr val="black">
                      <a:alpha val="44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endParaRPr kumimoji="0" lang="zh-TW" altLang="en-US" sz="1400" b="1" i="0" u="none" strike="noStrike" kern="1200" cap="none" spc="0" normalizeH="0" baseline="0" noProof="0" dirty="0">
              <a:ln>
                <a:solidFill>
                  <a:prstClr val="black">
                    <a:alpha val="44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CF95EA-B6F0-B479-D379-C34C5C07B91B}"/>
              </a:ext>
            </a:extLst>
          </p:cNvPr>
          <p:cNvSpPr/>
          <p:nvPr/>
        </p:nvSpPr>
        <p:spPr>
          <a:xfrm>
            <a:off x="540127" y="4260500"/>
            <a:ext cx="3650037" cy="251209"/>
          </a:xfrm>
          <a:prstGeom prst="rect">
            <a:avLst/>
          </a:prstGeom>
          <a:solidFill>
            <a:srgbClr val="EA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40D5C2-DC11-A96D-0E57-9FD20CE443D6}"/>
              </a:ext>
            </a:extLst>
          </p:cNvPr>
          <p:cNvSpPr/>
          <p:nvPr/>
        </p:nvSpPr>
        <p:spPr>
          <a:xfrm>
            <a:off x="6689718" y="4280596"/>
            <a:ext cx="4232840" cy="231113"/>
          </a:xfrm>
          <a:prstGeom prst="rect">
            <a:avLst/>
          </a:prstGeom>
          <a:solidFill>
            <a:srgbClr val="EA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C86F7E-6504-333C-B6FD-C2DE882D8077}"/>
              </a:ext>
            </a:extLst>
          </p:cNvPr>
          <p:cNvSpPr/>
          <p:nvPr/>
        </p:nvSpPr>
        <p:spPr>
          <a:xfrm>
            <a:off x="1152643" y="318893"/>
            <a:ext cx="956603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執行框架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25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487763A-C1E1-4857-9280-3C5DFA86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6BBFE57-1707-57CB-0318-718E951FDFC4}"/>
              </a:ext>
            </a:extLst>
          </p:cNvPr>
          <p:cNvSpPr txBox="1"/>
          <p:nvPr/>
        </p:nvSpPr>
        <p:spPr>
          <a:xfrm>
            <a:off x="4357608" y="3185656"/>
            <a:ext cx="1895707" cy="938719"/>
          </a:xfrm>
          <a:prstGeom prst="rect">
            <a:avLst/>
          </a:prstGeom>
          <a:solidFill>
            <a:srgbClr val="F6F6F8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OWASP Top 10 </a:t>
            </a:r>
            <a:r>
              <a:rPr kumimoji="0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防護</a:t>
            </a:r>
            <a:endParaRPr kumimoji="0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(LLM/Agents/Skills)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防注入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越獄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汙染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機敏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擴權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 /RAG/DOS/Token/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工具濫用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419990-592A-AF49-3399-143B58EA7939}"/>
              </a:ext>
            </a:extLst>
          </p:cNvPr>
          <p:cNvSpPr/>
          <p:nvPr/>
        </p:nvSpPr>
        <p:spPr>
          <a:xfrm>
            <a:off x="432619" y="318893"/>
            <a:ext cx="11434916" cy="6096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防護框架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27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F4EAF1F-57D6-5B56-CE7E-358C4477B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DA45E3C-B877-AAA1-2813-A69934AF8748}"/>
              </a:ext>
            </a:extLst>
          </p:cNvPr>
          <p:cNvSpPr txBox="1"/>
          <p:nvPr/>
        </p:nvSpPr>
        <p:spPr>
          <a:xfrm>
            <a:off x="717755" y="3429000"/>
            <a:ext cx="1602658" cy="2031325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單一入口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Portal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統一使用者與存取入口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RBAC/ABAC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權限：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角色與屬性動態細粒度存取控制、零信任最小權限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單閘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PQC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後量子加密：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抗量子運算之高強度加密傳輸通道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7247B88-DAE4-ACAE-EA30-3F52F6D132D2}"/>
              </a:ext>
            </a:extLst>
          </p:cNvPr>
          <p:cNvSpPr txBox="1"/>
          <p:nvPr/>
        </p:nvSpPr>
        <p:spPr>
          <a:xfrm>
            <a:off x="2689123" y="3419168"/>
            <a:ext cx="1430594" cy="2200602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安全閘道：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單一流量進出管制中樞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DLP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資料外洩防護：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機密資訊即時監控阻斷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資料治理中心：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機敏資料分級、自動脫敏遮蔽、輸入輸出清洗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0B1CB11-FCC4-462D-D064-9FE23A63306F}"/>
              </a:ext>
            </a:extLst>
          </p:cNvPr>
          <p:cNvSpPr txBox="1"/>
          <p:nvPr/>
        </p:nvSpPr>
        <p:spPr>
          <a:xfrm>
            <a:off x="4564625" y="3402418"/>
            <a:ext cx="1430594" cy="1862048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輸入與輸出雙向攔截護欄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全面防護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OWASP Top 10 for LLM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Agents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Skills(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防提示詞注入、防越權、防工具濫用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C6E51F-2FAA-A0BE-AC26-033C5A446A74}"/>
              </a:ext>
            </a:extLst>
          </p:cNvPr>
          <p:cNvSpPr txBox="1"/>
          <p:nvPr/>
        </p:nvSpPr>
        <p:spPr>
          <a:xfrm>
            <a:off x="6420463" y="3399504"/>
            <a:ext cx="1430594" cy="1692771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Docker 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與微型沙箱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Sandbox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行程純物理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容器隔離、禁止外部連網、最小特權封閉、</a:t>
            </a: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VFS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虛擬檔案路徑保護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3EF81-2CAB-3DBA-D731-9542F99083CB}"/>
              </a:ext>
            </a:extLst>
          </p:cNvPr>
          <p:cNvSpPr txBox="1"/>
          <p:nvPr/>
        </p:nvSpPr>
        <p:spPr>
          <a:xfrm>
            <a:off x="8272616" y="3259723"/>
            <a:ext cx="1559643" cy="2200602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MITRE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ATLAS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</a:t>
            </a: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攻擊防禦矩陣與戰術反制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AISVS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安全標準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&amp; 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專業紅隊對抗測試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(Red Teaming)</a:t>
            </a:r>
          </a:p>
          <a:p>
            <a:pPr marL="1762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1" indent="-1762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AI 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全維評測：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準確性、安全性、強韌性、可解釋性、隱私防護、在地化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CF9FB39-D584-E55C-EC7B-E8192E79D1BF}"/>
              </a:ext>
            </a:extLst>
          </p:cNvPr>
          <p:cNvSpPr txBox="1"/>
          <p:nvPr/>
        </p:nvSpPr>
        <p:spPr>
          <a:xfrm>
            <a:off x="10220632" y="3455660"/>
            <a:ext cx="1430594" cy="1354217"/>
          </a:xfrm>
          <a:prstGeom prst="rect">
            <a:avLst/>
          </a:prstGeom>
          <a:solidFill>
            <a:srgbClr val="F6FAF9"/>
          </a:solidFill>
        </p:spPr>
        <p:txBody>
          <a:bodyPr wrap="square" lIns="0" tIns="0" rIns="0" bIns="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ISO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42001 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人工智慧管理系統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全生命週期不可篡改、稽核日誌、全程留痕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176213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2D6224-5DB2-17DF-4F72-1804CEFE316F}"/>
              </a:ext>
            </a:extLst>
          </p:cNvPr>
          <p:cNvSpPr/>
          <p:nvPr/>
        </p:nvSpPr>
        <p:spPr>
          <a:xfrm>
            <a:off x="432619" y="318893"/>
            <a:ext cx="11434916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防護框架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Harness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08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寬螢幕</PresentationFormat>
  <Paragraphs>81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Yang</dc:creator>
  <cp:lastModifiedBy>Eddy Yang</cp:lastModifiedBy>
  <cp:revision>1</cp:revision>
  <dcterms:created xsi:type="dcterms:W3CDTF">2026-09-13T01:16:10Z</dcterms:created>
  <dcterms:modified xsi:type="dcterms:W3CDTF">2026-09-13T01:16:42Z</dcterms:modified>
</cp:coreProperties>
</file>