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3" r:id="rId28"/>
    <p:sldId id="284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5F8"/>
    <a:srgbClr val="FEFEFE"/>
    <a:srgbClr val="F7F4FB"/>
    <a:srgbClr val="FDF4E5"/>
    <a:srgbClr val="FBF1F9"/>
    <a:srgbClr val="F6FAFB"/>
    <a:srgbClr val="F8F9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5271" autoAdjust="0"/>
  </p:normalViewPr>
  <p:slideViewPr>
    <p:cSldViewPr snapToGrid="0" snapToObjects="1">
      <p:cViewPr varScale="1">
        <p:scale>
          <a:sx n="52" d="100"/>
          <a:sy n="52" d="100"/>
        </p:scale>
        <p:origin x="154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1024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400" dirty="0" err="1">
                <a:latin typeface="Microsoft JhengHei"/>
              </a:rPr>
              <a:t>各位長官、同仁好</a:t>
            </a:r>
            <a:r>
              <a:rPr sz="1400" dirty="0">
                <a:latin typeface="Microsoft JhengHei"/>
              </a:rPr>
              <a:t>。</a:t>
            </a:r>
          </a:p>
          <a:p>
            <a:endParaRPr sz="1400" dirty="0">
              <a:latin typeface="Microsoft JhengHei"/>
            </a:endParaRPr>
          </a:p>
          <a:p>
            <a:r>
              <a:rPr sz="1400" dirty="0" err="1">
                <a:latin typeface="Microsoft JhengHei"/>
              </a:rPr>
              <a:t>今天這份簡報的核心主題，是「企業級</a:t>
            </a:r>
            <a:r>
              <a:rPr sz="1400" dirty="0">
                <a:latin typeface="Microsoft JhengHei"/>
              </a:rPr>
              <a:t> AI </a:t>
            </a:r>
            <a:r>
              <a:rPr sz="1400" dirty="0" err="1">
                <a:latin typeface="Microsoft JhengHei"/>
              </a:rPr>
              <a:t>代理運行時基礎框架需求規格書</a:t>
            </a:r>
            <a:r>
              <a:rPr sz="1400" dirty="0">
                <a:latin typeface="Microsoft JhengHei"/>
              </a:rPr>
              <a:t>」——</a:t>
            </a:r>
            <a:r>
              <a:rPr sz="1400" dirty="0" err="1">
                <a:latin typeface="Microsoft JhengHei"/>
              </a:rPr>
              <a:t>我們將它稱為</a:t>
            </a:r>
            <a:r>
              <a:rPr sz="1400" dirty="0">
                <a:latin typeface="Microsoft JhengHei"/>
              </a:rPr>
              <a:t> AI Agent Harness。</a:t>
            </a:r>
          </a:p>
          <a:p>
            <a:endParaRPr sz="1400" dirty="0">
              <a:latin typeface="Microsoft JhengHei"/>
            </a:endParaRPr>
          </a:p>
          <a:p>
            <a:r>
              <a:rPr sz="1400" dirty="0" err="1">
                <a:latin typeface="Microsoft JhengHei"/>
              </a:rPr>
              <a:t>為什麼叫</a:t>
            </a:r>
            <a:r>
              <a:rPr sz="1400" dirty="0">
                <a:latin typeface="Microsoft JhengHei"/>
              </a:rPr>
              <a:t> </a:t>
            </a:r>
            <a:r>
              <a:rPr sz="1400" dirty="0" err="1">
                <a:latin typeface="Microsoft JhengHei"/>
              </a:rPr>
              <a:t>Harness？因為它不僅是一套框架，更是一套「治理韁繩</a:t>
            </a:r>
            <a:r>
              <a:rPr sz="1400" dirty="0">
                <a:latin typeface="Microsoft JhengHei"/>
              </a:rPr>
              <a:t>」。</a:t>
            </a:r>
            <a:r>
              <a:rPr sz="1400" dirty="0" err="1">
                <a:latin typeface="Microsoft JhengHei"/>
              </a:rPr>
              <a:t>就像賽車手需要安全帶束具</a:t>
            </a:r>
            <a:r>
              <a:rPr sz="1400" dirty="0">
                <a:latin typeface="Microsoft JhengHei"/>
              </a:rPr>
              <a:t>(Harness)</a:t>
            </a:r>
            <a:r>
              <a:rPr sz="1400" dirty="0" err="1">
                <a:latin typeface="Microsoft JhengHei"/>
              </a:rPr>
              <a:t>才能在高速中保持控制，AI</a:t>
            </a:r>
            <a:r>
              <a:rPr sz="1400" dirty="0">
                <a:latin typeface="Microsoft JhengHei"/>
              </a:rPr>
              <a:t> Agent </a:t>
            </a:r>
            <a:r>
              <a:rPr sz="1400" dirty="0" err="1">
                <a:latin typeface="Microsoft JhengHei"/>
              </a:rPr>
              <a:t>也需要一套嚴謹的運行時框架，才能在高自主性的同時確保安全可控</a:t>
            </a:r>
            <a:r>
              <a:rPr sz="1400" dirty="0">
                <a:latin typeface="Microsoft JhengHei"/>
              </a:rPr>
              <a:t>。</a:t>
            </a:r>
          </a:p>
          <a:p>
            <a:endParaRPr sz="1400" dirty="0">
              <a:latin typeface="Microsoft JhengHei"/>
            </a:endParaRPr>
          </a:p>
          <a:p>
            <a:r>
              <a:rPr sz="1400" dirty="0" err="1">
                <a:latin typeface="Microsoft JhengHei"/>
              </a:rPr>
              <a:t>本規格書涵蓋四大支柱：七大核心組成、深度工程規劃、合規安全框架、以及</a:t>
            </a:r>
            <a:r>
              <a:rPr sz="1400" dirty="0">
                <a:latin typeface="Microsoft JhengHei"/>
              </a:rPr>
              <a:t> AI </a:t>
            </a:r>
            <a:r>
              <a:rPr sz="1400" dirty="0" err="1">
                <a:latin typeface="Microsoft JhengHei"/>
              </a:rPr>
              <a:t>評測驗證體系。接下來將以「起承轉合」的架構，為各位完整說明</a:t>
            </a:r>
            <a:r>
              <a:rPr sz="1400" dirty="0">
                <a:latin typeface="Microsoft JhengHei"/>
              </a:rPr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400">
                <a:latin typeface="Microsoft JhengHei"/>
              </a:rPr>
              <a:t>這份簡報的架構，嚴格遵循「起承轉合」的敘事邏輯，同時對映 Why-What-How 的思維框架。</a:t>
            </a:r>
          </a:p>
          <a:p>
            <a:endParaRPr sz="1400">
              <a:latin typeface="Microsoft JhengHei"/>
            </a:endParaRPr>
          </a:p>
          <a:p>
            <a:r>
              <a:rPr sz="1400">
                <a:latin typeface="Microsoft JhengHei"/>
              </a:rPr>
              <a:t>「起」——先回答為什麼。為什麼企業不能只用 LLM 對話機器人？為什麼需要 Agent Harness？</a:t>
            </a:r>
          </a:p>
          <a:p>
            <a:r>
              <a:rPr sz="1400">
                <a:latin typeface="Microsoft JhengHei"/>
              </a:rPr>
              <a:t>「承」——再說明是什麼。Harness 由哪七大核心組成？各自扮演什麼角色？</a:t>
            </a:r>
          </a:p>
          <a:p>
            <a:r>
              <a:rPr sz="1400">
                <a:latin typeface="Microsoft JhengHei"/>
              </a:rPr>
              <a:t>「轉」——深入談怎麼做。分為 Part II 的深度工程規劃和 Part III 的合規安全框架。</a:t>
            </a:r>
          </a:p>
          <a:p>
            <a:r>
              <a:rPr sz="1400">
                <a:latin typeface="Microsoft JhengHei"/>
              </a:rPr>
              <a:t>「合」——最後收束實施路線圖與開放決策問題。</a:t>
            </a:r>
          </a:p>
          <a:p>
            <a:endParaRPr sz="1400">
              <a:latin typeface="Microsoft JhengHei"/>
            </a:endParaRPr>
          </a:p>
          <a:p>
            <a:r>
              <a:rPr sz="1400">
                <a:latin typeface="Microsoft JhengHei"/>
              </a:rPr>
              <a:t>這樣的結構確保決策者能快速理解 Why，技術團隊能掌握 How，而合規團隊則能看到完整的治理藍圖。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400" dirty="0" err="1">
                <a:latin typeface="Microsoft JhengHei"/>
              </a:rPr>
              <a:t>我們先從「為什麼」說起</a:t>
            </a:r>
            <a:r>
              <a:rPr sz="1400" dirty="0">
                <a:latin typeface="Microsoft JhengHei"/>
              </a:rPr>
              <a:t>。</a:t>
            </a:r>
          </a:p>
          <a:p>
            <a:endParaRPr sz="1400" dirty="0">
              <a:latin typeface="Microsoft JhengHei"/>
            </a:endParaRPr>
          </a:p>
          <a:p>
            <a:r>
              <a:rPr sz="1400" dirty="0" err="1">
                <a:latin typeface="Microsoft JhengHei"/>
              </a:rPr>
              <a:t>這一頁是全簡報的破題</a:t>
            </a:r>
            <a:r>
              <a:rPr sz="1400" dirty="0">
                <a:latin typeface="Microsoft JhengHei"/>
              </a:rPr>
              <a:t>——</a:t>
            </a:r>
            <a:r>
              <a:rPr sz="1400" dirty="0" err="1">
                <a:latin typeface="Microsoft JhengHei"/>
              </a:rPr>
              <a:t>從單次問答工具到自主行動代理的關鍵躍遷</a:t>
            </a:r>
            <a:r>
              <a:rPr sz="1400" dirty="0">
                <a:latin typeface="Microsoft JhengHei"/>
              </a:rPr>
              <a:t>。</a:t>
            </a:r>
          </a:p>
          <a:p>
            <a:endParaRPr sz="1400" dirty="0">
              <a:latin typeface="Microsoft JhengHei"/>
            </a:endParaRPr>
          </a:p>
          <a:p>
            <a:r>
              <a:rPr sz="1400" dirty="0" err="1">
                <a:latin typeface="Microsoft JhengHei"/>
              </a:rPr>
              <a:t>根據我們的規劃文件，AI</a:t>
            </a:r>
            <a:r>
              <a:rPr sz="1400" dirty="0">
                <a:latin typeface="Microsoft JhengHei"/>
              </a:rPr>
              <a:t> Agent </a:t>
            </a:r>
            <a:r>
              <a:rPr sz="1400" dirty="0" err="1">
                <a:latin typeface="Microsoft JhengHei"/>
              </a:rPr>
              <a:t>的本質是「突破傳統</a:t>
            </a:r>
            <a:r>
              <a:rPr sz="1400" dirty="0">
                <a:latin typeface="Microsoft JhengHei"/>
              </a:rPr>
              <a:t> LLM </a:t>
            </a:r>
            <a:r>
              <a:rPr sz="1400" dirty="0" err="1">
                <a:latin typeface="Microsoft JhengHei"/>
              </a:rPr>
              <a:t>對話框架，建構具備高自主性與工程韌性的執行環境</a:t>
            </a:r>
            <a:r>
              <a:rPr sz="1400" dirty="0">
                <a:latin typeface="Microsoft JhengHei"/>
              </a:rPr>
              <a:t>」。</a:t>
            </a:r>
            <a:r>
              <a:rPr sz="1400" dirty="0" err="1">
                <a:latin typeface="Microsoft JhengHei"/>
              </a:rPr>
              <a:t>傳統</a:t>
            </a:r>
            <a:r>
              <a:rPr sz="1400" dirty="0">
                <a:latin typeface="Microsoft JhengHei"/>
              </a:rPr>
              <a:t> LLM </a:t>
            </a:r>
            <a:r>
              <a:rPr sz="1400" dirty="0" err="1">
                <a:latin typeface="Microsoft JhengHei"/>
              </a:rPr>
              <a:t>只能「說</a:t>
            </a:r>
            <a:r>
              <a:rPr sz="1400" dirty="0">
                <a:latin typeface="Microsoft JhengHei"/>
              </a:rPr>
              <a:t>」，Agent </a:t>
            </a:r>
            <a:r>
              <a:rPr sz="1400" dirty="0" err="1">
                <a:latin typeface="Microsoft JhengHei"/>
              </a:rPr>
              <a:t>還能「做</a:t>
            </a:r>
            <a:r>
              <a:rPr sz="1400" dirty="0">
                <a:latin typeface="Microsoft JhengHei"/>
              </a:rPr>
              <a:t>」。</a:t>
            </a:r>
            <a:r>
              <a:rPr sz="1400" dirty="0" err="1">
                <a:latin typeface="Microsoft JhengHei"/>
              </a:rPr>
              <a:t>但「能做」就意味著風險倍增</a:t>
            </a:r>
            <a:r>
              <a:rPr sz="1400" dirty="0">
                <a:latin typeface="Microsoft JhengHei"/>
              </a:rPr>
              <a:t>——</a:t>
            </a:r>
            <a:r>
              <a:rPr sz="1400" dirty="0" err="1">
                <a:latin typeface="Microsoft JhengHei"/>
              </a:rPr>
              <a:t>它可以調用</a:t>
            </a:r>
            <a:r>
              <a:rPr sz="1400" dirty="0">
                <a:latin typeface="Microsoft JhengHei"/>
              </a:rPr>
              <a:t> </a:t>
            </a:r>
            <a:r>
              <a:rPr sz="1400" dirty="0" err="1">
                <a:latin typeface="Microsoft JhengHei"/>
              </a:rPr>
              <a:t>API、讀寫資料庫、執行程式碼。如果沒有</a:t>
            </a:r>
            <a:r>
              <a:rPr sz="1400" dirty="0">
                <a:latin typeface="Microsoft JhengHei"/>
              </a:rPr>
              <a:t> Harness </a:t>
            </a:r>
            <a:r>
              <a:rPr sz="1400" dirty="0" err="1">
                <a:latin typeface="Microsoft JhengHei"/>
              </a:rPr>
              <a:t>框架來約束和治理，這些能力反而會成為企業最大的資安破口</a:t>
            </a:r>
            <a:r>
              <a:rPr sz="1400" dirty="0">
                <a:latin typeface="Microsoft JhengHei"/>
              </a:rPr>
              <a:t>。</a:t>
            </a:r>
          </a:p>
          <a:p>
            <a:endParaRPr sz="1400" dirty="0">
              <a:latin typeface="Microsoft JhengHei"/>
            </a:endParaRPr>
          </a:p>
          <a:p>
            <a:r>
              <a:rPr sz="1400" dirty="0" err="1">
                <a:latin typeface="Microsoft JhengHei"/>
              </a:rPr>
              <a:t>這就是我們需要</a:t>
            </a:r>
            <a:r>
              <a:rPr sz="1400" dirty="0">
                <a:latin typeface="Microsoft JhengHei"/>
              </a:rPr>
              <a:t> Harness </a:t>
            </a:r>
            <a:r>
              <a:rPr sz="1400" dirty="0" err="1">
                <a:latin typeface="Microsoft JhengHei"/>
              </a:rPr>
              <a:t>的根本原因</a:t>
            </a:r>
            <a:r>
              <a:rPr sz="1400" dirty="0">
                <a:latin typeface="Microsoft JhengHei"/>
              </a:rPr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400" dirty="0" err="1">
                <a:latin typeface="Microsoft JhengHei"/>
              </a:rPr>
              <a:t>這張對比表是簡報中最關鍵的一頁，它清楚說明了「傳統</a:t>
            </a:r>
            <a:r>
              <a:rPr sz="1400" dirty="0">
                <a:latin typeface="Microsoft JhengHei"/>
              </a:rPr>
              <a:t> LLM </a:t>
            </a:r>
            <a:r>
              <a:rPr sz="1400" dirty="0" err="1">
                <a:latin typeface="Microsoft JhengHei"/>
              </a:rPr>
              <a:t>應用」與「Agentic</a:t>
            </a:r>
            <a:r>
              <a:rPr sz="1400" dirty="0">
                <a:latin typeface="Microsoft JhengHei"/>
              </a:rPr>
              <a:t> AI </a:t>
            </a:r>
            <a:r>
              <a:rPr sz="1400" dirty="0" err="1">
                <a:latin typeface="Microsoft JhengHei"/>
              </a:rPr>
              <a:t>Harness」的本質差異</a:t>
            </a:r>
            <a:r>
              <a:rPr sz="1400" dirty="0">
                <a:latin typeface="Microsoft JhengHei"/>
              </a:rPr>
              <a:t>。</a:t>
            </a:r>
          </a:p>
          <a:p>
            <a:endParaRPr sz="1400" dirty="0">
              <a:latin typeface="Microsoft JhengHei"/>
            </a:endParaRPr>
          </a:p>
          <a:p>
            <a:r>
              <a:rPr sz="1400" dirty="0">
                <a:latin typeface="Microsoft JhengHei"/>
              </a:rPr>
              <a:t>左欄列出七項致命侷限：單次問答無法持續推理、沒有工具調用能力、沒有記憶體系、沒有安全護欄、沒有可觀測性、沒有編排規劃、沒有成本管控。</a:t>
            </a:r>
          </a:p>
          <a:p>
            <a:endParaRPr sz="1400" dirty="0">
              <a:latin typeface="Microsoft JhengHei"/>
            </a:endParaRPr>
          </a:p>
          <a:p>
            <a:r>
              <a:rPr sz="1400" dirty="0" err="1">
                <a:latin typeface="Microsoft JhengHei"/>
              </a:rPr>
              <a:t>右欄逐一對應</a:t>
            </a:r>
            <a:r>
              <a:rPr sz="1400" dirty="0">
                <a:latin typeface="Microsoft JhengHei"/>
              </a:rPr>
              <a:t> Harness </a:t>
            </a:r>
            <a:r>
              <a:rPr sz="1400" dirty="0" err="1">
                <a:latin typeface="Microsoft JhengHei"/>
              </a:rPr>
              <a:t>賦予的能力：自主迭代循環</a:t>
            </a:r>
            <a:r>
              <a:rPr sz="1400" dirty="0">
                <a:latin typeface="Microsoft JhengHei"/>
              </a:rPr>
              <a:t>(Agent Loop)、</a:t>
            </a:r>
            <a:r>
              <a:rPr sz="1400" dirty="0" err="1">
                <a:latin typeface="Microsoft JhengHei"/>
              </a:rPr>
              <a:t>工具系統、四層記憶體系、五層縱深防禦護欄、全鏈路可觀測性、DAG</a:t>
            </a:r>
            <a:r>
              <a:rPr sz="1400" dirty="0">
                <a:latin typeface="Microsoft JhengHei"/>
              </a:rPr>
              <a:t> </a:t>
            </a:r>
            <a:r>
              <a:rPr sz="1400" dirty="0" err="1">
                <a:latin typeface="Microsoft JhengHei"/>
              </a:rPr>
              <a:t>任務拆解與多代理協同編排、Token</a:t>
            </a:r>
            <a:r>
              <a:rPr sz="1400" dirty="0">
                <a:latin typeface="Microsoft JhengHei"/>
              </a:rPr>
              <a:t> </a:t>
            </a:r>
            <a:r>
              <a:rPr sz="1400" dirty="0" err="1">
                <a:latin typeface="Microsoft JhengHei"/>
              </a:rPr>
              <a:t>預算與費用即時熔斷機制</a:t>
            </a:r>
            <a:r>
              <a:rPr sz="1400" dirty="0">
                <a:latin typeface="Microsoft JhengHei"/>
              </a:rPr>
              <a:t>。</a:t>
            </a:r>
          </a:p>
          <a:p>
            <a:endParaRPr sz="1400" dirty="0">
              <a:latin typeface="Microsoft JhengHei"/>
            </a:endParaRPr>
          </a:p>
          <a:p>
            <a:r>
              <a:rPr sz="1400" dirty="0">
                <a:latin typeface="Microsoft JhengHei"/>
              </a:rPr>
              <a:t>特別強調：右欄不只是功能清單，而是我們規格書中「模型分層、資料分級、單一閘道、強制護欄」四大設計原則的具體實現。這四大原則是貫穿全文的核心理念。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400">
                <a:latin typeface="Microsoft JhengHei"/>
              </a:rPr>
              <a:t>從這頁開始，進入「承」的階段——我們要回答「Harness 是什麼？」</a:t>
            </a:r>
          </a:p>
          <a:p>
            <a:endParaRPr sz="1400">
              <a:latin typeface="Microsoft JhengHei"/>
            </a:endParaRPr>
          </a:p>
          <a:p>
            <a:r>
              <a:rPr sz="1400">
                <a:latin typeface="Microsoft JhengHei"/>
              </a:rPr>
              <a:t>Part I 聚焦七大核心組成的全局概覽。可以把這七大組成想像成人體：Agent Loop 是心臟（驅動循環）、LLM Interface 是大腦（認知推理）、Tool System 是手腳（執行動作）、Memory 是記憶（持久保存）、Orchestration 是關節（協調動作）、Guardrails 是免疫系統（安全防護）、Observability 是神經系統（感知監控）。</a:t>
            </a:r>
          </a:p>
          <a:p>
            <a:endParaRPr sz="1400">
              <a:latin typeface="Microsoft JhengHei"/>
            </a:endParaRPr>
          </a:p>
          <a:p>
            <a:r>
              <a:rPr sz="1400">
                <a:latin typeface="Microsoft JhengHei"/>
              </a:rPr>
              <a:t>缺少任何一個，Agent 都無法在企業環境中安全、高效地運行。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400" dirty="0" err="1">
                <a:latin typeface="Microsoft JhengHei"/>
              </a:rPr>
              <a:t>這頁展開七大核心組成的具體說明</a:t>
            </a:r>
            <a:r>
              <a:rPr sz="1400" dirty="0">
                <a:latin typeface="Microsoft JhengHei"/>
              </a:rPr>
              <a:t>。</a:t>
            </a:r>
          </a:p>
          <a:p>
            <a:endParaRPr sz="1400" dirty="0">
              <a:latin typeface="Microsoft JhengHei"/>
            </a:endParaRPr>
          </a:p>
          <a:p>
            <a:r>
              <a:rPr sz="1400" dirty="0" err="1">
                <a:latin typeface="Microsoft JhengHei"/>
              </a:rPr>
              <a:t>重點強調幾個設計決策</a:t>
            </a:r>
            <a:r>
              <a:rPr sz="1400" dirty="0">
                <a:latin typeface="Microsoft JhengHei"/>
              </a:rPr>
              <a:t>：</a:t>
            </a:r>
          </a:p>
          <a:p>
            <a:endParaRPr sz="1400" dirty="0">
              <a:latin typeface="Microsoft JhengHei"/>
            </a:endParaRPr>
          </a:p>
          <a:p>
            <a:r>
              <a:rPr sz="1400" dirty="0" err="1">
                <a:latin typeface="Microsoft JhengHei"/>
              </a:rPr>
              <a:t>第一，Agent</a:t>
            </a:r>
            <a:r>
              <a:rPr sz="1400" dirty="0">
                <a:latin typeface="Microsoft JhengHei"/>
              </a:rPr>
              <a:t> Loop </a:t>
            </a:r>
            <a:r>
              <a:rPr sz="1400" dirty="0" err="1">
                <a:latin typeface="Microsoft JhengHei"/>
              </a:rPr>
              <a:t>是「Observe</a:t>
            </a:r>
            <a:r>
              <a:rPr sz="1400" dirty="0">
                <a:latin typeface="Microsoft JhengHei"/>
              </a:rPr>
              <a:t> → Think → Act → </a:t>
            </a:r>
            <a:r>
              <a:rPr sz="1400" dirty="0" err="1">
                <a:latin typeface="Microsoft JhengHei"/>
              </a:rPr>
              <a:t>Terminate」的莫比烏斯迴圈，不是簡單的</a:t>
            </a:r>
            <a:r>
              <a:rPr sz="1400" dirty="0">
                <a:latin typeface="Microsoft JhengHei"/>
              </a:rPr>
              <a:t> </a:t>
            </a:r>
            <a:r>
              <a:rPr sz="1400" dirty="0" err="1">
                <a:latin typeface="Microsoft JhengHei"/>
              </a:rPr>
              <a:t>input-output。沒有這個迴圈，就只是傳統的</a:t>
            </a:r>
            <a:r>
              <a:rPr sz="1400" dirty="0">
                <a:latin typeface="Microsoft JhengHei"/>
              </a:rPr>
              <a:t> LLM </a:t>
            </a:r>
            <a:r>
              <a:rPr sz="1400" dirty="0" err="1">
                <a:latin typeface="Microsoft JhengHei"/>
              </a:rPr>
              <a:t>問答</a:t>
            </a:r>
            <a:r>
              <a:rPr sz="1400" dirty="0">
                <a:latin typeface="Microsoft JhengHei"/>
              </a:rPr>
              <a:t>。</a:t>
            </a:r>
          </a:p>
          <a:p>
            <a:endParaRPr sz="1400" dirty="0">
              <a:latin typeface="Microsoft JhengHei"/>
            </a:endParaRPr>
          </a:p>
          <a:p>
            <a:r>
              <a:rPr sz="1400" dirty="0" err="1">
                <a:latin typeface="Microsoft JhengHei"/>
              </a:rPr>
              <a:t>第二，LLM</a:t>
            </a:r>
            <a:r>
              <a:rPr sz="1400" dirty="0">
                <a:latin typeface="Microsoft JhengHei"/>
              </a:rPr>
              <a:t> Interface </a:t>
            </a:r>
            <a:r>
              <a:rPr sz="1400" dirty="0" err="1">
                <a:latin typeface="Microsoft JhengHei"/>
              </a:rPr>
              <a:t>不是直接呼叫模型，而是加了一層智慧路由。根據任務複雜度自動分派到不同模型，實現成本與效能的最佳平衡</a:t>
            </a:r>
            <a:r>
              <a:rPr sz="1400" dirty="0">
                <a:latin typeface="Microsoft JhengHei"/>
              </a:rPr>
              <a:t>。</a:t>
            </a:r>
          </a:p>
          <a:p>
            <a:endParaRPr sz="1400" dirty="0">
              <a:latin typeface="Microsoft JhengHei"/>
            </a:endParaRPr>
          </a:p>
          <a:p>
            <a:r>
              <a:rPr sz="1400" dirty="0" err="1">
                <a:latin typeface="Microsoft JhengHei"/>
              </a:rPr>
              <a:t>第三，Guardrails</a:t>
            </a:r>
            <a:r>
              <a:rPr sz="1400" dirty="0">
                <a:latin typeface="Microsoft JhengHei"/>
              </a:rPr>
              <a:t> 採五層縱深防禦架構（L1 </a:t>
            </a:r>
            <a:r>
              <a:rPr sz="1400" dirty="0" err="1">
                <a:latin typeface="Microsoft JhengHei"/>
              </a:rPr>
              <a:t>輸入層到</a:t>
            </a:r>
            <a:r>
              <a:rPr sz="1400" dirty="0">
                <a:latin typeface="Microsoft JhengHei"/>
              </a:rPr>
              <a:t> L5 </a:t>
            </a:r>
            <a:r>
              <a:rPr sz="1400" dirty="0" err="1">
                <a:latin typeface="Microsoft JhengHei"/>
              </a:rPr>
              <a:t>全局迴圈</a:t>
            </a:r>
            <a:r>
              <a:rPr sz="1400" dirty="0">
                <a:latin typeface="Microsoft JhengHei"/>
              </a:rPr>
              <a:t>），</a:t>
            </a:r>
            <a:r>
              <a:rPr sz="1400" dirty="0" err="1">
                <a:latin typeface="Microsoft JhengHei"/>
              </a:rPr>
              <a:t>這與規劃文件中「五層縱深防禦與</a:t>
            </a:r>
            <a:r>
              <a:rPr sz="1400" dirty="0">
                <a:latin typeface="Microsoft JhengHei"/>
              </a:rPr>
              <a:t> Harness </a:t>
            </a:r>
            <a:r>
              <a:rPr sz="1400" dirty="0" err="1">
                <a:latin typeface="Microsoft JhengHei"/>
              </a:rPr>
              <a:t>治理」的核心設計完全一致，是架構中最重要的安全保障</a:t>
            </a:r>
            <a:r>
              <a:rPr sz="1400" dirty="0">
                <a:latin typeface="Microsoft JhengHei"/>
              </a:rPr>
              <a:t>。</a:t>
            </a:r>
          </a:p>
          <a:p>
            <a:endParaRPr sz="1400" dirty="0">
              <a:latin typeface="Microsoft JhengHei"/>
            </a:endParaRPr>
          </a:p>
          <a:p>
            <a:r>
              <a:rPr sz="1400" dirty="0" err="1">
                <a:latin typeface="Microsoft JhengHei"/>
              </a:rPr>
              <a:t>第四，Memory</a:t>
            </a:r>
            <a:r>
              <a:rPr sz="1400" dirty="0">
                <a:latin typeface="Microsoft JhengHei"/>
              </a:rPr>
              <a:t> </a:t>
            </a:r>
            <a:r>
              <a:rPr sz="1400" dirty="0" err="1">
                <a:latin typeface="Microsoft JhengHei"/>
              </a:rPr>
              <a:t>分四層階層化設計（Working</a:t>
            </a:r>
            <a:r>
              <a:rPr sz="1400" dirty="0">
                <a:latin typeface="Microsoft JhengHei"/>
              </a:rPr>
              <a:t>/Short/Long/Episodic），</a:t>
            </a:r>
            <a:r>
              <a:rPr sz="1400" dirty="0" err="1">
                <a:latin typeface="Microsoft JhengHei"/>
              </a:rPr>
              <a:t>確保長鏈任務不會因為上下文遺失而崩潰</a:t>
            </a:r>
            <a:r>
              <a:rPr sz="1400" dirty="0">
                <a:latin typeface="Microsoft JhengHei"/>
              </a:rPr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400" dirty="0" err="1">
                <a:latin typeface="Microsoft JhengHei"/>
              </a:rPr>
              <a:t>這頁以流程圖展示</a:t>
            </a:r>
            <a:r>
              <a:rPr sz="1400" dirty="0">
                <a:latin typeface="Microsoft JhengHei"/>
              </a:rPr>
              <a:t> Orchestration </a:t>
            </a:r>
            <a:r>
              <a:rPr sz="1400" dirty="0" err="1">
                <a:latin typeface="Microsoft JhengHei"/>
              </a:rPr>
              <a:t>的運作方式</a:t>
            </a:r>
            <a:r>
              <a:rPr sz="1400" dirty="0">
                <a:latin typeface="Microsoft JhengHei"/>
              </a:rPr>
              <a:t>。</a:t>
            </a:r>
          </a:p>
          <a:p>
            <a:endParaRPr sz="1400" dirty="0">
              <a:latin typeface="Microsoft JhengHei"/>
            </a:endParaRPr>
          </a:p>
          <a:p>
            <a:r>
              <a:rPr sz="1400" dirty="0" err="1">
                <a:latin typeface="Microsoft JhengHei"/>
              </a:rPr>
              <a:t>五大標準化階段：接收用戶任務</a:t>
            </a:r>
            <a:r>
              <a:rPr sz="1400" dirty="0">
                <a:latin typeface="Microsoft JhengHei"/>
              </a:rPr>
              <a:t> → </a:t>
            </a:r>
            <a:r>
              <a:rPr sz="1400" dirty="0" err="1">
                <a:latin typeface="Microsoft JhengHei"/>
              </a:rPr>
              <a:t>規劃器構建</a:t>
            </a:r>
            <a:r>
              <a:rPr sz="1400" dirty="0">
                <a:latin typeface="Microsoft JhengHei"/>
              </a:rPr>
              <a:t> DAG → </a:t>
            </a:r>
            <a:r>
              <a:rPr sz="1400" dirty="0" err="1">
                <a:latin typeface="Microsoft JhengHei"/>
              </a:rPr>
              <a:t>三大並行執行節點（工具調用、子代理派發、LLM</a:t>
            </a:r>
            <a:r>
              <a:rPr sz="1400" dirty="0">
                <a:latin typeface="Microsoft JhengHei"/>
              </a:rPr>
              <a:t> </a:t>
            </a:r>
            <a:r>
              <a:rPr sz="1400" dirty="0" err="1">
                <a:latin typeface="Microsoft JhengHei"/>
              </a:rPr>
              <a:t>推理</a:t>
            </a:r>
            <a:r>
              <a:rPr sz="1400" dirty="0">
                <a:latin typeface="Microsoft JhengHei"/>
              </a:rPr>
              <a:t>）→ </a:t>
            </a:r>
            <a:r>
              <a:rPr sz="1400" dirty="0" err="1">
                <a:latin typeface="Microsoft JhengHei"/>
              </a:rPr>
              <a:t>結果聚合品質驗證</a:t>
            </a:r>
            <a:r>
              <a:rPr sz="1400" dirty="0">
                <a:latin typeface="Microsoft JhengHei"/>
              </a:rPr>
              <a:t> → </a:t>
            </a:r>
            <a:r>
              <a:rPr sz="1400" dirty="0" err="1">
                <a:latin typeface="Microsoft JhengHei"/>
              </a:rPr>
              <a:t>交付最終答案</a:t>
            </a:r>
            <a:r>
              <a:rPr sz="1400" dirty="0">
                <a:latin typeface="Microsoft JhengHei"/>
              </a:rPr>
              <a:t>。</a:t>
            </a:r>
          </a:p>
          <a:p>
            <a:endParaRPr sz="1400" dirty="0">
              <a:latin typeface="Microsoft JhengHei"/>
            </a:endParaRPr>
          </a:p>
          <a:p>
            <a:r>
              <a:rPr sz="1400" dirty="0" err="1">
                <a:latin typeface="Microsoft JhengHei"/>
              </a:rPr>
              <a:t>關鍵設計要點有三</a:t>
            </a:r>
            <a:r>
              <a:rPr sz="1400" dirty="0">
                <a:latin typeface="Microsoft JhengHei"/>
              </a:rPr>
              <a:t>：</a:t>
            </a:r>
          </a:p>
          <a:p>
            <a:r>
              <a:rPr sz="1400" dirty="0" err="1">
                <a:latin typeface="Microsoft JhengHei"/>
              </a:rPr>
              <a:t>一、無依賴的子任務可以並行執行，大幅縮短耗時</a:t>
            </a:r>
            <a:r>
              <a:rPr sz="1400" dirty="0">
                <a:latin typeface="Microsoft JhengHei"/>
              </a:rPr>
              <a:t>。</a:t>
            </a:r>
          </a:p>
          <a:p>
            <a:r>
              <a:rPr sz="1400" dirty="0" err="1">
                <a:latin typeface="Microsoft JhengHei"/>
              </a:rPr>
              <a:t>二、子任務失敗時自動觸發「動態重規劃</a:t>
            </a:r>
            <a:r>
              <a:rPr sz="1400" dirty="0">
                <a:latin typeface="Microsoft JhengHei"/>
              </a:rPr>
              <a:t>」——</a:t>
            </a:r>
            <a:r>
              <a:rPr sz="1400" dirty="0" err="1">
                <a:latin typeface="Microsoft JhengHei"/>
              </a:rPr>
              <a:t>不是整個重來，而是保留已完成的成果，只重建失敗的部分</a:t>
            </a:r>
            <a:r>
              <a:rPr sz="1400" dirty="0">
                <a:latin typeface="Microsoft JhengHei"/>
              </a:rPr>
              <a:t>。</a:t>
            </a:r>
          </a:p>
          <a:p>
            <a:r>
              <a:rPr sz="1400" dirty="0" err="1">
                <a:latin typeface="Microsoft JhengHei"/>
              </a:rPr>
              <a:t>三、跨代理使用結構化通訊協議，確保主控代理能掌握每個子代理的進度和狀態</a:t>
            </a:r>
            <a:r>
              <a:rPr sz="1400" dirty="0">
                <a:latin typeface="Microsoft JhengHei"/>
              </a:rPr>
              <a:t>。</a:t>
            </a:r>
          </a:p>
          <a:p>
            <a:endParaRPr sz="1400" dirty="0">
              <a:latin typeface="Microsoft JhengHei"/>
            </a:endParaRPr>
          </a:p>
          <a:p>
            <a:r>
              <a:rPr sz="1400" dirty="0" err="1">
                <a:latin typeface="Microsoft JhengHei"/>
              </a:rPr>
              <a:t>這呼應了前一頁「關節」的比喻</a:t>
            </a:r>
            <a:r>
              <a:rPr sz="1400" dirty="0">
                <a:latin typeface="Microsoft JhengHei"/>
              </a:rPr>
              <a:t>——Orchestration </a:t>
            </a:r>
            <a:r>
              <a:rPr sz="1400" dirty="0" err="1">
                <a:latin typeface="Microsoft JhengHei"/>
              </a:rPr>
              <a:t>讓複雜任務的多個部分協調運作</a:t>
            </a:r>
            <a:r>
              <a:rPr sz="1400" dirty="0">
                <a:latin typeface="Microsoft JhengHei"/>
              </a:rPr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400" dirty="0" err="1">
                <a:latin typeface="Microsoft JhengHei"/>
              </a:rPr>
              <a:t>這頁是</a:t>
            </a:r>
            <a:r>
              <a:rPr sz="1400" dirty="0">
                <a:latin typeface="Microsoft JhengHei"/>
              </a:rPr>
              <a:t> Part I </a:t>
            </a:r>
            <a:r>
              <a:rPr sz="1400" dirty="0" err="1">
                <a:latin typeface="Microsoft JhengHei"/>
              </a:rPr>
              <a:t>的總結全景圖</a:t>
            </a:r>
            <a:r>
              <a:rPr sz="1400" dirty="0">
                <a:latin typeface="Microsoft JhengHei"/>
              </a:rPr>
              <a:t>。</a:t>
            </a:r>
          </a:p>
          <a:p>
            <a:endParaRPr sz="1400" dirty="0">
              <a:latin typeface="Microsoft JhengHei"/>
            </a:endParaRPr>
          </a:p>
          <a:p>
            <a:r>
              <a:rPr sz="1400" dirty="0" err="1">
                <a:latin typeface="Microsoft JhengHei"/>
              </a:rPr>
              <a:t>整體架構可以用「一個中心、四大支柱、兩翼護航、一層基底」來概括</a:t>
            </a:r>
            <a:r>
              <a:rPr sz="1400" dirty="0">
                <a:latin typeface="Microsoft JhengHei"/>
              </a:rPr>
              <a:t>：</a:t>
            </a:r>
          </a:p>
          <a:p>
            <a:endParaRPr sz="1400" dirty="0">
              <a:latin typeface="Microsoft JhengHei"/>
            </a:endParaRPr>
          </a:p>
          <a:p>
            <a:r>
              <a:rPr sz="1400" dirty="0" err="1">
                <a:latin typeface="Microsoft JhengHei"/>
              </a:rPr>
              <a:t>核心中樞是</a:t>
            </a:r>
            <a:r>
              <a:rPr sz="1400" dirty="0">
                <a:latin typeface="Microsoft JhengHei"/>
              </a:rPr>
              <a:t> Agent Loop——Observe → Think → Act </a:t>
            </a:r>
            <a:r>
              <a:rPr sz="1400" dirty="0" err="1">
                <a:latin typeface="Microsoft JhengHei"/>
              </a:rPr>
              <a:t>的莫比烏斯無限迴圈</a:t>
            </a:r>
            <a:r>
              <a:rPr sz="1400" dirty="0">
                <a:latin typeface="Microsoft JhengHei"/>
              </a:rPr>
              <a:t>。</a:t>
            </a:r>
          </a:p>
          <a:p>
            <a:endParaRPr sz="1400" dirty="0">
              <a:latin typeface="Microsoft JhengHei"/>
            </a:endParaRPr>
          </a:p>
          <a:p>
            <a:r>
              <a:rPr sz="1400" dirty="0" err="1">
                <a:latin typeface="Microsoft JhengHei"/>
              </a:rPr>
              <a:t>四大支柱環繞核心：模型介面提供智慧路由與</a:t>
            </a:r>
            <a:r>
              <a:rPr sz="1400" dirty="0">
                <a:latin typeface="Microsoft JhengHei"/>
              </a:rPr>
              <a:t> Prompt </a:t>
            </a:r>
            <a:r>
              <a:rPr sz="1400" dirty="0" err="1">
                <a:latin typeface="Microsoft JhengHei"/>
              </a:rPr>
              <a:t>組裝、工具系統負責註冊調用與安全沙箱、記憶與狀態管理四層階層化記憶、編排與規劃執行</a:t>
            </a:r>
            <a:r>
              <a:rPr sz="1400" dirty="0">
                <a:latin typeface="Microsoft JhengHei"/>
              </a:rPr>
              <a:t> DAG </a:t>
            </a:r>
            <a:r>
              <a:rPr sz="1400" dirty="0" err="1">
                <a:latin typeface="Microsoft JhengHei"/>
              </a:rPr>
              <a:t>任務拆解</a:t>
            </a:r>
            <a:r>
              <a:rPr sz="1400" dirty="0">
                <a:latin typeface="Microsoft JhengHei"/>
              </a:rPr>
              <a:t>。</a:t>
            </a:r>
          </a:p>
          <a:p>
            <a:endParaRPr sz="1400" dirty="0">
              <a:latin typeface="Microsoft JhengHei"/>
            </a:endParaRPr>
          </a:p>
          <a:p>
            <a:r>
              <a:rPr sz="1400" dirty="0">
                <a:latin typeface="Microsoft JhengHei"/>
              </a:rPr>
              <a:t>兩翼是安全護欄（L1~L5 </a:t>
            </a:r>
            <a:r>
              <a:rPr sz="1400" dirty="0" err="1">
                <a:latin typeface="Microsoft JhengHei"/>
              </a:rPr>
              <a:t>五層縱深防禦）和可觀測性（全鏈路追蹤</a:t>
            </a:r>
            <a:r>
              <a:rPr sz="1400" dirty="0">
                <a:latin typeface="Microsoft JhengHei"/>
              </a:rPr>
              <a:t> / </a:t>
            </a:r>
            <a:r>
              <a:rPr sz="1400" dirty="0" err="1">
                <a:latin typeface="Microsoft JhengHei"/>
              </a:rPr>
              <a:t>日誌</a:t>
            </a:r>
            <a:r>
              <a:rPr sz="1400" dirty="0">
                <a:latin typeface="Microsoft JhengHei"/>
              </a:rPr>
              <a:t> / </a:t>
            </a:r>
            <a:r>
              <a:rPr sz="1400" dirty="0" err="1">
                <a:latin typeface="Microsoft JhengHei"/>
              </a:rPr>
              <a:t>指標</a:t>
            </a:r>
            <a:r>
              <a:rPr sz="1400" dirty="0">
                <a:latin typeface="Microsoft JhengHei"/>
              </a:rPr>
              <a:t>）。</a:t>
            </a:r>
          </a:p>
          <a:p>
            <a:endParaRPr sz="1400" dirty="0">
              <a:latin typeface="Microsoft JhengHei"/>
            </a:endParaRPr>
          </a:p>
          <a:p>
            <a:r>
              <a:rPr sz="1400" dirty="0" err="1">
                <a:latin typeface="Microsoft JhengHei"/>
              </a:rPr>
              <a:t>底層基礎設施連接外部系統（API</a:t>
            </a:r>
            <a:r>
              <a:rPr sz="1400" dirty="0">
                <a:latin typeface="Microsoft JhengHei"/>
              </a:rPr>
              <a:t>/OS/</a:t>
            </a:r>
            <a:r>
              <a:rPr sz="1400" dirty="0" err="1">
                <a:latin typeface="Microsoft JhengHei"/>
              </a:rPr>
              <a:t>DB）和持久化儲存（向量庫</a:t>
            </a:r>
            <a:r>
              <a:rPr sz="1400" dirty="0">
                <a:latin typeface="Microsoft JhengHei"/>
              </a:rPr>
              <a:t>/</a:t>
            </a:r>
            <a:r>
              <a:rPr sz="1400" dirty="0" err="1">
                <a:latin typeface="Microsoft JhengHei"/>
              </a:rPr>
              <a:t>圖譜</a:t>
            </a:r>
            <a:r>
              <a:rPr sz="1400" dirty="0">
                <a:latin typeface="Microsoft JhengHei"/>
              </a:rPr>
              <a:t>）。</a:t>
            </a:r>
          </a:p>
          <a:p>
            <a:endParaRPr sz="1400" dirty="0">
              <a:latin typeface="Microsoft JhengHei"/>
            </a:endParaRPr>
          </a:p>
          <a:p>
            <a:r>
              <a:rPr sz="1400" dirty="0" err="1">
                <a:latin typeface="Microsoft JhengHei"/>
              </a:rPr>
              <a:t>這張全景圖將在後續</a:t>
            </a:r>
            <a:r>
              <a:rPr sz="1400" dirty="0">
                <a:latin typeface="Microsoft JhengHei"/>
              </a:rPr>
              <a:t> Part II 和 Part III </a:t>
            </a:r>
            <a:r>
              <a:rPr sz="1400" dirty="0" err="1">
                <a:latin typeface="Microsoft JhengHei"/>
              </a:rPr>
              <a:t>中被逐一展開深入。接下來進入「轉」的階段</a:t>
            </a:r>
            <a:r>
              <a:rPr sz="1400" dirty="0">
                <a:latin typeface="Microsoft JhengHei"/>
              </a:rPr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400">
                <a:latin typeface="Microsoft JhengHei"/>
              </a:rPr>
              <a:t>現在進入「轉」的階段。從 Part II 開始，我們不再只談「是什麼」，而要深入「怎麼做」。</a:t>
            </a:r>
          </a:p>
          <a:p>
            <a:endParaRPr sz="1400">
              <a:latin typeface="Microsoft JhengHei"/>
            </a:endParaRPr>
          </a:p>
          <a:p>
            <a:r>
              <a:rPr sz="1400">
                <a:latin typeface="Microsoft JhengHei"/>
              </a:rPr>
              <a:t>Part II 將七大核心組成逐一拆解到子模組層級，包含：介面契約定義、設計決策依據、以及失敗模式的緩解策略。</a:t>
            </a:r>
          </a:p>
          <a:p>
            <a:endParaRPr sz="1400">
              <a:latin typeface="Microsoft JhengHei"/>
            </a:endParaRPr>
          </a:p>
          <a:p>
            <a:r>
              <a:rPr sz="1400">
                <a:latin typeface="Microsoft JhengHei"/>
              </a:rPr>
              <a:t>這部分是給架構師和開發團隊的「施工藍圖」。每一個子模組都有明確的技術規格和邊界條件。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400" dirty="0">
                <a:latin typeface="Microsoft JhengHei"/>
              </a:rPr>
              <a:t>Agent Loop </a:t>
            </a:r>
            <a:r>
              <a:rPr sz="1400" dirty="0" err="1">
                <a:latin typeface="Microsoft JhengHei"/>
              </a:rPr>
              <a:t>深度規劃</a:t>
            </a:r>
            <a:r>
              <a:rPr sz="1400" dirty="0">
                <a:latin typeface="Microsoft JhengHei"/>
              </a:rPr>
              <a:t>——</a:t>
            </a:r>
            <a:r>
              <a:rPr sz="1400" dirty="0" err="1">
                <a:latin typeface="Microsoft JhengHei"/>
              </a:rPr>
              <a:t>聚焦</a:t>
            </a:r>
            <a:r>
              <a:rPr sz="1400" dirty="0">
                <a:latin typeface="Microsoft JhengHei"/>
              </a:rPr>
              <a:t> Observe </a:t>
            </a:r>
            <a:r>
              <a:rPr sz="1400" dirty="0" err="1">
                <a:latin typeface="Microsoft JhengHei"/>
              </a:rPr>
              <a:t>階段</a:t>
            </a:r>
            <a:r>
              <a:rPr sz="1400" dirty="0">
                <a:latin typeface="Microsoft JhengHei"/>
              </a:rPr>
              <a:t>。</a:t>
            </a:r>
          </a:p>
          <a:p>
            <a:endParaRPr sz="1400" dirty="0">
              <a:latin typeface="Microsoft JhengHei"/>
            </a:endParaRPr>
          </a:p>
          <a:p>
            <a:r>
              <a:rPr sz="1400" dirty="0">
                <a:latin typeface="Microsoft JhengHei"/>
              </a:rPr>
              <a:t>Observe </a:t>
            </a:r>
            <a:r>
              <a:rPr sz="1400" dirty="0" err="1">
                <a:latin typeface="Microsoft JhengHei"/>
              </a:rPr>
              <a:t>是整個迴圈的起點，負責「感知</a:t>
            </a:r>
            <a:r>
              <a:rPr sz="1400" dirty="0">
                <a:latin typeface="Microsoft JhengHei"/>
              </a:rPr>
              <a:t>」。</a:t>
            </a:r>
            <a:r>
              <a:rPr sz="1400" dirty="0" err="1">
                <a:latin typeface="Microsoft JhengHei"/>
              </a:rPr>
              <a:t>它有三大輸入來源：用戶輸入（文字</a:t>
            </a:r>
            <a:r>
              <a:rPr sz="1400" dirty="0">
                <a:latin typeface="Microsoft JhengHei"/>
              </a:rPr>
              <a:t>/</a:t>
            </a:r>
            <a:r>
              <a:rPr sz="1400" dirty="0" err="1">
                <a:latin typeface="Microsoft JhengHei"/>
              </a:rPr>
              <a:t>語音</a:t>
            </a:r>
            <a:r>
              <a:rPr sz="1400" dirty="0">
                <a:latin typeface="Microsoft JhengHei"/>
              </a:rPr>
              <a:t>/</a:t>
            </a:r>
            <a:r>
              <a:rPr sz="1400" dirty="0" err="1">
                <a:latin typeface="Microsoft JhengHei"/>
              </a:rPr>
              <a:t>檔案</a:t>
            </a:r>
            <a:r>
              <a:rPr sz="1400" dirty="0">
                <a:latin typeface="Microsoft JhengHei"/>
              </a:rPr>
              <a:t>）、</a:t>
            </a:r>
            <a:r>
              <a:rPr sz="1400" dirty="0" err="1">
                <a:latin typeface="Microsoft JhengHei"/>
              </a:rPr>
              <a:t>工具回傳結果（API</a:t>
            </a:r>
            <a:r>
              <a:rPr sz="1400" dirty="0">
                <a:latin typeface="Microsoft JhengHei"/>
              </a:rPr>
              <a:t> </a:t>
            </a:r>
            <a:r>
              <a:rPr sz="1400" dirty="0" err="1">
                <a:latin typeface="Microsoft JhengHei"/>
              </a:rPr>
              <a:t>執行成果</a:t>
            </a:r>
            <a:r>
              <a:rPr sz="1400" dirty="0">
                <a:latin typeface="Microsoft JhengHei"/>
              </a:rPr>
              <a:t>）、</a:t>
            </a:r>
            <a:r>
              <a:rPr sz="1400" dirty="0" err="1">
                <a:latin typeface="Microsoft JhengHei"/>
              </a:rPr>
              <a:t>系統事件（定時器</a:t>
            </a:r>
            <a:r>
              <a:rPr sz="1400" dirty="0">
                <a:latin typeface="Microsoft JhengHei"/>
              </a:rPr>
              <a:t>/</a:t>
            </a:r>
            <a:r>
              <a:rPr sz="1400" dirty="0" err="1">
                <a:latin typeface="Microsoft JhengHei"/>
              </a:rPr>
              <a:t>子代理回報</a:t>
            </a:r>
            <a:r>
              <a:rPr sz="1400" dirty="0">
                <a:latin typeface="Microsoft JhengHei"/>
              </a:rPr>
              <a:t>）。</a:t>
            </a:r>
          </a:p>
          <a:p>
            <a:endParaRPr sz="1400" dirty="0">
              <a:latin typeface="Microsoft JhengHei"/>
            </a:endParaRPr>
          </a:p>
          <a:p>
            <a:r>
              <a:rPr sz="1400" dirty="0" err="1">
                <a:latin typeface="Microsoft JhengHei"/>
              </a:rPr>
              <a:t>內部有兩個關鍵元件：Context</a:t>
            </a:r>
            <a:r>
              <a:rPr sz="1400" dirty="0">
                <a:latin typeface="Microsoft JhengHei"/>
              </a:rPr>
              <a:t> </a:t>
            </a:r>
            <a:r>
              <a:rPr sz="1400" dirty="0" err="1">
                <a:latin typeface="Microsoft JhengHei"/>
              </a:rPr>
              <a:t>Assembler（上下文組裝器）負責整合多源輸入；Memory</a:t>
            </a:r>
            <a:r>
              <a:rPr sz="1400" dirty="0">
                <a:latin typeface="Microsoft JhengHei"/>
              </a:rPr>
              <a:t> </a:t>
            </a:r>
            <a:r>
              <a:rPr sz="1400" dirty="0" err="1">
                <a:latin typeface="Microsoft JhengHei"/>
              </a:rPr>
              <a:t>Retriever（記憶檢索器）從長期記憶中擷取相關脈絡</a:t>
            </a:r>
            <a:r>
              <a:rPr sz="1400" dirty="0">
                <a:latin typeface="Microsoft JhengHei"/>
              </a:rPr>
              <a:t>。</a:t>
            </a:r>
          </a:p>
          <a:p>
            <a:endParaRPr sz="1400" dirty="0">
              <a:latin typeface="Microsoft JhengHei"/>
            </a:endParaRPr>
          </a:p>
          <a:p>
            <a:r>
              <a:rPr sz="1400" dirty="0" err="1">
                <a:latin typeface="Microsoft JhengHei"/>
              </a:rPr>
              <a:t>特別注意終止條件的優先級設計：用戶中斷</a:t>
            </a:r>
            <a:r>
              <a:rPr sz="1400" dirty="0">
                <a:latin typeface="Microsoft JhengHei"/>
              </a:rPr>
              <a:t> &gt; </a:t>
            </a:r>
            <a:r>
              <a:rPr sz="1400" dirty="0" err="1">
                <a:latin typeface="Microsoft JhengHei"/>
              </a:rPr>
              <a:t>致命錯誤</a:t>
            </a:r>
            <a:r>
              <a:rPr sz="1400" dirty="0">
                <a:latin typeface="Microsoft JhengHei"/>
              </a:rPr>
              <a:t> &gt; </a:t>
            </a:r>
            <a:r>
              <a:rPr sz="1400" dirty="0" err="1">
                <a:latin typeface="Microsoft JhengHei"/>
              </a:rPr>
              <a:t>超時</a:t>
            </a:r>
            <a:r>
              <a:rPr sz="1400" dirty="0">
                <a:latin typeface="Microsoft JhengHei"/>
              </a:rPr>
              <a:t> &gt; </a:t>
            </a:r>
            <a:r>
              <a:rPr sz="1400" dirty="0" err="1">
                <a:latin typeface="Microsoft JhengHei"/>
              </a:rPr>
              <a:t>最大迭代</a:t>
            </a:r>
            <a:r>
              <a:rPr sz="1400" dirty="0">
                <a:latin typeface="Microsoft JhengHei"/>
              </a:rPr>
              <a:t> &gt; </a:t>
            </a:r>
            <a:r>
              <a:rPr sz="1400" dirty="0" err="1">
                <a:latin typeface="Microsoft JhengHei"/>
              </a:rPr>
              <a:t>預算耗盡</a:t>
            </a:r>
            <a:r>
              <a:rPr sz="1400" dirty="0">
                <a:latin typeface="Microsoft JhengHei"/>
              </a:rPr>
              <a:t> &gt; </a:t>
            </a:r>
            <a:r>
              <a:rPr sz="1400" dirty="0" err="1">
                <a:latin typeface="Microsoft JhengHei"/>
              </a:rPr>
              <a:t>目標達成。這個優先級順序不是隨意排列，而是確保安全優先於完成任務</a:t>
            </a:r>
            <a:r>
              <a:rPr sz="1400" dirty="0">
                <a:latin typeface="Microsoft JhengHei"/>
              </a:rPr>
              <a:t>——</a:t>
            </a:r>
            <a:r>
              <a:rPr sz="1400" dirty="0" err="1">
                <a:latin typeface="Microsoft JhengHei"/>
              </a:rPr>
              <a:t>即使代理認為任務未完成，只要觸碰安全邊界就必須停止</a:t>
            </a:r>
            <a:r>
              <a:rPr sz="1400" dirty="0">
                <a:latin typeface="Microsoft JhengHei"/>
              </a:rPr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400">
                <a:latin typeface="Microsoft JhengHei"/>
              </a:rPr>
              <a:t>LLM Interface 深度規劃——聚焦 Prompt 分層組裝。</a:t>
            </a:r>
          </a:p>
          <a:p>
            <a:endParaRPr sz="1400">
              <a:latin typeface="Microsoft JhengHei"/>
            </a:endParaRPr>
          </a:p>
          <a:p>
            <a:r>
              <a:rPr sz="1400">
                <a:latin typeface="Microsoft JhengHei"/>
              </a:rPr>
              <a:t>五大模組：Provider Adapter 統一多供應商接口、Model Router 智慧路由、Prompt Assembly 六層組裝、Output Parser 結構化解析、Error Handler 失敗緩解。</a:t>
            </a:r>
          </a:p>
          <a:p>
            <a:endParaRPr sz="1400">
              <a:latin typeface="Microsoft JhengHei"/>
            </a:endParaRPr>
          </a:p>
          <a:p>
            <a:r>
              <a:rPr sz="1400">
                <a:latin typeface="Microsoft JhengHei"/>
              </a:rPr>
              <a:t>最核心的是 Prompt 六層組裝與 Token 預算分配策略：</a:t>
            </a:r>
          </a:p>
          <a:p>
            <a:r>
              <a:rPr sz="1400">
                <a:latin typeface="Microsoft JhengHei"/>
              </a:rPr>
              <a:t>第一層：系統身分——固定預留，不可壓縮。</a:t>
            </a:r>
          </a:p>
          <a:p>
            <a:r>
              <a:rPr sz="1400">
                <a:latin typeface="Microsoft JhengHei"/>
              </a:rPr>
              <a:t>第二層：工具定義——高優先級，Agent 必須知道自己能用什麼工具。</a:t>
            </a:r>
          </a:p>
          <a:p>
            <a:r>
              <a:rPr sz="1400">
                <a:latin typeface="Microsoft JhengHei"/>
              </a:rPr>
              <a:t>第三層：檢索上下文——依相關度動態填補。</a:t>
            </a:r>
          </a:p>
          <a:p>
            <a:r>
              <a:rPr sz="1400">
                <a:latin typeface="Microsoft JhengHei"/>
              </a:rPr>
              <a:t>第四層：對話歷史——採滑動窗口壓縮策略。</a:t>
            </a:r>
          </a:p>
          <a:p>
            <a:r>
              <a:rPr sz="1400">
                <a:latin typeface="Microsoft JhengHei"/>
              </a:rPr>
              <a:t>第五層：本次用戶輸入——不壓縮，確保忠於用戶意圖。</a:t>
            </a:r>
          </a:p>
          <a:p>
            <a:r>
              <a:rPr sz="1400">
                <a:latin typeface="Microsoft JhengHei"/>
              </a:rPr>
              <a:t>第六層：推理思維鏈——彈性填入，有餘裕才加。</a:t>
            </a:r>
          </a:p>
          <a:p>
            <a:endParaRPr sz="1400">
              <a:latin typeface="Microsoft JhengHei"/>
            </a:endParaRPr>
          </a:p>
          <a:p>
            <a:r>
              <a:rPr sz="1400">
                <a:latin typeface="Microsoft JhengHei"/>
              </a:rPr>
              <a:t>這套分層策略是 Token 預算管控的基礎，直接影響成本與品質的平衡。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400" dirty="0">
                <a:latin typeface="Microsoft JhengHei"/>
              </a:rPr>
              <a:t>Tool System </a:t>
            </a:r>
            <a:r>
              <a:rPr sz="1400" dirty="0" err="1">
                <a:latin typeface="Microsoft JhengHei"/>
              </a:rPr>
              <a:t>深度規劃</a:t>
            </a:r>
            <a:r>
              <a:rPr sz="1400" dirty="0">
                <a:latin typeface="Microsoft JhengHei"/>
              </a:rPr>
              <a:t>——</a:t>
            </a:r>
            <a:r>
              <a:rPr sz="1400" dirty="0" err="1">
                <a:latin typeface="Microsoft JhengHei"/>
              </a:rPr>
              <a:t>八步執行流水線</a:t>
            </a:r>
            <a:r>
              <a:rPr sz="1400" dirty="0">
                <a:latin typeface="Microsoft JhengHei"/>
              </a:rPr>
              <a:t>。</a:t>
            </a:r>
          </a:p>
          <a:p>
            <a:endParaRPr sz="1400" dirty="0">
              <a:latin typeface="Microsoft JhengHei"/>
            </a:endParaRPr>
          </a:p>
          <a:p>
            <a:r>
              <a:rPr sz="1400" dirty="0" err="1">
                <a:latin typeface="Microsoft JhengHei"/>
              </a:rPr>
              <a:t>工具調用不是直接呼叫函數那麼簡單。我們設計了嚴格的八步流水線</a:t>
            </a:r>
            <a:r>
              <a:rPr sz="1400" dirty="0">
                <a:latin typeface="Microsoft JhengHei"/>
              </a:rPr>
              <a:t>：</a:t>
            </a:r>
          </a:p>
          <a:p>
            <a:r>
              <a:rPr sz="1400" dirty="0">
                <a:latin typeface="Microsoft JhengHei"/>
              </a:rPr>
              <a:t>① </a:t>
            </a:r>
            <a:r>
              <a:rPr sz="1400" dirty="0" err="1">
                <a:latin typeface="Microsoft JhengHei"/>
              </a:rPr>
              <a:t>模型發出函數調用指令</a:t>
            </a:r>
            <a:endParaRPr sz="1400" dirty="0">
              <a:latin typeface="Microsoft JhengHei"/>
            </a:endParaRPr>
          </a:p>
          <a:p>
            <a:r>
              <a:rPr sz="1400" dirty="0">
                <a:latin typeface="Microsoft JhengHei"/>
              </a:rPr>
              <a:t>② JSON Schema </a:t>
            </a:r>
            <a:r>
              <a:rPr sz="1400" dirty="0" err="1">
                <a:latin typeface="Microsoft JhengHei"/>
              </a:rPr>
              <a:t>嚴格校驗參數</a:t>
            </a:r>
            <a:endParaRPr sz="1400" dirty="0">
              <a:latin typeface="Microsoft JhengHei"/>
            </a:endParaRPr>
          </a:p>
          <a:p>
            <a:r>
              <a:rPr sz="1400" dirty="0">
                <a:latin typeface="Microsoft JhengHei"/>
              </a:rPr>
              <a:t>③ </a:t>
            </a:r>
            <a:r>
              <a:rPr sz="1400" dirty="0" err="1">
                <a:latin typeface="Microsoft JhengHei"/>
              </a:rPr>
              <a:t>權限安全檢查</a:t>
            </a:r>
            <a:endParaRPr sz="1400" dirty="0">
              <a:latin typeface="Microsoft JhengHei"/>
            </a:endParaRPr>
          </a:p>
          <a:p>
            <a:r>
              <a:rPr sz="1400" dirty="0">
                <a:latin typeface="Microsoft JhengHei"/>
              </a:rPr>
              <a:t>④ </a:t>
            </a:r>
            <a:r>
              <a:rPr sz="1400" dirty="0" err="1">
                <a:latin typeface="Microsoft JhengHei"/>
              </a:rPr>
              <a:t>速率限制</a:t>
            </a:r>
            <a:endParaRPr sz="1400" dirty="0">
              <a:latin typeface="Microsoft JhengHei"/>
            </a:endParaRPr>
          </a:p>
          <a:p>
            <a:r>
              <a:rPr sz="1400" dirty="0">
                <a:latin typeface="Microsoft JhengHei"/>
              </a:rPr>
              <a:t>⑤ </a:t>
            </a:r>
            <a:r>
              <a:rPr sz="1400" dirty="0" err="1">
                <a:latin typeface="Microsoft JhengHei"/>
              </a:rPr>
              <a:t>沙箱環境隔離</a:t>
            </a:r>
            <a:endParaRPr sz="1400" dirty="0">
              <a:latin typeface="Microsoft JhengHei"/>
            </a:endParaRPr>
          </a:p>
          <a:p>
            <a:r>
              <a:rPr sz="1400" dirty="0">
                <a:latin typeface="Microsoft JhengHei"/>
              </a:rPr>
              <a:t>⑥ </a:t>
            </a:r>
            <a:r>
              <a:rPr sz="1400" dirty="0" err="1">
                <a:latin typeface="Microsoft JhengHei"/>
              </a:rPr>
              <a:t>實際執行工具</a:t>
            </a:r>
            <a:endParaRPr sz="1400" dirty="0">
              <a:latin typeface="Microsoft JhengHei"/>
            </a:endParaRPr>
          </a:p>
          <a:p>
            <a:r>
              <a:rPr sz="1400" dirty="0">
                <a:latin typeface="Microsoft JhengHei"/>
              </a:rPr>
              <a:t>⑦ </a:t>
            </a:r>
            <a:r>
              <a:rPr sz="1400" dirty="0" err="1">
                <a:latin typeface="Microsoft JhengHei"/>
              </a:rPr>
              <a:t>結果處理過濾</a:t>
            </a:r>
            <a:endParaRPr sz="1400" dirty="0">
              <a:latin typeface="Microsoft JhengHei"/>
            </a:endParaRPr>
          </a:p>
          <a:p>
            <a:r>
              <a:rPr sz="1400" dirty="0">
                <a:latin typeface="Microsoft JhengHei"/>
              </a:rPr>
              <a:t>⑧ </a:t>
            </a:r>
            <a:r>
              <a:rPr sz="1400" dirty="0" err="1">
                <a:latin typeface="Microsoft JhengHei"/>
              </a:rPr>
              <a:t>包裝成標準結果物件回傳</a:t>
            </a:r>
            <a:endParaRPr sz="1400" dirty="0">
              <a:latin typeface="Microsoft JhengHei"/>
            </a:endParaRPr>
          </a:p>
          <a:p>
            <a:endParaRPr sz="1400" dirty="0">
              <a:latin typeface="Microsoft JhengHei"/>
            </a:endParaRPr>
          </a:p>
          <a:p>
            <a:r>
              <a:rPr sz="1400" dirty="0" err="1">
                <a:latin typeface="Microsoft JhengHei"/>
              </a:rPr>
              <a:t>三級權限設計：Level</a:t>
            </a:r>
            <a:r>
              <a:rPr sz="1400" dirty="0">
                <a:latin typeface="Microsoft JhengHei"/>
              </a:rPr>
              <a:t> 0 </a:t>
            </a:r>
            <a:r>
              <a:rPr sz="1400" dirty="0" err="1">
                <a:latin typeface="Microsoft JhengHei"/>
              </a:rPr>
              <a:t>唯讀操作自動執行、Level</a:t>
            </a:r>
            <a:r>
              <a:rPr sz="1400" dirty="0">
                <a:latin typeface="Microsoft JhengHei"/>
              </a:rPr>
              <a:t> 1 </a:t>
            </a:r>
            <a:r>
              <a:rPr sz="1400" dirty="0" err="1">
                <a:latin typeface="Microsoft JhengHei"/>
              </a:rPr>
              <a:t>寫入操作需輕量沙箱、Level</a:t>
            </a:r>
            <a:r>
              <a:rPr sz="1400" dirty="0">
                <a:latin typeface="Microsoft JhengHei"/>
              </a:rPr>
              <a:t> 2 </a:t>
            </a:r>
            <a:r>
              <a:rPr sz="1400" dirty="0" err="1">
                <a:latin typeface="Microsoft JhengHei"/>
              </a:rPr>
              <a:t>高危操作需人類審批加完全沙箱</a:t>
            </a:r>
            <a:r>
              <a:rPr sz="1400" dirty="0">
                <a:latin typeface="Microsoft JhengHei"/>
              </a:rPr>
              <a:t>。</a:t>
            </a:r>
          </a:p>
          <a:p>
            <a:endParaRPr sz="1400" dirty="0">
              <a:latin typeface="Microsoft JhengHei"/>
            </a:endParaRPr>
          </a:p>
          <a:p>
            <a:r>
              <a:rPr sz="1400" dirty="0" err="1">
                <a:latin typeface="Microsoft JhengHei"/>
              </a:rPr>
              <a:t>這與規劃文件中「Harness</a:t>
            </a:r>
            <a:r>
              <a:rPr sz="1400" dirty="0">
                <a:latin typeface="Microsoft JhengHei"/>
              </a:rPr>
              <a:t> </a:t>
            </a:r>
            <a:r>
              <a:rPr sz="1400" dirty="0" err="1">
                <a:latin typeface="Microsoft JhengHei"/>
              </a:rPr>
              <a:t>以零信任架構為基礎，透過標準化容器映像檔與底層沙盒機制建立隔離邊界」的設計完全吻合</a:t>
            </a:r>
            <a:r>
              <a:rPr sz="1400" dirty="0">
                <a:latin typeface="Microsoft JhengHei"/>
              </a:rPr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400">
                <a:latin typeface="Microsoft JhengHei"/>
              </a:rPr>
              <a:t>Memory &amp; State 深度規劃——四層記憶體系。</a:t>
            </a:r>
          </a:p>
          <a:p>
            <a:endParaRPr sz="1400">
              <a:latin typeface="Microsoft JhengHei"/>
            </a:endParaRPr>
          </a:p>
          <a:p>
            <a:r>
              <a:rPr sz="1400">
                <a:latin typeface="Microsoft JhengHei"/>
              </a:rPr>
              <a:t>為什麼需要四層？因為不同的記憶有不同的生命週期和用途：</a:t>
            </a:r>
          </a:p>
          <a:p>
            <a:endParaRPr sz="1400">
              <a:latin typeface="Microsoft JhengHei"/>
            </a:endParaRPr>
          </a:p>
          <a:p>
            <a:r>
              <a:rPr sz="1400">
                <a:latin typeface="Microsoft JhengHei"/>
              </a:rPr>
              <a:t>Working Memory（工作記憶）是當前會話的即時快取，用滑動窗口管理，對話結束即清除。</a:t>
            </a:r>
          </a:p>
          <a:p>
            <a:endParaRPr sz="1400">
              <a:latin typeface="Microsoft JhengHei"/>
            </a:endParaRPr>
          </a:p>
          <a:p>
            <a:r>
              <a:rPr sz="1400">
                <a:latin typeface="Microsoft JhengHei"/>
              </a:rPr>
              <a:t>Short-term Memory（短期記憶）是單一任務的 Scratchpad，記錄目標、計畫、發現、決策和阻塞點，任務完成後歸檔。</a:t>
            </a:r>
          </a:p>
          <a:p>
            <a:endParaRPr sz="1400">
              <a:latin typeface="Microsoft JhengHei"/>
            </a:endParaRPr>
          </a:p>
          <a:p>
            <a:r>
              <a:rPr sz="1400">
                <a:latin typeface="Microsoft JhengHei"/>
              </a:rPr>
              <a:t>Long-term Memory（長期記憶）是跨會話持久化知識庫，支援三大後端：向量庫、文件儲存、知識圖譜。</a:t>
            </a:r>
          </a:p>
          <a:p>
            <a:endParaRPr sz="1400">
              <a:latin typeface="Microsoft JhengHei"/>
            </a:endParaRPr>
          </a:p>
          <a:p>
            <a:r>
              <a:rPr sz="1400">
                <a:latin typeface="Microsoft JhengHei"/>
              </a:rPr>
              <a:t>Episodic Memory（情節記憶）是最特殊的一層——它記錄歷史任務的軌跡與經驗規則，讓 Agent 能從過去的成功和失敗中自學習，並將經驗反饋至 Guardrails 系統。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400">
                <a:latin typeface="Microsoft JhengHei"/>
              </a:rPr>
              <a:t>Orchestration &amp; Planning 深度規劃——三大子系統。</a:t>
            </a:r>
          </a:p>
          <a:p>
            <a:endParaRPr sz="1400">
              <a:latin typeface="Microsoft JhengHei"/>
            </a:endParaRPr>
          </a:p>
          <a:p>
            <a:r>
              <a:rPr sz="1400">
                <a:latin typeface="Microsoft JhengHei"/>
              </a:rPr>
              <a:t>13.1 Task Decomposition Engine（任務拆解引擎）：從目標理解到 DAG 構建，每個 SubTask 都有完整定義（ID、描述、依賴、工具需求、預估成本、狀態機）。無依賴子任務自動平行化，大幅縮短執行時間。</a:t>
            </a:r>
          </a:p>
          <a:p>
            <a:endParaRPr sz="1400">
              <a:latin typeface="Microsoft JhengHei"/>
            </a:endParaRPr>
          </a:p>
          <a:p>
            <a:r>
              <a:rPr sz="1400">
                <a:latin typeface="Microsoft JhengHei"/>
              </a:rPr>
              <a:t>13.2 Dynamic Re-planning（動態重規劃）：當子任務失敗、新約束出現、需求變更或資源不足時，系統不是重頭來過，而是暫停 → 重新評估 → 合併已完成結果 → 構建新 DAG → 恢復執行。這種增量更新策略避免了已產生的中間計算與 API 成本浪費。</a:t>
            </a:r>
          </a:p>
          <a:p>
            <a:endParaRPr sz="1400">
              <a:latin typeface="Microsoft JhengHei"/>
            </a:endParaRPr>
          </a:p>
          <a:p>
            <a:r>
              <a:rPr sz="1400">
                <a:latin typeface="Microsoft JhengHei"/>
              </a:rPr>
              <a:t>13.3 Multi-Agent Coordination（多代理協同）：採主控代理 + 專項子代理的層次架構，五類通訊協議（TASK_ASSIGN/PROGRESS/RESULT/CLARIFY/ABORT）確保協同順暢。四種上下文隔離策略適應不同安全需求。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400">
                <a:latin typeface="Microsoft JhengHei"/>
              </a:rPr>
              <a:t>Guardrails 深度規劃——五層縱深防禦。</a:t>
            </a:r>
          </a:p>
          <a:p>
            <a:endParaRPr sz="1400">
              <a:latin typeface="Microsoft JhengHei"/>
            </a:endParaRPr>
          </a:p>
          <a:p>
            <a:r>
              <a:rPr sz="1400">
                <a:latin typeface="Microsoft JhengHei"/>
              </a:rPr>
              <a:t>這是整份規格書中最關鍵的安全機制，也是 Harness 名稱的由來。</a:t>
            </a:r>
          </a:p>
          <a:p>
            <a:endParaRPr sz="1400">
              <a:latin typeface="Microsoft JhengHei"/>
            </a:endParaRPr>
          </a:p>
          <a:p>
            <a:r>
              <a:rPr sz="1400">
                <a:latin typeface="Microsoft JhengHei"/>
              </a:rPr>
              <a:t>五層 Defense-in-Depth 逐層過濾：</a:t>
            </a:r>
          </a:p>
          <a:p>
            <a:r>
              <a:rPr sz="1400">
                <a:latin typeface="Microsoft JhengHei"/>
              </a:rPr>
              <a:t>L1 輸入層：防提示注入、越獄過濾、PII 脫敏。這是第一道防線。</a:t>
            </a:r>
          </a:p>
          <a:p>
            <a:r>
              <a:rPr sz="1400">
                <a:latin typeface="Microsoft JhengHei"/>
              </a:rPr>
              <a:t>L2 輸出層：合規過濾、防敏感資訊洩露、事實核查。確保 Agent 的輸出不會洩密。</a:t>
            </a:r>
          </a:p>
          <a:p>
            <a:r>
              <a:rPr sz="1400">
                <a:latin typeface="Microsoft JhengHei"/>
              </a:rPr>
              <a:t>L3 行動層：工具權限管控、高危操作人工審批 (HITL)。管控 Agent 的「手腳」。</a:t>
            </a:r>
          </a:p>
          <a:p>
            <a:r>
              <a:rPr sz="1400">
                <a:latin typeface="Microsoft JhengHei"/>
              </a:rPr>
              <a:t>L4 執行層：沙箱隔離、資源配額、超時熔斷。限制 Agent 的運算資源。</a:t>
            </a:r>
          </a:p>
          <a:p>
            <a:r>
              <a:rPr sz="1400">
                <a:latin typeface="Microsoft JhengHei"/>
              </a:rPr>
              <a:t>L5 全局迴圈：步驟上限 50、Token 上限 500K、超時 30 分鐘、費用熔斷 \$5、死循環偵測。這是最後一道安全網。</a:t>
            </a:r>
          </a:p>
          <a:p>
            <a:endParaRPr sz="1400">
              <a:latin typeface="Microsoft JhengHei"/>
            </a:endParaRPr>
          </a:p>
          <a:p>
            <a:r>
              <a:rPr sz="1400">
                <a:latin typeface="Microsoft JhengHei"/>
              </a:rPr>
              <a:t>這五層對應規劃文件中「L1 通用模型到 L5 領域知識庫」的五層縱深，以及六大防護閘門（輸入防護、迴圈控制、工具閘道、人機協同、輸出校驗、審計日誌）的設計。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400">
                <a:latin typeface="Microsoft JhengHei"/>
              </a:rPr>
              <a:t>Observability 深度規劃——四大觀測維度。</a:t>
            </a:r>
          </a:p>
          <a:p>
            <a:endParaRPr sz="1400">
              <a:latin typeface="Microsoft JhengHei"/>
            </a:endParaRPr>
          </a:p>
          <a:p>
            <a:r>
              <a:rPr sz="1400">
                <a:latin typeface="Microsoft JhengHei"/>
              </a:rPr>
              <a:t>沒有可觀測性的 Agent 就是一個黑盒，出了問題無法除錯，出了安全事件無法追蹤。</a:t>
            </a:r>
          </a:p>
          <a:p>
            <a:endParaRPr sz="1400">
              <a:latin typeface="Microsoft JhengHei"/>
            </a:endParaRPr>
          </a:p>
          <a:p>
            <a:r>
              <a:rPr sz="1400">
                <a:latin typeface="Microsoft JhengHei"/>
              </a:rPr>
              <a:t>四大維度：</a:t>
            </a:r>
          </a:p>
          <a:p>
            <a:r>
              <a:rPr sz="1400">
                <a:latin typeface="Microsoft JhengHei"/>
              </a:rPr>
              <a:t>15.1 Tracing：階層式 Span 樹狀軌跡，每一步都有 trace_id、span_id、model、tokens、cost 等標準屬性。</a:t>
            </a:r>
          </a:p>
          <a:p>
            <a:r>
              <a:rPr sz="1400">
                <a:latin typeface="Microsoft JhengHei"/>
              </a:rPr>
              <a:t>15.2 Logging：六級結構化日誌（TRACE→FATAL），JSON 格式完整記錄 Raw I/O 與 Token 消耗。</a:t>
            </a:r>
          </a:p>
          <a:p>
            <a:r>
              <a:rPr sz="1400">
                <a:latin typeface="Microsoft JhengHei"/>
              </a:rPr>
              <a:t>15.3 Metrics：六大維度度量——任務成功率、平均步驟數、Token 消耗、P95 延遲、API 費用累計、記憶命中率。</a:t>
            </a:r>
          </a:p>
          <a:p>
            <a:r>
              <a:rPr sz="1400">
                <a:latin typeface="Microsoft JhengHei"/>
              </a:rPr>
              <a:t>15.4 成本管控：三級預算熔斷（單次/單任務/全局月度），以及逐步回放除錯功能。</a:t>
            </a:r>
          </a:p>
          <a:p>
            <a:endParaRPr sz="1400">
              <a:latin typeface="Microsoft JhengHei"/>
            </a:endParaRPr>
          </a:p>
          <a:p>
            <a:r>
              <a:rPr sz="1400">
                <a:latin typeface="Microsoft JhengHei"/>
              </a:rPr>
              <a:t>這與規劃文件中「不可否認的使用紀錄」要求完全呼應——每筆模型調用留存 8 項關鍵欄位，以防竄改方式至少保存一年。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400">
                <a:latin typeface="Microsoft JhengHei"/>
              </a:rPr>
              <a:t>從這頁開始進入 Part III——合規安全框架與 AI 評測整合。</a:t>
            </a:r>
          </a:p>
          <a:p>
            <a:endParaRPr sz="1400">
              <a:latin typeface="Microsoft JhengHei"/>
            </a:endParaRPr>
          </a:p>
          <a:p>
            <a:r>
              <a:rPr sz="1400">
                <a:latin typeface="Microsoft JhengHei"/>
              </a:rPr>
              <a:t>如果說 Part II 是「內功」，Part III 就是「外功」。內功確保 Agent 架構健全，外功確保它符合國際標準與業界最佳實踐。</a:t>
            </a:r>
          </a:p>
          <a:p>
            <a:endParaRPr sz="1400">
              <a:latin typeface="Microsoft JhengHei"/>
            </a:endParaRPr>
          </a:p>
          <a:p>
            <a:r>
              <a:rPr sz="1400">
                <a:latin typeface="Microsoft JhengHei"/>
              </a:rPr>
              <a:t>我們整合了四大框架：ISO 42001 提供管理體系、OWASP Top 10 指出最新威脅、MITRE ATLAS 建構威脅模型、AIEC 衡量 AI 品質。</a:t>
            </a:r>
          </a:p>
          <a:p>
            <a:endParaRPr sz="1400">
              <a:latin typeface="Microsoft JhengHei"/>
            </a:endParaRPr>
          </a:p>
          <a:p>
            <a:r>
              <a:rPr sz="1400">
                <a:latin typeface="Microsoft JhengHei"/>
              </a:rPr>
              <a:t>這四大框架不是獨立附加的，而是深度融入七大核心組成的每一個元件中。接下來逐一說明。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400">
                <a:latin typeface="Microsoft JhengHei"/>
              </a:rPr>
              <a:t>這頁展示 Part III 的全局架構——九大維度。</a:t>
            </a:r>
          </a:p>
          <a:p>
            <a:endParaRPr sz="1400">
              <a:latin typeface="Microsoft JhengHei"/>
            </a:endParaRPr>
          </a:p>
          <a:p>
            <a:r>
              <a:rPr sz="1400">
                <a:latin typeface="Microsoft JhengHei"/>
              </a:rPr>
              <a:t>在原有七大核心組成之上，我們新增了兩個橫切維度：</a:t>
            </a:r>
          </a:p>
          <a:p>
            <a:endParaRPr sz="1400">
              <a:latin typeface="Microsoft JhengHei"/>
            </a:endParaRPr>
          </a:p>
          <a:p>
            <a:r>
              <a:rPr sz="1400">
                <a:latin typeface="Microsoft JhengHei"/>
              </a:rPr>
              <a:t>第 8 維度（頂層）：合規治理層——涵蓋 ISO 42001 AIMS 管理體系、OWASP Top 10 for LLM 安全防禦、MITRE ATLAS 對抗威脅矩陣。</a:t>
            </a:r>
          </a:p>
          <a:p>
            <a:endParaRPr sz="1400">
              <a:latin typeface="Microsoft JhengHei"/>
            </a:endParaRPr>
          </a:p>
          <a:p>
            <a:r>
              <a:rPr sz="1400">
                <a:latin typeface="Microsoft JhengHei"/>
              </a:rPr>
              <a:t>第 9 維度（底層）：評測驗證層——涵蓋 AIEC 十大評測指標、內建 Benchmark Suite、Red Team 紅隊攻防演練。</a:t>
            </a:r>
          </a:p>
          <a:p>
            <a:endParaRPr sz="1400">
              <a:latin typeface="Microsoft JhengHei"/>
            </a:endParaRPr>
          </a:p>
          <a:p>
            <a:r>
              <a:rPr sz="1400">
                <a:latin typeface="Microsoft JhengHei"/>
              </a:rPr>
              <a:t>核心設計原則是：合規不是「附加層」，而是深度融入。每一個核心組件都內建安全保證。四大框架互補形成完整的防護網——ISO 管治理、OWASP 管威脅、ATLAS 管攻擊面、AIEC 管品質。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400">
                <a:latin typeface="Microsoft JhengHei"/>
              </a:rPr>
              <a:t>ISO 42001 AIMS 映射。</a:t>
            </a:r>
          </a:p>
          <a:p>
            <a:endParaRPr sz="1400">
              <a:latin typeface="Microsoft JhengHei"/>
            </a:endParaRPr>
          </a:p>
          <a:p>
            <a:r>
              <a:rPr sz="1400">
                <a:latin typeface="Microsoft JhengHei"/>
              </a:rPr>
              <a:t>ISO 42001 是全球第一個 AI 管理系統國際標準。我們將其十大條款逐一映射到 Harness 架構：</a:t>
            </a:r>
          </a:p>
          <a:p>
            <a:endParaRPr sz="1400">
              <a:latin typeface="Microsoft JhengHei"/>
            </a:endParaRPr>
          </a:p>
          <a:p>
            <a:r>
              <a:rPr sz="1400">
                <a:latin typeface="Microsoft JhengHei"/>
              </a:rPr>
              <a:t>Clause 4（組織環境）→ Compliance Layer</a:t>
            </a:r>
          </a:p>
          <a:p>
            <a:r>
              <a:rPr sz="1400">
                <a:latin typeface="Microsoft JhengHei"/>
              </a:rPr>
              <a:t>Clause 5（領導力）→ System Prompt 政策</a:t>
            </a:r>
          </a:p>
          <a:p>
            <a:r>
              <a:rPr sz="1400">
                <a:latin typeface="Microsoft JhengHei"/>
              </a:rPr>
              <a:t>Clause 6（規劃）→ Impact Assessment</a:t>
            </a:r>
          </a:p>
          <a:p>
            <a:r>
              <a:rPr sz="1400">
                <a:latin typeface="Microsoft JhengHei"/>
              </a:rPr>
              <a:t>Clause 7（支援）→ 行為軌跡歸檔</a:t>
            </a:r>
          </a:p>
          <a:p>
            <a:r>
              <a:rPr sz="1400">
                <a:latin typeface="Microsoft JhengHei"/>
              </a:rPr>
              <a:t>Clause 8（運作）→ 全生命週期管控</a:t>
            </a:r>
          </a:p>
          <a:p>
            <a:r>
              <a:rPr sz="1400">
                <a:latin typeface="Microsoft JhengHei"/>
              </a:rPr>
              <a:t>Clause 9（績效評估）→ 自動化審計報告</a:t>
            </a:r>
          </a:p>
          <a:p>
            <a:r>
              <a:rPr sz="1400">
                <a:latin typeface="Microsoft JhengHei"/>
              </a:rPr>
              <a:t>Clause 10（改善）→ 情節記憶自學習</a:t>
            </a:r>
          </a:p>
          <a:p>
            <a:endParaRPr sz="1400">
              <a:latin typeface="Microsoft JhengHei"/>
            </a:endParaRPr>
          </a:p>
          <a:p>
            <a:r>
              <a:rPr sz="1400">
                <a:latin typeface="Microsoft JhengHei"/>
              </a:rPr>
              <a:t>右側的 AI Impact Assessment Pipeline 是實際運作流程：任務接收 → 風險分級（依 EU AI Act 標準）→ 影響評估 → 緩解策略 → 人機審批 → 安全執行。高風險任務必須經過 Human-in-the-Loop 審批才能啟動 Agent Loop。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400">
                <a:latin typeface="Microsoft JhengHei"/>
              </a:rPr>
              <a:t>OWASP Top 10 for LLM (2025) 的十大風險防禦對照。</a:t>
            </a:r>
          </a:p>
          <a:p>
            <a:endParaRPr sz="1400">
              <a:latin typeface="Microsoft JhengHei"/>
            </a:endParaRPr>
          </a:p>
          <a:p>
            <a:r>
              <a:rPr sz="1400">
                <a:latin typeface="Microsoft JhengHei"/>
              </a:rPr>
              <a:t>我們按風險等級分三層：</a:t>
            </a:r>
          </a:p>
          <a:p>
            <a:endParaRPr sz="1400">
              <a:latin typeface="Microsoft JhengHei"/>
            </a:endParaRPr>
          </a:p>
          <a:p>
            <a:r>
              <a:rPr sz="1400">
                <a:latin typeface="Microsoft JhengHei"/>
              </a:rPr>
              <a:t>極高風險（Critical）三項需最高優先級：</a:t>
            </a:r>
          </a:p>
          <a:p>
            <a:r>
              <a:rPr sz="1400">
                <a:latin typeface="Microsoft JhengHei"/>
              </a:rPr>
              <a:t>LLM01 Prompt Injection——四層級聯防禦（規則 + 分類模型 + 語義異常 + 指令/數據隔離）。這是 AI Agent 面臨的頭號威脅。</a:t>
            </a:r>
          </a:p>
          <a:p>
            <a:r>
              <a:rPr sz="1400">
                <a:latin typeface="Microsoft JhengHei"/>
              </a:rPr>
              <a:t>LLM02 敏感資訊洩露——PII 掃描 + System Prompt 保護 + 事實核查。</a:t>
            </a:r>
          </a:p>
          <a:p>
            <a:r>
              <a:rPr sz="1400">
                <a:latin typeface="Microsoft JhengHei"/>
              </a:rPr>
              <a:t>LLM06 過度自主——最小權限 + 白名單 + 委派深度限制 3 層。</a:t>
            </a:r>
          </a:p>
          <a:p>
            <a:endParaRPr sz="1400">
              <a:latin typeface="Microsoft JhengHei"/>
            </a:endParaRPr>
          </a:p>
          <a:p>
            <a:r>
              <a:rPr sz="1400">
                <a:latin typeface="Microsoft JhengHei"/>
              </a:rPr>
              <a:t>高風險（High）四項需系統性防禦，涵蓋供應鏈安全、數據投毒、不當輸出處理、錯誤資訊。</a:t>
            </a:r>
          </a:p>
          <a:p>
            <a:endParaRPr sz="1400">
              <a:latin typeface="Microsoft JhengHei"/>
            </a:endParaRPr>
          </a:p>
          <a:p>
            <a:r>
              <a:rPr sz="1400">
                <a:latin typeface="Microsoft JhengHei"/>
              </a:rPr>
              <a:t>中風險（Medium）三項需基礎防護，涵蓋 System Prompt 洩露、向量庫弱點、無限制消耗。</a:t>
            </a:r>
          </a:p>
          <a:p>
            <a:endParaRPr sz="1400">
              <a:latin typeface="Microsoft JhengHei"/>
            </a:endParaRPr>
          </a:p>
          <a:p>
            <a:r>
              <a:rPr sz="1400">
                <a:latin typeface="Microsoft JhengHei"/>
              </a:rPr>
              <a:t>這十項每一項都對映到我們 L1~L5 的具體護欄實作。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400">
                <a:latin typeface="Microsoft JhengHei"/>
              </a:rPr>
              <a:t>MITRE ATLAS 威脅建模管線。</a:t>
            </a:r>
          </a:p>
          <a:p>
            <a:endParaRPr sz="1400">
              <a:latin typeface="Microsoft JhengHei"/>
            </a:endParaRPr>
          </a:p>
          <a:p>
            <a:r>
              <a:rPr sz="1400">
                <a:latin typeface="Microsoft JhengHei"/>
              </a:rPr>
              <a:t>ATLAS 是 MITRE 針對 AI 系統的攻擊戰術與技術知識庫，涵蓋 16 大攻擊戰術和 170 多種攻擊技術。</a:t>
            </a:r>
          </a:p>
          <a:p>
            <a:endParaRPr sz="1400">
              <a:latin typeface="Microsoft JhengHei"/>
            </a:endParaRPr>
          </a:p>
          <a:p>
            <a:r>
              <a:rPr sz="1400">
                <a:latin typeface="Microsoft JhengHei"/>
              </a:rPr>
              <a:t>我們從六大攻擊階段設計防禦映射：偵察、初始存取、執行、持久化、防禦規避、資料外洩，每個階段都有對應的 Harness 防護措施。</a:t>
            </a:r>
          </a:p>
          <a:p>
            <a:endParaRPr sz="1400">
              <a:latin typeface="Microsoft JhengHei"/>
            </a:endParaRPr>
          </a:p>
          <a:p>
            <a:r>
              <a:rPr sz="1400">
                <a:latin typeface="Microsoft JhengHei"/>
              </a:rPr>
              <a:t>更重要的是 AI Threat Modeling Pipeline：</a:t>
            </a:r>
          </a:p>
          <a:p>
            <a:r>
              <a:rPr sz="1400">
                <a:latin typeface="Microsoft JhengHei"/>
              </a:rPr>
              <a:t>① 輸入資訊（任務 + 工具 + 數據來源）</a:t>
            </a:r>
          </a:p>
          <a:p>
            <a:r>
              <a:rPr sz="1400">
                <a:latin typeface="Microsoft JhengHei"/>
              </a:rPr>
              <a:t>② 攻擊面映射（基於 ATLAS）</a:t>
            </a:r>
          </a:p>
          <a:p>
            <a:r>
              <a:rPr sz="1400">
                <a:latin typeface="Microsoft JhengHei"/>
              </a:rPr>
              <a:t>③ 威脅排序（資產價值 × 攻擊可能性）</a:t>
            </a:r>
          </a:p>
          <a:p>
            <a:r>
              <a:rPr sz="1400">
                <a:latin typeface="Microsoft JhengHei"/>
              </a:rPr>
              <a:t>④ 控制建議（自動推薦安全控制）</a:t>
            </a:r>
          </a:p>
          <a:p>
            <a:r>
              <a:rPr sz="1400">
                <a:latin typeface="Microsoft JhengHei"/>
              </a:rPr>
              <a:t>⑤ 防禦配置（動態調整 Guardrails）</a:t>
            </a:r>
          </a:p>
          <a:p>
            <a:endParaRPr sz="1400">
              <a:latin typeface="Microsoft JhengHei"/>
            </a:endParaRPr>
          </a:p>
          <a:p>
            <a:r>
              <a:rPr sz="1400">
                <a:latin typeface="Microsoft JhengHei"/>
              </a:rPr>
              <a:t>這套管線實現了「根據任務風險動態調整安全等級」的自適應防禦。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400">
                <a:latin typeface="Microsoft JhengHei"/>
              </a:rPr>
              <a:t>AIEC AI 評測——Evaluation Engine 三層架構。</a:t>
            </a:r>
          </a:p>
          <a:p>
            <a:endParaRPr sz="1400">
              <a:latin typeface="Microsoft JhengHei"/>
            </a:endParaRPr>
          </a:p>
          <a:p>
            <a:r>
              <a:rPr sz="1400">
                <a:latin typeface="Microsoft JhengHei"/>
              </a:rPr>
              <a:t>AIEC 是台灣本土的 AI 評測指標體系，涵蓋十大維度：準確性、安全性、可解釋性、韌性、公平性、隱私保護、資訊安全、可靠性、透明度、以及臺灣在地化（繁中語境 + 本土法規）。</a:t>
            </a:r>
          </a:p>
          <a:p>
            <a:endParaRPr sz="1400">
              <a:latin typeface="Microsoft JhengHei"/>
            </a:endParaRPr>
          </a:p>
          <a:p>
            <a:r>
              <a:rPr sz="1400">
                <a:latin typeface="Microsoft JhengHei"/>
              </a:rPr>
              <a:t>Evaluation Engine 分三層：</a:t>
            </a:r>
          </a:p>
          <a:p>
            <a:r>
              <a:rPr sz="1400">
                <a:latin typeface="Microsoft JhengHei"/>
              </a:rPr>
              <a:t>Tier 1 基準測試集（Benchmark Suite）——整合 AIEC 題庫、OWASP 攻擊測試、ATLAS 紅隊場景。</a:t>
            </a:r>
          </a:p>
          <a:p>
            <a:r>
              <a:rPr sz="1400">
                <a:latin typeface="Microsoft JhengHei"/>
              </a:rPr>
              <a:t>Tier 2 測試執行引擎（Test Runner）——支援批次測試、A/B 對比、回歸測試、壓力測試。</a:t>
            </a:r>
          </a:p>
          <a:p>
            <a:r>
              <a:rPr sz="1400">
                <a:latin typeface="Microsoft JhengHei"/>
              </a:rPr>
              <a:t>Tier 3 評測成績單（Scorecard Generator）——產出十大維度雷達圖、合規覆蓋率報告、威脅防禦熱力圖、ISO 符合度自評報告。</a:t>
            </a:r>
          </a:p>
          <a:p>
            <a:endParaRPr sz="1400">
              <a:latin typeface="Microsoft JhengHei"/>
            </a:endParaRPr>
          </a:p>
          <a:p>
            <a:r>
              <a:rPr sz="1400">
                <a:latin typeface="Microsoft JhengHei"/>
              </a:rPr>
              <a:t>最後一項「臺灣在地化」特別重要——許多國際框架缺乏繁體中文語境的測試資料，AIEC 補足了這個缺口。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400">
                <a:latin typeface="Microsoft JhengHei"/>
              </a:rPr>
              <a:t>需求彙總——四大框架與七大組件的完整交叉矩陣。</a:t>
            </a:r>
          </a:p>
          <a:p>
            <a:endParaRPr sz="1400">
              <a:latin typeface="Microsoft JhengHei"/>
            </a:endParaRPr>
          </a:p>
          <a:p>
            <a:r>
              <a:rPr sz="1400">
                <a:latin typeface="Microsoft JhengHei"/>
              </a:rPr>
              <a:t>這頁是整個 Part III 的精華濃縮。每一個核心組件（Agent Loop、LLM Interface、Tool System、Memory &amp; State、Guardrails、Observability）都有來自四大框架的具體擴展需求。</a:t>
            </a:r>
          </a:p>
          <a:p>
            <a:endParaRPr sz="1400">
              <a:latin typeface="Microsoft JhengHei"/>
            </a:endParaRPr>
          </a:p>
          <a:p>
            <a:r>
              <a:rPr sz="1400">
                <a:latin typeface="Microsoft JhengHei"/>
              </a:rPr>
              <a:t>例如 Guardrails 這一行：</a:t>
            </a:r>
          </a:p>
          <a:p>
            <a:r>
              <a:rPr sz="1400">
                <a:latin typeface="Microsoft JhengHei"/>
              </a:rPr>
              <a:t>ISO 42001 要求政策嵌入 System Prompt、</a:t>
            </a:r>
          </a:p>
          <a:p>
            <a:r>
              <a:rPr sz="1400">
                <a:latin typeface="Microsoft JhengHei"/>
              </a:rPr>
              <a:t>OWASP 要求十大風險全覆蓋、</a:t>
            </a:r>
          </a:p>
          <a:p>
            <a:r>
              <a:rPr sz="1400">
                <a:latin typeface="Microsoft JhengHei"/>
              </a:rPr>
              <a:t>ATLAS 要求多層攻擊偵測加紅隊測試、</a:t>
            </a:r>
          </a:p>
          <a:p>
            <a:r>
              <a:rPr sz="1400">
                <a:latin typeface="Microsoft JhengHei"/>
              </a:rPr>
              <a:t>AIEC 要求韌性和安全性對抗測試。</a:t>
            </a:r>
          </a:p>
          <a:p>
            <a:endParaRPr sz="1400">
              <a:latin typeface="Microsoft JhengHei"/>
            </a:endParaRPr>
          </a:p>
          <a:p>
            <a:r>
              <a:rPr sz="1400">
                <a:latin typeface="Microsoft JhengHei"/>
              </a:rPr>
              <a:t>這張矩陣確保了沒有任何盲區——每個組件都從四個維度被驗證和強化。這就是「模型分層、資料分級、單一閘道、強制護欄」四大原則在合規層面的完整實現。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400">
                <a:latin typeface="Microsoft JhengHei"/>
              </a:rPr>
              <a:t>現在進入最後的「合」——實施路線圖與總結。</a:t>
            </a:r>
          </a:p>
          <a:p>
            <a:endParaRPr sz="1400">
              <a:latin typeface="Microsoft JhengHei"/>
            </a:endParaRPr>
          </a:p>
          <a:p>
            <a:r>
              <a:rPr sz="1400">
                <a:latin typeface="Microsoft JhengHei"/>
              </a:rPr>
              <a:t>前面三個階段，我們回答了 Why（為什麼需要 Harness）、What（七大核心組成是什麼）、How（怎麼在工程和合規層面實現）。</a:t>
            </a:r>
          </a:p>
          <a:p>
            <a:endParaRPr sz="1400">
              <a:latin typeface="Microsoft JhengHei"/>
            </a:endParaRPr>
          </a:p>
          <a:p>
            <a:r>
              <a:rPr sz="1400">
                <a:latin typeface="Microsoft JhengHei"/>
              </a:rPr>
              <a:t>最後要回答的是 When——什麼時候做、分幾個階段做。</a:t>
            </a:r>
          </a:p>
          <a:p>
            <a:endParaRPr sz="1400">
              <a:latin typeface="Microsoft JhengHei"/>
            </a:endParaRPr>
          </a:p>
          <a:p>
            <a:r>
              <a:rPr sz="1400">
                <a:latin typeface="Microsoft JhengHei"/>
              </a:rPr>
              <a:t>我們設計了四階段漸進式導入策略，確保每個階段都有明確的交付物和驗收標準。同時也列出開放決策問題供各位討論。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400">
                <a:latin typeface="Microsoft JhengHei"/>
              </a:rPr>
              <a:t>四階段實施路線圖。</a:t>
            </a:r>
          </a:p>
          <a:p>
            <a:endParaRPr sz="1400">
              <a:latin typeface="Microsoft JhengHei"/>
            </a:endParaRPr>
          </a:p>
          <a:p>
            <a:r>
              <a:rPr sz="1400">
                <a:latin typeface="Microsoft JhengHei"/>
              </a:rPr>
              <a:t>Phase 1（第 1-2 月）基礎合規框架：</a:t>
            </a:r>
          </a:p>
          <a:p>
            <a:r>
              <a:rPr sz="1400">
                <a:latin typeface="Microsoft JhengHei"/>
              </a:rPr>
              <a:t>重點是 ISO 42001 AI 政策文件化與角色權責矩陣、OWASP Top 10 Guardrails 五層防禦全覆蓋、AIEC 基礎評測跑分。這是地基，必須先打穩。</a:t>
            </a:r>
          </a:p>
          <a:p>
            <a:endParaRPr sz="1400">
              <a:latin typeface="Microsoft JhengHei"/>
            </a:endParaRPr>
          </a:p>
          <a:p>
            <a:r>
              <a:rPr sz="1400">
                <a:latin typeface="Microsoft JhengHei"/>
              </a:rPr>
              <a:t>Phase 2（第 3-4 月）威脅防禦深化：</a:t>
            </a:r>
          </a:p>
          <a:p>
            <a:r>
              <a:rPr sz="1400">
                <a:latin typeface="Microsoft JhengHei"/>
              </a:rPr>
              <a:t>上線 MITRE ATLAS 威脅建模管線、部署 Prompt Injection 四層級聯防禦引擎、部署輸出清洗管線。這階段著重「主動防禦」。</a:t>
            </a:r>
          </a:p>
          <a:p>
            <a:endParaRPr sz="1400">
              <a:latin typeface="Microsoft JhengHei"/>
            </a:endParaRPr>
          </a:p>
          <a:p>
            <a:r>
              <a:rPr sz="1400">
                <a:latin typeface="Microsoft JhengHei"/>
              </a:rPr>
              <a:t>Phase 3（第 5-6 月）評測體系建立：</a:t>
            </a:r>
          </a:p>
          <a:p>
            <a:r>
              <a:rPr sz="1400">
                <a:latin typeface="Microsoft JhengHei"/>
              </a:rPr>
              <a:t>完整實作 Evaluation Engine（Benchmark Suite + Test Runner + Scorecard）、AIEC 十大指標自動化評測與雷達圖成績單生成、A/B 模型對比測試與回歸測試自動化。這階段建立「量化驗證」能力。</a:t>
            </a:r>
          </a:p>
          <a:p>
            <a:endParaRPr sz="1400">
              <a:latin typeface="Microsoft JhengHei"/>
            </a:endParaRPr>
          </a:p>
          <a:p>
            <a:r>
              <a:rPr sz="1400">
                <a:latin typeface="Microsoft JhengHei"/>
              </a:rPr>
              <a:t>Phase 4（第 7 月起）紅隊與持續改善：</a:t>
            </a:r>
          </a:p>
          <a:p>
            <a:r>
              <a:rPr sz="1400">
                <a:latin typeface="Microsoft JhengHei"/>
              </a:rPr>
              <a:t>Red Team 每季全攻擊面掃描、持續監控告警與異常行為斷路器、ISO 42001 年度內稽準備。這是「永續運營」階段。</a:t>
            </a:r>
          </a:p>
          <a:p>
            <a:endParaRPr sz="1400">
              <a:latin typeface="Microsoft JhengHei"/>
            </a:endParaRPr>
          </a:p>
          <a:p>
            <a:r>
              <a:rPr sz="1400">
                <a:latin typeface="Microsoft JhengHei"/>
              </a:rPr>
              <a:t>每個 Phase 都有清晰的里程碑，且後一個 Phase 以前一個為基礎，確保漸進式導入不會中斷現有業務。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400">
                <a:latin typeface="Microsoft JhengHei"/>
              </a:rPr>
              <a:t>感謝各位的耐心聆聽。</a:t>
            </a:r>
          </a:p>
          <a:p>
            <a:endParaRPr sz="1400">
              <a:latin typeface="Microsoft JhengHei"/>
            </a:endParaRPr>
          </a:p>
          <a:p>
            <a:r>
              <a:rPr sz="1400">
                <a:latin typeface="Microsoft JhengHei"/>
              </a:rPr>
              <a:t>總結今天的核心訊息：AI Agent Harness 不是一個可選的附加功能，而是企業部署自主 AI Agent 的必要基礎設施。</a:t>
            </a:r>
          </a:p>
          <a:p>
            <a:endParaRPr sz="1400">
              <a:latin typeface="Microsoft JhengHei"/>
            </a:endParaRPr>
          </a:p>
          <a:p>
            <a:r>
              <a:rPr sz="1400">
                <a:latin typeface="Microsoft JhengHei"/>
              </a:rPr>
              <a:t>我們以「模型分層、資料分級、單一閘道、強制護欄」四大原則貫穿全文，從七大核心組成的工程架構，到四大國際框架的合規治理，再到四階段實施路線圖，提供了一份完整的企業級 AI Agent 運行時規格需求。</a:t>
            </a:r>
          </a:p>
          <a:p>
            <a:endParaRPr sz="1400">
              <a:latin typeface="Microsoft JhengHei"/>
            </a:endParaRPr>
          </a:p>
          <a:p>
            <a:r>
              <a:rPr sz="1400">
                <a:latin typeface="Microsoft JhengHei"/>
              </a:rPr>
              <a:t>下一步，我們期待各位的回饋，特別是在開放決策問題上的指引，以便我們進入實際的概念驗證(PoC)階段。</a:t>
            </a:r>
          </a:p>
          <a:p>
            <a:endParaRPr sz="1400">
              <a:latin typeface="Microsoft JhengHei"/>
            </a:endParaRPr>
          </a:p>
          <a:p>
            <a:r>
              <a:rPr sz="1400">
                <a:latin typeface="Microsoft JhengHei"/>
              </a:rPr>
              <a:t>謝謝。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400">
                <a:latin typeface="Microsoft JhengHei"/>
              </a:rPr>
              <a:t>附錄：紅隊演練詳細規劃。</a:t>
            </a:r>
          </a:p>
          <a:p>
            <a:endParaRPr sz="1400">
              <a:latin typeface="Microsoft JhengHei"/>
            </a:endParaRPr>
          </a:p>
          <a:p>
            <a:r>
              <a:rPr sz="1400">
                <a:latin typeface="Microsoft JhengHei"/>
              </a:rPr>
              <a:t>本頁為紅隊攻防演練的補充資料，詳細說明紅隊測試的範疇、頻率與報告格式。可視需要在 Q&amp;A 環節展開討論。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400">
                <a:latin typeface="Microsoft JhengHei"/>
              </a:rPr>
              <a:t>（備用頁面，無額外內容）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371600" y="1188720"/>
            <a:ext cx="3108960" cy="402336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企業級 AI 運行時規格需求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783080"/>
            <a:ext cx="94457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Microsoft JhengHei"/>
              </a:defRPr>
            </a:pPr>
            <a:r>
              <a:rPr sz="4800" b="1">
                <a:solidFill>
                  <a:srgbClr val="FFFFFF"/>
                </a:solidFill>
                <a:latin typeface="Microsoft JhengHei"/>
              </a:rPr>
              <a:t>AI Agent Harness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71800"/>
            <a:ext cx="94457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0">
                <a:solidFill>
                  <a:srgbClr val="93C5FD"/>
                </a:solidFill>
                <a:latin typeface="Microsoft JhengHei"/>
              </a:defRPr>
            </a:pPr>
            <a:r>
              <a:rPr sz="2200" b="0">
                <a:solidFill>
                  <a:srgbClr val="93C5FD"/>
                </a:solidFill>
                <a:latin typeface="Microsoft JhengHei"/>
              </a:rPr>
              <a:t>企業級 AI 代理運行時基礎框架需求規格書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886200"/>
            <a:ext cx="9445752" cy="685800"/>
          </a:xfrm>
          <a:prstGeom prst="roundRect">
            <a:avLst/>
          </a:prstGeom>
          <a:solidFill>
            <a:srgbClr val="132247"/>
          </a:solidFill>
          <a:ln w="1270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54480" y="3977639"/>
            <a:ext cx="907999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50" b="1">
                <a:solidFill>
                  <a:srgbClr val="BFDBFE"/>
                </a:solidFill>
                <a:latin typeface="Microsoft JhengHei"/>
              </a:defRPr>
            </a:pPr>
            <a:r>
              <a:rPr sz="1550" b="1">
                <a:solidFill>
                  <a:srgbClr val="BFDBFE"/>
                </a:solidFill>
                <a:latin typeface="Microsoft JhengHei"/>
              </a:rPr>
              <a:t>七大核心組成 · 深度工程規劃 · 合規安全框架 · AI 評測驗證體系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303520"/>
            <a:ext cx="94457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  <a:latin typeface="Microsoft JhengHei"/>
              </a:defRPr>
            </a:pPr>
            <a:r>
              <a:rPr sz="1400">
                <a:solidFill>
                  <a:srgbClr val="6B7280"/>
                </a:solidFill>
                <a:latin typeface="Microsoft JhengHei"/>
              </a:rPr>
              <a:t>2026 年 9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1234440" cy="365760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目錄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292608"/>
            <a:ext cx="9692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  <a:latin typeface="Microsoft JhengHei"/>
              </a:defRPr>
            </a:pPr>
            <a:r>
              <a:rPr sz="2600" b="1">
                <a:solidFill>
                  <a:srgbClr val="1B2A4A"/>
                </a:solidFill>
                <a:latin typeface="Microsoft JhengHei"/>
              </a:rPr>
              <a:t>簡報大綱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E7C86"/>
                </a:solidFill>
                <a:latin typeface="Microsoft JhengHei"/>
              </a:defRPr>
            </a:pPr>
            <a:r>
              <a:rPr sz="1400" b="0">
                <a:solidFill>
                  <a:srgbClr val="0E7C86"/>
                </a:solidFill>
                <a:latin typeface="Microsoft JhengHei"/>
              </a:rPr>
              <a:t>架構思維：起承轉合 × Why-What-How 深度解析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82512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E7C86"/>
                </a:solidFill>
                <a:latin typeface="Microsoft JhengHei"/>
              </a:defRPr>
            </a:pPr>
            <a:r>
              <a:rPr sz="1100" b="1">
                <a:solidFill>
                  <a:srgbClr val="0E7C86"/>
                </a:solidFill>
                <a:latin typeface="Microsoft JhengHe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11091672" cy="877824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545336"/>
            <a:ext cx="1143000" cy="420624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起 (Why)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1435607"/>
            <a:ext cx="9372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B2A4A"/>
                </a:solidFill>
                <a:latin typeface="Microsoft JhengHei"/>
              </a:defRPr>
            </a:pPr>
            <a:r>
              <a:rPr sz="1700" b="1">
                <a:solidFill>
                  <a:srgbClr val="1B2A4A"/>
                </a:solidFill>
                <a:latin typeface="Microsoft JhengHei"/>
              </a:rPr>
              <a:t>為什麼需要 AI Agent Harness？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1764792"/>
            <a:ext cx="9372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A4A63"/>
                </a:solidFill>
                <a:latin typeface="Microsoft JhengHei"/>
              </a:defRPr>
            </a:pPr>
            <a:r>
              <a:rPr sz="1400">
                <a:solidFill>
                  <a:srgbClr val="3A4A63"/>
                </a:solidFill>
                <a:latin typeface="Microsoft JhengHei"/>
              </a:rPr>
              <a:t>• LLM 單次問答 vs. Agent 自主迭代的本質差異 · Harness 定義與核心價值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295144"/>
            <a:ext cx="11091672" cy="877824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31520" y="2514600"/>
            <a:ext cx="1143000" cy="420624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承 (What)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2404872"/>
            <a:ext cx="9372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B2A4A"/>
                </a:solidFill>
                <a:latin typeface="Microsoft JhengHei"/>
              </a:defRPr>
            </a:pPr>
            <a:r>
              <a:rPr sz="1700" b="1">
                <a:solidFill>
                  <a:srgbClr val="1B2A4A"/>
                </a:solidFill>
                <a:latin typeface="Microsoft JhengHei"/>
              </a:rPr>
              <a:t>Part I：七大核心組成概覽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2734056"/>
            <a:ext cx="9372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A4A63"/>
                </a:solidFill>
                <a:latin typeface="Microsoft JhengHei"/>
              </a:defRPr>
            </a:pPr>
            <a:r>
              <a:rPr sz="1400">
                <a:solidFill>
                  <a:srgbClr val="3A4A63"/>
                </a:solidFill>
                <a:latin typeface="Microsoft JhengHei"/>
              </a:rPr>
              <a:t>• Agent Loop · LLM Interface · Tool System · Memory · Orchestration · Guardrails · Observability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64408"/>
            <a:ext cx="11091672" cy="877824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31520" y="3483863"/>
            <a:ext cx="1143000" cy="420624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轉 (How-1)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3374136"/>
            <a:ext cx="9372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B2A4A"/>
                </a:solidFill>
                <a:latin typeface="Microsoft JhengHei"/>
              </a:defRPr>
            </a:pPr>
            <a:r>
              <a:rPr sz="1700" b="1">
                <a:solidFill>
                  <a:srgbClr val="1B2A4A"/>
                </a:solidFill>
                <a:latin typeface="Microsoft JhengHei"/>
              </a:rPr>
              <a:t>Part II：七大核心組成深度規劃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3703320"/>
            <a:ext cx="9372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A4A63"/>
                </a:solidFill>
                <a:latin typeface="Microsoft JhengHei"/>
              </a:defRPr>
            </a:pPr>
            <a:r>
              <a:rPr sz="1400">
                <a:solidFill>
                  <a:srgbClr val="3A4A63"/>
                </a:solidFill>
                <a:latin typeface="Microsoft JhengHei"/>
              </a:rPr>
              <a:t>• 每個核心組件的子模組拆解、介面契約、設計決策與失敗緩解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233672"/>
            <a:ext cx="11091672" cy="877824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31520" y="4453128"/>
            <a:ext cx="1143000" cy="420624"/>
          </a:xfrm>
          <a:prstGeom prst="roundRect">
            <a:avLst/>
          </a:prstGeom>
          <a:solidFill>
            <a:srgbClr val="B33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轉 (How-2)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4343400"/>
            <a:ext cx="9372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B2A4A"/>
                </a:solidFill>
                <a:latin typeface="Microsoft JhengHei"/>
              </a:defRPr>
            </a:pPr>
            <a:r>
              <a:rPr sz="1700" b="1">
                <a:solidFill>
                  <a:srgbClr val="1B2A4A"/>
                </a:solidFill>
                <a:latin typeface="Microsoft JhengHei"/>
              </a:rPr>
              <a:t>Part III：合規安全框架與 AI 評測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4672583"/>
            <a:ext cx="9372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A4A63"/>
                </a:solidFill>
                <a:latin typeface="Microsoft JhengHei"/>
              </a:defRPr>
            </a:pPr>
            <a:r>
              <a:rPr sz="1400">
                <a:solidFill>
                  <a:srgbClr val="3A4A63"/>
                </a:solidFill>
                <a:latin typeface="Microsoft JhengHei"/>
              </a:rPr>
              <a:t>• ISO 42001 AIMS · OWASP Top 10 LLM · MITRE ATLAS · AIEC AI 評測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202936"/>
            <a:ext cx="11091672" cy="877824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31520" y="5422392"/>
            <a:ext cx="1143000" cy="420624"/>
          </a:xfrm>
          <a:prstGeom prst="roundRect">
            <a:avLst/>
          </a:prstGeom>
          <a:solidFill>
            <a:srgbClr val="C889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合 (Plan)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312664"/>
            <a:ext cx="9372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B2A4A"/>
                </a:solidFill>
                <a:latin typeface="Microsoft JhengHei"/>
              </a:defRPr>
            </a:pPr>
            <a:r>
              <a:rPr sz="1700" b="1">
                <a:solidFill>
                  <a:srgbClr val="1B2A4A"/>
                </a:solidFill>
                <a:latin typeface="Microsoft JhengHei"/>
              </a:rPr>
              <a:t>實施路線圖與總結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5641848"/>
            <a:ext cx="9372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A4A63"/>
                </a:solidFill>
                <a:latin typeface="Microsoft JhengHei"/>
              </a:defRPr>
            </a:pPr>
            <a:r>
              <a:rPr sz="1400">
                <a:solidFill>
                  <a:srgbClr val="3A4A63"/>
                </a:solidFill>
                <a:latin typeface="Microsoft JhengHei"/>
              </a:rPr>
              <a:t>• 四階段導入路線圖 · 開放決策問題 · 未來展望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14400" y="1783080"/>
            <a:ext cx="2194560" cy="438912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</a:rPr>
              <a:t>起 — 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231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Microsoft JhengHei"/>
              </a:defRPr>
            </a:pPr>
            <a:r>
              <a:rPr sz="3400" b="1">
                <a:solidFill>
                  <a:srgbClr val="FFFFFF"/>
                </a:solidFill>
                <a:latin typeface="Microsoft JhengHei"/>
              </a:rPr>
              <a:t>為什麼需要 AI Agent Harness？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BFDBFE"/>
                </a:solidFill>
                <a:latin typeface="Microsoft JhengHei"/>
              </a:defRPr>
            </a:pPr>
            <a:r>
              <a:rPr sz="1600" b="0">
                <a:solidFill>
                  <a:srgbClr val="BFDBFE"/>
                </a:solidFill>
                <a:latin typeface="Microsoft JhengHei"/>
              </a:rPr>
              <a:t>從單次問答工具到自主行動代理的關鍵躍遷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297680"/>
            <a:ext cx="3200400" cy="36576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55680" y="6382512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E7C86"/>
                </a:solidFill>
                <a:latin typeface="Microsoft JhengHei"/>
              </a:defRPr>
            </a:pPr>
            <a:r>
              <a:rPr sz="1100" b="1">
                <a:solidFill>
                  <a:srgbClr val="0E7C86"/>
                </a:solidFill>
                <a:latin typeface="Microsoft Jheng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1234440" cy="365760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對比分析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292608"/>
            <a:ext cx="9692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  <a:latin typeface="Microsoft JhengHei"/>
              </a:defRPr>
            </a:pPr>
            <a:r>
              <a:rPr sz="2600" b="1">
                <a:solidFill>
                  <a:srgbClr val="1B2A4A"/>
                </a:solidFill>
                <a:latin typeface="Microsoft JhengHei"/>
              </a:rPr>
              <a:t>傳統 LLM 應用 vs. Agentic AI Harness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E7C86"/>
                </a:solidFill>
                <a:latin typeface="Microsoft JhengHei"/>
              </a:defRPr>
            </a:pPr>
            <a:r>
              <a:rPr sz="1400" b="0">
                <a:solidFill>
                  <a:srgbClr val="0E7C86"/>
                </a:solidFill>
                <a:latin typeface="Microsoft JhengHei"/>
              </a:rPr>
              <a:t>從靜態語言模型躍遷至具備自主行動與狀態演化的企業級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82512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E7C86"/>
                </a:solidFill>
                <a:latin typeface="Microsoft JhengHei"/>
              </a:defRPr>
            </a:pPr>
            <a:r>
              <a:rPr sz="1100" b="1">
                <a:solidFill>
                  <a:srgbClr val="0E7C86"/>
                </a:solidFill>
                <a:latin typeface="Microsoft JhengHe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349240" cy="4937760"/>
          </a:xfrm>
          <a:prstGeom prst="roundRect">
            <a:avLst/>
          </a:prstGeom>
          <a:solidFill>
            <a:srgbClr val="FDF3F2"/>
          </a:solidFill>
          <a:ln w="15240">
            <a:solidFill>
              <a:srgbClr val="E5A8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77240" y="1444752"/>
            <a:ext cx="2560320" cy="384048"/>
          </a:xfrm>
          <a:prstGeom prst="roundRect">
            <a:avLst/>
          </a:prstGeom>
          <a:solidFill>
            <a:srgbClr val="B33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</a:rPr>
              <a:t>傳統 LLM 應用的侷限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93392"/>
            <a:ext cx="48920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3A4A63"/>
                </a:solidFill>
                <a:latin typeface="Microsoft JhengHei"/>
              </a:defRPr>
            </a:pPr>
            <a:r>
              <a:rPr sz="1500">
                <a:solidFill>
                  <a:srgbClr val="3A4A63"/>
                </a:solidFill>
                <a:latin typeface="Microsoft JhengHei"/>
              </a:rPr>
              <a:t>• 單次問答 (One-shot)：無法持續推理與迭代</a:t>
            </a:r>
          </a:p>
          <a:p>
            <a:pPr>
              <a:spcAft>
                <a:spcPts val="700"/>
              </a:spcAft>
              <a:defRPr sz="1500">
                <a:solidFill>
                  <a:srgbClr val="3A4A63"/>
                </a:solidFill>
                <a:latin typeface="Microsoft JhengHei"/>
              </a:defRPr>
            </a:pPr>
            <a:r>
              <a:rPr sz="1500">
                <a:solidFill>
                  <a:srgbClr val="3A4A63"/>
                </a:solidFill>
                <a:latin typeface="Microsoft JhengHei"/>
              </a:rPr>
              <a:t>• 無工具調用能力：只能「說」不能「做」</a:t>
            </a:r>
          </a:p>
          <a:p>
            <a:pPr>
              <a:spcAft>
                <a:spcPts val="700"/>
              </a:spcAft>
              <a:defRPr sz="1500">
                <a:solidFill>
                  <a:srgbClr val="3A4A63"/>
                </a:solidFill>
                <a:latin typeface="Microsoft JhengHei"/>
              </a:defRPr>
            </a:pPr>
            <a:r>
              <a:rPr sz="1500">
                <a:solidFill>
                  <a:srgbClr val="3A4A63"/>
                </a:solidFill>
                <a:latin typeface="Microsoft JhengHei"/>
              </a:rPr>
              <a:t>• 無記憶體系：每次對話從零開始</a:t>
            </a:r>
          </a:p>
          <a:p>
            <a:pPr>
              <a:spcAft>
                <a:spcPts val="700"/>
              </a:spcAft>
              <a:defRPr sz="1500">
                <a:solidFill>
                  <a:srgbClr val="3A4A63"/>
                </a:solidFill>
                <a:latin typeface="Microsoft JhengHei"/>
              </a:defRPr>
            </a:pPr>
            <a:r>
              <a:rPr sz="1500">
                <a:solidFill>
                  <a:srgbClr val="3A4A63"/>
                </a:solidFill>
                <a:latin typeface="Microsoft JhengHei"/>
              </a:rPr>
              <a:t>• 無安全護欄：缺乏輸入/輸出合規防護</a:t>
            </a:r>
          </a:p>
          <a:p>
            <a:pPr>
              <a:spcAft>
                <a:spcPts val="700"/>
              </a:spcAft>
              <a:defRPr sz="1500">
                <a:solidFill>
                  <a:srgbClr val="3A4A63"/>
                </a:solidFill>
                <a:latin typeface="Microsoft JhengHei"/>
              </a:defRPr>
            </a:pPr>
            <a:r>
              <a:rPr sz="1500">
                <a:solidFill>
                  <a:srgbClr val="3A4A63"/>
                </a:solidFill>
                <a:latin typeface="Microsoft JhengHei"/>
              </a:rPr>
              <a:t>• 無可觀測性：黑盒執行無法除錯追蹤</a:t>
            </a:r>
          </a:p>
          <a:p>
            <a:pPr>
              <a:spcAft>
                <a:spcPts val="700"/>
              </a:spcAft>
              <a:defRPr sz="1500">
                <a:solidFill>
                  <a:srgbClr val="3A4A63"/>
                </a:solidFill>
                <a:latin typeface="Microsoft JhengHei"/>
              </a:defRPr>
            </a:pPr>
            <a:r>
              <a:rPr sz="1500">
                <a:solidFill>
                  <a:srgbClr val="3A4A63"/>
                </a:solidFill>
                <a:latin typeface="Microsoft JhengHei"/>
              </a:rPr>
              <a:t>• 無編排規劃：無法分解多步驟複雜任務</a:t>
            </a:r>
          </a:p>
          <a:p>
            <a:pPr>
              <a:spcAft>
                <a:spcPts val="700"/>
              </a:spcAft>
              <a:defRPr sz="1500">
                <a:solidFill>
                  <a:srgbClr val="3A4A63"/>
                </a:solidFill>
                <a:latin typeface="Microsoft JhengHei"/>
              </a:defRPr>
            </a:pPr>
            <a:r>
              <a:rPr sz="1500">
                <a:solidFill>
                  <a:srgbClr val="3A4A63"/>
                </a:solidFill>
                <a:latin typeface="Microsoft JhengHei"/>
              </a:rPr>
              <a:t>• 無成本管控：Token 消耗不可控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280160"/>
            <a:ext cx="5349240" cy="4937760"/>
          </a:xfrm>
          <a:prstGeom prst="roundRect">
            <a:avLst/>
          </a:prstGeom>
          <a:solidFill>
            <a:srgbClr val="EDF8F9"/>
          </a:solidFill>
          <a:ln w="15240">
            <a:solidFill>
              <a:srgbClr val="8FD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92240" y="1444752"/>
            <a:ext cx="2926080" cy="384048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</a:rPr>
              <a:t>AI Agent Harness 賦予的能力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93392"/>
            <a:ext cx="48920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3A4A63"/>
                </a:solidFill>
                <a:latin typeface="Microsoft JhengHei"/>
              </a:defRPr>
            </a:pPr>
            <a:r>
              <a:rPr sz="1500">
                <a:solidFill>
                  <a:srgbClr val="3A4A63"/>
                </a:solidFill>
                <a:latin typeface="Microsoft JhengHei"/>
              </a:rPr>
              <a:t>• 自主迭代循環 (Agent Loop)：Observe→Think→Act</a:t>
            </a:r>
          </a:p>
          <a:p>
            <a:pPr>
              <a:spcAft>
                <a:spcPts val="700"/>
              </a:spcAft>
              <a:defRPr sz="1500">
                <a:solidFill>
                  <a:srgbClr val="3A4A63"/>
                </a:solidFill>
                <a:latin typeface="Microsoft JhengHei"/>
              </a:defRPr>
            </a:pPr>
            <a:r>
              <a:rPr sz="1500">
                <a:solidFill>
                  <a:srgbClr val="3A4A63"/>
                </a:solidFill>
                <a:latin typeface="Microsoft JhengHei"/>
              </a:rPr>
              <a:t>• 工具系統：API 調用、程式碼執行、檔案操作</a:t>
            </a:r>
          </a:p>
          <a:p>
            <a:pPr>
              <a:spcAft>
                <a:spcPts val="700"/>
              </a:spcAft>
              <a:defRPr sz="1500">
                <a:solidFill>
                  <a:srgbClr val="3A4A63"/>
                </a:solidFill>
                <a:latin typeface="Microsoft JhengHei"/>
              </a:defRPr>
            </a:pPr>
            <a:r>
              <a:rPr sz="1500">
                <a:solidFill>
                  <a:srgbClr val="3A4A63"/>
                </a:solidFill>
                <a:latin typeface="Microsoft JhengHei"/>
              </a:rPr>
              <a:t>• 四層記憶體系：工作/短期/長期/情節記憶</a:t>
            </a:r>
          </a:p>
          <a:p>
            <a:pPr>
              <a:spcAft>
                <a:spcPts val="700"/>
              </a:spcAft>
              <a:defRPr sz="1500">
                <a:solidFill>
                  <a:srgbClr val="3A4A63"/>
                </a:solidFill>
                <a:latin typeface="Microsoft JhengHei"/>
              </a:defRPr>
            </a:pPr>
            <a:r>
              <a:rPr sz="1500">
                <a:solidFill>
                  <a:srgbClr val="3A4A63"/>
                </a:solidFill>
                <a:latin typeface="Microsoft JhengHei"/>
              </a:rPr>
              <a:t>• 五層縱深防禦護欄：全流程安全保障</a:t>
            </a:r>
          </a:p>
          <a:p>
            <a:pPr>
              <a:spcAft>
                <a:spcPts val="700"/>
              </a:spcAft>
              <a:defRPr sz="1500">
                <a:solidFill>
                  <a:srgbClr val="3A4A63"/>
                </a:solidFill>
                <a:latin typeface="Microsoft JhengHei"/>
              </a:defRPr>
            </a:pPr>
            <a:r>
              <a:rPr sz="1500">
                <a:solidFill>
                  <a:srgbClr val="3A4A63"/>
                </a:solidFill>
                <a:latin typeface="Microsoft JhengHei"/>
              </a:rPr>
              <a:t>• 全鏈路可觀測性：追蹤、日誌、指標、回放</a:t>
            </a:r>
          </a:p>
          <a:p>
            <a:pPr>
              <a:spcAft>
                <a:spcPts val="700"/>
              </a:spcAft>
              <a:defRPr sz="1500">
                <a:solidFill>
                  <a:srgbClr val="3A4A63"/>
                </a:solidFill>
                <a:latin typeface="Microsoft JhengHei"/>
              </a:defRPr>
            </a:pPr>
            <a:r>
              <a:rPr sz="1500">
                <a:solidFill>
                  <a:srgbClr val="3A4A63"/>
                </a:solidFill>
                <a:latin typeface="Microsoft JhengHei"/>
              </a:rPr>
              <a:t>• DAG 任務拆解與多代理協同編排</a:t>
            </a:r>
          </a:p>
          <a:p>
            <a:pPr>
              <a:spcAft>
                <a:spcPts val="700"/>
              </a:spcAft>
              <a:defRPr sz="1500">
                <a:solidFill>
                  <a:srgbClr val="3A4A63"/>
                </a:solidFill>
                <a:latin typeface="Microsoft JhengHei"/>
              </a:defRPr>
            </a:pPr>
            <a:r>
              <a:rPr sz="1500">
                <a:solidFill>
                  <a:srgbClr val="3A4A63"/>
                </a:solidFill>
                <a:latin typeface="Microsoft JhengHei"/>
              </a:rPr>
              <a:t>• Token 預算與 API 費用即時熔斷機制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14400" y="1783080"/>
            <a:ext cx="2194560" cy="438912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</a:rPr>
              <a:t>承 — WHAT · Part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231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Microsoft JhengHei"/>
              </a:defRPr>
            </a:pPr>
            <a:r>
              <a:rPr sz="3400" b="1">
                <a:solidFill>
                  <a:srgbClr val="FFFFFF"/>
                </a:solidFill>
                <a:latin typeface="Microsoft JhengHei"/>
              </a:rPr>
              <a:t>七大核心組成概覽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BFDBFE"/>
                </a:solidFill>
                <a:latin typeface="Microsoft JhengHei"/>
              </a:defRPr>
            </a:pPr>
            <a:r>
              <a:rPr sz="1600" b="0">
                <a:solidFill>
                  <a:srgbClr val="BFDBFE"/>
                </a:solidFill>
                <a:latin typeface="Microsoft JhengHei"/>
              </a:rPr>
              <a:t>Agent Loop · LLM Interface · Tool System · Memory · Orchestration · Guardrails · Observability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297680"/>
            <a:ext cx="3200400" cy="36576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55680" y="6382512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E7C86"/>
                </a:solidFill>
                <a:latin typeface="Microsoft JhengHei"/>
              </a:defRPr>
            </a:pPr>
            <a:r>
              <a:rPr sz="1100" b="1">
                <a:solidFill>
                  <a:srgbClr val="0E7C86"/>
                </a:solidFill>
                <a:latin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1234440" cy="365760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核心架構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292608"/>
            <a:ext cx="9692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  <a:latin typeface="Microsoft JhengHei"/>
              </a:defRPr>
            </a:pPr>
            <a:r>
              <a:rPr sz="2600" b="1">
                <a:solidFill>
                  <a:srgbClr val="1B2A4A"/>
                </a:solidFill>
                <a:latin typeface="Microsoft JhengHei"/>
              </a:rPr>
              <a:t>七大核心組成：缺一不可的協同架構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E7C86"/>
                </a:solidFill>
                <a:latin typeface="Microsoft JhengHei"/>
              </a:defRPr>
            </a:pPr>
            <a:r>
              <a:rPr sz="1400" b="0">
                <a:solidFill>
                  <a:srgbClr val="0E7C86"/>
                </a:solidFill>
                <a:latin typeface="Microsoft JhengHei"/>
              </a:rPr>
              <a:t>賦予 LLM 自主性、安全性、持久性與工程化落地的七大關鍵骨架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82512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E7C86"/>
                </a:solidFill>
                <a:latin typeface="Microsoft JhengHei"/>
              </a:defRPr>
            </a:pPr>
            <a:r>
              <a:rPr sz="1100" b="1">
                <a:solidFill>
                  <a:srgbClr val="0E7C86"/>
                </a:solidFill>
                <a:latin typeface="Microsoft JhengHei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11091672" cy="676656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85800" y="1380744"/>
            <a:ext cx="384048" cy="384048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307592"/>
            <a:ext cx="10287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B2A4A"/>
                </a:solidFill>
                <a:latin typeface="Microsoft JhengHei"/>
              </a:defRPr>
            </a:pPr>
            <a:r>
              <a:rPr sz="1500" b="1">
                <a:solidFill>
                  <a:srgbClr val="1B2A4A"/>
                </a:solidFill>
                <a:latin typeface="Microsoft JhengHei"/>
              </a:rPr>
              <a:t>Agent Loop（代理循環）— 心臟中樞</a:t>
            </a:r>
          </a:p>
          <a:p>
            <a:pPr>
              <a:defRPr sz="1400">
                <a:solidFill>
                  <a:srgbClr val="3A4A63"/>
                </a:solidFill>
                <a:latin typeface="Microsoft JhengHei"/>
              </a:defRPr>
            </a:pPr>
            <a:r>
              <a:rPr sz="1400">
                <a:solidFill>
                  <a:srgbClr val="3A4A63"/>
                </a:solidFill>
                <a:latin typeface="Microsoft JhengHei"/>
              </a:rPr>
              <a:t>• 驅動「Observe → Think → Act → Terminate」自主迭代迴圈；無自主迴圈僅為單次問答工具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56816"/>
            <a:ext cx="11091672" cy="676656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85800" y="2103120"/>
            <a:ext cx="384048" cy="384048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029968"/>
            <a:ext cx="10287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B2A4A"/>
                </a:solidFill>
                <a:latin typeface="Microsoft JhengHei"/>
              </a:defRPr>
            </a:pPr>
            <a:r>
              <a:rPr sz="1500" b="1">
                <a:solidFill>
                  <a:srgbClr val="1B2A4A"/>
                </a:solidFill>
                <a:latin typeface="Microsoft JhengHei"/>
              </a:rPr>
              <a:t>LLM Interface（模型介面層）— 認知大腦</a:t>
            </a:r>
          </a:p>
          <a:p>
            <a:pPr>
              <a:defRPr sz="1400">
                <a:solidFill>
                  <a:srgbClr val="3A4A63"/>
                </a:solidFill>
                <a:latin typeface="Microsoft JhengHei"/>
              </a:defRPr>
            </a:pPr>
            <a:r>
              <a:rPr sz="1400">
                <a:solidFill>
                  <a:srgbClr val="3A4A63"/>
                </a:solidFill>
                <a:latin typeface="Microsoft JhengHei"/>
              </a:rPr>
              <a:t>• 統一適配 OpenAI/Gemini/Claude；模型智慧路由 · Prompt 動態組裝 · 結構化輸出 · Token 管控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679192"/>
            <a:ext cx="11091672" cy="676656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85800" y="2825496"/>
            <a:ext cx="384048" cy="384048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752344"/>
            <a:ext cx="10287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B2A4A"/>
                </a:solidFill>
                <a:latin typeface="Microsoft JhengHei"/>
              </a:defRPr>
            </a:pPr>
            <a:r>
              <a:rPr sz="1500" b="1">
                <a:solidFill>
                  <a:srgbClr val="1B2A4A"/>
                </a:solidFill>
                <a:latin typeface="Microsoft JhengHei"/>
              </a:rPr>
              <a:t>Tool System（工具系統）— 行動手腳</a:t>
            </a:r>
          </a:p>
          <a:p>
            <a:pPr>
              <a:defRPr sz="1400">
                <a:solidFill>
                  <a:srgbClr val="3A4A63"/>
                </a:solidFill>
                <a:latin typeface="Microsoft JhengHei"/>
              </a:defRPr>
            </a:pPr>
            <a:r>
              <a:rPr sz="1400">
                <a:solidFill>
                  <a:srgbClr val="3A4A63"/>
                </a:solidFill>
                <a:latin typeface="Microsoft JhengHei"/>
              </a:rPr>
              <a:t>• 從「能說」到「能做」：API 調用、資料庫讀寫、程式碼執行；註冊發現 · Schema 協議 · 三級沙箱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401568"/>
            <a:ext cx="11091672" cy="676656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85800" y="3547872"/>
            <a:ext cx="384048" cy="384048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474720"/>
            <a:ext cx="10287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B2A4A"/>
                </a:solidFill>
                <a:latin typeface="Microsoft JhengHei"/>
              </a:defRPr>
            </a:pPr>
            <a:r>
              <a:rPr sz="1500" b="1">
                <a:solidFill>
                  <a:srgbClr val="1B2A4A"/>
                </a:solidFill>
                <a:latin typeface="Microsoft JhengHei"/>
              </a:rPr>
              <a:t>Memory &amp; State（記憶與狀態）— 持久記憶</a:t>
            </a:r>
          </a:p>
          <a:p>
            <a:pPr>
              <a:defRPr sz="1400">
                <a:solidFill>
                  <a:srgbClr val="3A4A63"/>
                </a:solidFill>
                <a:latin typeface="Microsoft JhengHei"/>
              </a:defRPr>
            </a:pPr>
            <a:r>
              <a:rPr sz="1400">
                <a:solidFill>
                  <a:srgbClr val="3A4A63"/>
                </a:solidFill>
                <a:latin typeface="Microsoft JhengHei"/>
              </a:rPr>
              <a:t>• 多層記憶體系確保長鏈任務 (Long-Horizon Tasks) 上下文不崩潰；Working/Short/Long/Episodic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123944"/>
            <a:ext cx="11091672" cy="676656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4270248"/>
            <a:ext cx="384048" cy="384048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197096"/>
            <a:ext cx="10287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B2A4A"/>
                </a:solidFill>
                <a:latin typeface="Microsoft JhengHei"/>
              </a:defRPr>
            </a:pPr>
            <a:r>
              <a:rPr sz="1500" b="1">
                <a:solidFill>
                  <a:srgbClr val="1B2A4A"/>
                </a:solidFill>
                <a:latin typeface="Microsoft JhengHei"/>
              </a:rPr>
              <a:t>Orchestration &amp; Planning（編排規劃）</a:t>
            </a:r>
          </a:p>
          <a:p>
            <a:pPr>
              <a:defRPr sz="1400">
                <a:solidFill>
                  <a:srgbClr val="3A4A63"/>
                </a:solidFill>
                <a:latin typeface="Microsoft JhengHei"/>
              </a:defRPr>
            </a:pPr>
            <a:r>
              <a:rPr sz="1400">
                <a:solidFill>
                  <a:srgbClr val="3A4A63"/>
                </a:solidFill>
                <a:latin typeface="Microsoft JhengHei"/>
              </a:rPr>
              <a:t>• DAG 任務拆解引擎 + 多階段動態重規劃 + 主從多代理協同調度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846320"/>
            <a:ext cx="11091672" cy="676656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85800" y="4992624"/>
            <a:ext cx="384048" cy="384048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919472"/>
            <a:ext cx="10287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B2A4A"/>
                </a:solidFill>
                <a:latin typeface="Microsoft JhengHei"/>
              </a:defRPr>
            </a:pPr>
            <a:r>
              <a:rPr sz="1500" b="1">
                <a:solidFill>
                  <a:srgbClr val="1B2A4A"/>
                </a:solidFill>
                <a:latin typeface="Microsoft JhengHei"/>
              </a:rPr>
              <a:t>Guardrails（護欄防禦）</a:t>
            </a:r>
          </a:p>
          <a:p>
            <a:pPr>
              <a:defRPr sz="1400">
                <a:solidFill>
                  <a:srgbClr val="3A4A63"/>
                </a:solidFill>
                <a:latin typeface="Microsoft JhengHei"/>
              </a:defRPr>
            </a:pPr>
            <a:r>
              <a:rPr sz="1400">
                <a:solidFill>
                  <a:srgbClr val="3A4A63"/>
                </a:solidFill>
                <a:latin typeface="Microsoft JhengHei"/>
              </a:rPr>
              <a:t>• L1 輸入層 ~ L5 全局迴圈護欄之五層縱深防禦，保障自主運行安全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568696"/>
            <a:ext cx="11091672" cy="676656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85800" y="5715000"/>
            <a:ext cx="384048" cy="384048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641848"/>
            <a:ext cx="10287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B2A4A"/>
                </a:solidFill>
                <a:latin typeface="Microsoft JhengHei"/>
              </a:defRPr>
            </a:pPr>
            <a:r>
              <a:rPr sz="1500" b="1">
                <a:solidFill>
                  <a:srgbClr val="1B2A4A"/>
                </a:solidFill>
                <a:latin typeface="Microsoft JhengHei"/>
              </a:rPr>
              <a:t>Observability（可觀測性）</a:t>
            </a:r>
          </a:p>
          <a:p>
            <a:pPr>
              <a:defRPr sz="1400">
                <a:solidFill>
                  <a:srgbClr val="3A4A63"/>
                </a:solidFill>
                <a:latin typeface="Microsoft JhengHei"/>
              </a:defRPr>
            </a:pPr>
            <a:r>
              <a:rPr sz="1400">
                <a:solidFill>
                  <a:srgbClr val="3A4A63"/>
                </a:solidFill>
                <a:latin typeface="Microsoft JhengHei"/>
              </a:rPr>
              <a:t>• 全鏈路追蹤 (Tracing) · 六級結構化日誌 · 核心指標度量 · 逐步回放除錯與成本熔斷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1234440" cy="365760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Part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292608"/>
            <a:ext cx="9692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  <a:latin typeface="Microsoft JhengHei"/>
              </a:defRPr>
            </a:pPr>
            <a:r>
              <a:rPr sz="2600" b="1">
                <a:solidFill>
                  <a:srgbClr val="1B2A4A"/>
                </a:solidFill>
                <a:latin typeface="Microsoft JhengHei"/>
              </a:rPr>
              <a:t>任務規劃與多代理協同架構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E7C86"/>
                </a:solidFill>
                <a:latin typeface="Microsoft JhengHei"/>
              </a:defRPr>
            </a:pPr>
            <a:r>
              <a:rPr sz="1400" b="0">
                <a:solidFill>
                  <a:srgbClr val="0E7C86"/>
                </a:solidFill>
                <a:latin typeface="Microsoft JhengHei"/>
              </a:rPr>
              <a:t>Part I · 第 5 章 Orchestration &amp; Planning · DAG 拆解與多代理協同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82512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E7C86"/>
                </a:solidFill>
                <a:latin typeface="Microsoft JhengHei"/>
              </a:defRPr>
            </a:pPr>
            <a:r>
              <a:rPr sz="1100" b="1">
                <a:solidFill>
                  <a:srgbClr val="0E7C86"/>
                </a:solidFill>
                <a:latin typeface="Microsoft JhengHei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3566160" cy="49834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353312"/>
            <a:ext cx="3291840" cy="4736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550" b="1">
                <a:solidFill>
                  <a:srgbClr val="1B2A4A"/>
                </a:solidFill>
                <a:latin typeface="Microsoft JhengHei"/>
              </a:defRPr>
            </a:pPr>
            <a:r>
              <a:rPr sz="1550" b="1">
                <a:solidFill>
                  <a:srgbClr val="1B2A4A"/>
                </a:solidFill>
                <a:latin typeface="Microsoft JhengHei"/>
              </a:rPr>
              <a:t>■ 五大階段標準化流程：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1. 用戶任務請求：接收自然語言指令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2. 規劃器與任務拆解：構建 DAG 序列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3. 三大並行執行節點：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   • 工具調用 (Tool Invocation)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   • 子代理派發 (Sub-Agent Dispatch)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   • 模型深度推理 (LLM Reasoning)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4. 結果聚合與品質驗證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5. 最終交付高品質解答予用戶</a:t>
            </a:r>
          </a:p>
          <a:p>
            <a:pPr>
              <a:spcAft>
                <a:spcPts val="200"/>
              </a:spcAft>
              <a:defRPr>
                <a:latin typeface="Microsoft JhengHei"/>
              </a:defRPr>
            </a:pPr>
            <a:endParaRPr sz="1400" b="0">
              <a:solidFill>
                <a:srgbClr val="3A4A63"/>
              </a:solidFill>
              <a:latin typeface="Microsoft JhengHei"/>
            </a:endParaRPr>
          </a:p>
          <a:p>
            <a:pPr>
              <a:spcBef>
                <a:spcPts val="600"/>
              </a:spcBef>
              <a:spcAft>
                <a:spcPts val="400"/>
              </a:spcAft>
              <a:defRPr sz="1550" b="1">
                <a:solidFill>
                  <a:srgbClr val="1B2A4A"/>
                </a:solidFill>
                <a:latin typeface="Microsoft JhengHei"/>
              </a:defRPr>
            </a:pPr>
            <a:r>
              <a:rPr sz="1550" b="1">
                <a:solidFill>
                  <a:srgbClr val="1B2A4A"/>
                </a:solidFill>
                <a:latin typeface="Microsoft JhengHei"/>
              </a:rPr>
              <a:t>■ 設計要點：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• 無依賴子任務並行執行加速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• 子任務失敗自動觸發動態重規劃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• 跨代理結構化通訊與狀態回傳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234440"/>
            <a:ext cx="7479792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ig1_infographic_z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536" y="1684729"/>
            <a:ext cx="7315200" cy="408290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1234440" cy="365760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Part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292608"/>
            <a:ext cx="9692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  <a:latin typeface="Microsoft JhengHei"/>
              </a:defRPr>
            </a:pPr>
            <a:r>
              <a:rPr sz="2600" b="1">
                <a:solidFill>
                  <a:srgbClr val="1B2A4A"/>
                </a:solidFill>
                <a:latin typeface="Microsoft JhengHei"/>
              </a:rPr>
              <a:t>AI Agent Harness 全局架構協同關係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E7C86"/>
                </a:solidFill>
                <a:latin typeface="Microsoft JhengHei"/>
              </a:defRPr>
            </a:pPr>
            <a:r>
              <a:rPr sz="1400" b="0">
                <a:solidFill>
                  <a:srgbClr val="0E7C86"/>
                </a:solidFill>
                <a:latin typeface="Microsoft JhengHei"/>
              </a:rPr>
              <a:t>Part I · 第 8 章 總結 · 核心中樞、四大支柱、兩翼防禦與底層設施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82512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E7C86"/>
                </a:solidFill>
                <a:latin typeface="Microsoft JhengHei"/>
              </a:defRPr>
            </a:pPr>
            <a:r>
              <a:rPr sz="1100" b="1">
                <a:solidFill>
                  <a:srgbClr val="0E7C86"/>
                </a:solidFill>
                <a:latin typeface="Microsoft JhengHei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3566160" cy="49834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353312"/>
            <a:ext cx="3291840" cy="4736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550" b="1">
                <a:solidFill>
                  <a:srgbClr val="1B2A4A"/>
                </a:solidFill>
                <a:latin typeface="Microsoft JhengHei"/>
              </a:defRPr>
            </a:pPr>
            <a:r>
              <a:rPr sz="1550" b="1">
                <a:solidFill>
                  <a:srgbClr val="1B2A4A"/>
                </a:solidFill>
                <a:latin typeface="Microsoft JhengHei"/>
              </a:rPr>
              <a:t>■ 核心中樞：Agent Loop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Observe→Think→Act 莫比烏斯無限迴圈</a:t>
            </a:r>
          </a:p>
          <a:p>
            <a:pPr>
              <a:spcAft>
                <a:spcPts val="200"/>
              </a:spcAft>
              <a:defRPr>
                <a:latin typeface="Microsoft JhengHei"/>
              </a:defRPr>
            </a:pPr>
            <a:endParaRPr sz="1400" b="0">
              <a:solidFill>
                <a:srgbClr val="3A4A63"/>
              </a:solidFill>
              <a:latin typeface="Microsoft JhengHei"/>
            </a:endParaRPr>
          </a:p>
          <a:p>
            <a:pPr>
              <a:spcBef>
                <a:spcPts val="600"/>
              </a:spcBef>
              <a:spcAft>
                <a:spcPts val="400"/>
              </a:spcAft>
              <a:defRPr sz="1550" b="1">
                <a:solidFill>
                  <a:srgbClr val="1B2A4A"/>
                </a:solidFill>
                <a:latin typeface="Microsoft JhengHei"/>
              </a:defRPr>
            </a:pPr>
            <a:r>
              <a:rPr sz="1550" b="1">
                <a:solidFill>
                  <a:srgbClr val="1B2A4A"/>
                </a:solidFill>
                <a:latin typeface="Microsoft JhengHei"/>
              </a:rPr>
              <a:t>■ 四大支柱環繞核心：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• 模型介面 — 智慧路由與 Prompt 組裝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• 工具系統 — 工具註冊、調用與安全沙箱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• 記憶與狀態 — 四層階層化記憶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• 編排與規劃 — DAG 任務拆解與調度</a:t>
            </a:r>
          </a:p>
          <a:p>
            <a:pPr>
              <a:spcAft>
                <a:spcPts val="200"/>
              </a:spcAft>
              <a:defRPr>
                <a:latin typeface="Microsoft JhengHei"/>
              </a:defRPr>
            </a:pPr>
            <a:endParaRPr sz="1400" b="0">
              <a:solidFill>
                <a:srgbClr val="3A4A63"/>
              </a:solidFill>
              <a:latin typeface="Microsoft JhengHei"/>
            </a:endParaRPr>
          </a:p>
          <a:p>
            <a:pPr>
              <a:spcBef>
                <a:spcPts val="600"/>
              </a:spcBef>
              <a:spcAft>
                <a:spcPts val="400"/>
              </a:spcAft>
              <a:defRPr sz="1550" b="1">
                <a:solidFill>
                  <a:srgbClr val="1B2A4A"/>
                </a:solidFill>
                <a:latin typeface="Microsoft JhengHei"/>
              </a:defRPr>
            </a:pPr>
            <a:r>
              <a:rPr sz="1550" b="1">
                <a:solidFill>
                  <a:srgbClr val="1B2A4A"/>
                </a:solidFill>
                <a:latin typeface="Microsoft JhengHei"/>
              </a:rPr>
              <a:t>■ 兩翼安全與監控：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• 安全護欄 — L1~L5 縱深防禦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• 可觀測性 — 全鏈路追蹤 / 日誌 / 指標</a:t>
            </a:r>
          </a:p>
          <a:p>
            <a:pPr>
              <a:spcAft>
                <a:spcPts val="200"/>
              </a:spcAft>
              <a:defRPr>
                <a:latin typeface="Microsoft JhengHei"/>
              </a:defRPr>
            </a:pPr>
            <a:endParaRPr sz="1400" b="0">
              <a:solidFill>
                <a:srgbClr val="3A4A63"/>
              </a:solidFill>
              <a:latin typeface="Microsoft JhengHei"/>
            </a:endParaRPr>
          </a:p>
          <a:p>
            <a:pPr>
              <a:spcBef>
                <a:spcPts val="600"/>
              </a:spcBef>
              <a:spcAft>
                <a:spcPts val="400"/>
              </a:spcAft>
              <a:defRPr sz="1550" b="1">
                <a:solidFill>
                  <a:srgbClr val="1B2A4A"/>
                </a:solidFill>
                <a:latin typeface="Microsoft JhengHei"/>
              </a:defRPr>
            </a:pPr>
            <a:r>
              <a:rPr sz="1550" b="1">
                <a:solidFill>
                  <a:srgbClr val="1B2A4A"/>
                </a:solidFill>
                <a:latin typeface="Microsoft JhengHei"/>
              </a:rPr>
              <a:t>■ 底層基礎設施：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• 外部系統與工具 (API / OS / DB)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• 持久化資料庫儲存 (向量庫 / 圖譜)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234440"/>
            <a:ext cx="7479792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ig2_infographic_z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536" y="1684729"/>
            <a:ext cx="7315200" cy="408290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14400" y="1783080"/>
            <a:ext cx="2194560" cy="438912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</a:rPr>
              <a:t>轉 — HOW · Part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231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Microsoft JhengHei"/>
              </a:defRPr>
            </a:pPr>
            <a:r>
              <a:rPr sz="3400" b="1">
                <a:solidFill>
                  <a:srgbClr val="FFFFFF"/>
                </a:solidFill>
                <a:latin typeface="Microsoft JhengHei"/>
              </a:rPr>
              <a:t>七大核心組成深度規劃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BFDBFE"/>
                </a:solidFill>
                <a:latin typeface="Microsoft JhengHei"/>
              </a:defRPr>
            </a:pPr>
            <a:r>
              <a:rPr sz="1600" b="0">
                <a:solidFill>
                  <a:srgbClr val="BFDBFE"/>
                </a:solidFill>
                <a:latin typeface="Microsoft JhengHei"/>
              </a:rPr>
              <a:t>子模組拆解 · 介面契約 · 設計決策 · 失敗模式緩解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297680"/>
            <a:ext cx="3200400" cy="36576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55680" y="6382512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E7C86"/>
                </a:solidFill>
                <a:latin typeface="Microsoft JhengHei"/>
              </a:defRPr>
            </a:pPr>
            <a:r>
              <a:rPr sz="1100" b="1">
                <a:solidFill>
                  <a:srgbClr val="0E7C86"/>
                </a:solidFill>
                <a:latin typeface="Microsoft Jheng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1234440" cy="365760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Part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292608"/>
            <a:ext cx="9692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  <a:latin typeface="Microsoft JhengHei"/>
              </a:defRPr>
            </a:pPr>
            <a:r>
              <a:rPr sz="2600" b="1">
                <a:solidFill>
                  <a:srgbClr val="1B2A4A"/>
                </a:solidFill>
                <a:latin typeface="Microsoft JhengHei"/>
              </a:rPr>
              <a:t>Agent Loop 深度規劃 — Observe 階段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E7C86"/>
                </a:solidFill>
                <a:latin typeface="Microsoft JhengHei"/>
              </a:defRPr>
            </a:pPr>
            <a:r>
              <a:rPr sz="1400" b="0">
                <a:solidFill>
                  <a:srgbClr val="0E7C86"/>
                </a:solidFill>
                <a:latin typeface="Microsoft JhengHei"/>
              </a:rPr>
              <a:t>Part II · 第 9 章 Agent Loop 四階段設計與多模態感知組裝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82512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E7C86"/>
                </a:solidFill>
                <a:latin typeface="Microsoft JhengHei"/>
              </a:defRPr>
            </a:pPr>
            <a:r>
              <a:rPr sz="1100" b="1">
                <a:solidFill>
                  <a:srgbClr val="0E7C86"/>
                </a:solidFill>
                <a:latin typeface="Microsoft JhengHe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3566160" cy="49834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353312"/>
            <a:ext cx="3291840" cy="4736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550" b="1">
                <a:solidFill>
                  <a:srgbClr val="1B2A4A"/>
                </a:solidFill>
                <a:latin typeface="Microsoft JhengHei"/>
              </a:defRPr>
            </a:pPr>
            <a:r>
              <a:rPr sz="1550" b="1">
                <a:solidFill>
                  <a:srgbClr val="1B2A4A"/>
                </a:solidFill>
                <a:latin typeface="Microsoft JhengHei"/>
              </a:rPr>
              <a:t>■ 四階段設計：Observe → Think → Act → Terminate</a:t>
            </a:r>
          </a:p>
          <a:p>
            <a:pPr>
              <a:spcAft>
                <a:spcPts val="200"/>
              </a:spcAft>
              <a:defRPr>
                <a:latin typeface="Microsoft JhengHei"/>
              </a:defRPr>
            </a:pPr>
            <a:endParaRPr sz="1550" b="1">
              <a:solidFill>
                <a:srgbClr val="1B2A4A"/>
              </a:solidFill>
              <a:latin typeface="Microsoft JhengHei"/>
            </a:endParaRPr>
          </a:p>
          <a:p>
            <a:pPr>
              <a:spcBef>
                <a:spcPts val="600"/>
              </a:spcBef>
              <a:spcAft>
                <a:spcPts val="400"/>
              </a:spcAft>
              <a:defRPr sz="1550" b="1">
                <a:solidFill>
                  <a:srgbClr val="1B2A4A"/>
                </a:solidFill>
                <a:latin typeface="Microsoft JhengHei"/>
              </a:defRPr>
            </a:pPr>
            <a:r>
              <a:rPr sz="1550" b="1">
                <a:solidFill>
                  <a:srgbClr val="1B2A4A"/>
                </a:solidFill>
                <a:latin typeface="Microsoft JhengHei"/>
              </a:rPr>
              <a:t>■ Observe 階段內部架構：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• 三大多模態輸入來源：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  ① 用戶輸入 (文字/語音/檔案)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  ② 工具回傳結果 (API 執行成果)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  ③ 系統事件 (定時器/子代理回報)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• 上下文組裝器 (Context Assembler)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• 記憶檢索器 (Memory Retriever)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• 輸出：結構化上下文物件</a:t>
            </a:r>
          </a:p>
          <a:p>
            <a:pPr>
              <a:spcAft>
                <a:spcPts val="200"/>
              </a:spcAft>
              <a:defRPr>
                <a:latin typeface="Microsoft JhengHei"/>
              </a:defRPr>
            </a:pPr>
            <a:endParaRPr sz="1400" b="0">
              <a:solidFill>
                <a:srgbClr val="3A4A63"/>
              </a:solidFill>
              <a:latin typeface="Microsoft JhengHei"/>
            </a:endParaRPr>
          </a:p>
          <a:p>
            <a:pPr>
              <a:spcBef>
                <a:spcPts val="600"/>
              </a:spcBef>
              <a:spcAft>
                <a:spcPts val="400"/>
              </a:spcAft>
              <a:defRPr sz="1550" b="1">
                <a:solidFill>
                  <a:srgbClr val="1B2A4A"/>
                </a:solidFill>
                <a:latin typeface="Microsoft JhengHei"/>
              </a:defRPr>
            </a:pPr>
            <a:r>
              <a:rPr sz="1550" b="1">
                <a:solidFill>
                  <a:srgbClr val="1B2A4A"/>
                </a:solidFill>
                <a:latin typeface="Microsoft JhengHei"/>
              </a:rPr>
              <a:t>■ 終止條件優先級（由高到低）：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1. 用戶中斷 &gt; 2. 致命錯誤 &gt; 3. 超時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4. 最大迭代 &gt; 5. 預算耗盡 &gt; 6. 目標達成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234440"/>
            <a:ext cx="7479792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ig3_infographi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536" y="1684729"/>
            <a:ext cx="7315200" cy="408290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1234440" cy="365760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Part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292608"/>
            <a:ext cx="9692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  <a:latin typeface="Microsoft JhengHei"/>
              </a:defRPr>
            </a:pPr>
            <a:r>
              <a:rPr sz="2600" b="1">
                <a:solidFill>
                  <a:srgbClr val="1B2A4A"/>
                </a:solidFill>
                <a:latin typeface="Microsoft JhengHei"/>
              </a:rPr>
              <a:t>LLM Interface 深度規劃 — Prompt 分層組裝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E7C86"/>
                </a:solidFill>
                <a:latin typeface="Microsoft JhengHei"/>
              </a:defRPr>
            </a:pPr>
            <a:r>
              <a:rPr sz="1400" b="0">
                <a:solidFill>
                  <a:srgbClr val="0E7C86"/>
                </a:solidFill>
                <a:latin typeface="Microsoft JhengHei"/>
              </a:rPr>
              <a:t>Part II · 第 10 章 LLM Interface 五大模組與 Token 預算分配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82512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E7C86"/>
                </a:solidFill>
                <a:latin typeface="Microsoft JhengHei"/>
              </a:defRPr>
            </a:pPr>
            <a:r>
              <a:rPr sz="1100" b="1">
                <a:solidFill>
                  <a:srgbClr val="0E7C86"/>
                </a:solidFill>
                <a:latin typeface="Microsoft JhengHei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3566160" cy="49834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353312"/>
            <a:ext cx="3291840" cy="4736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550" b="1">
                <a:solidFill>
                  <a:srgbClr val="1B2A4A"/>
                </a:solidFill>
                <a:latin typeface="Microsoft JhengHei"/>
              </a:defRPr>
            </a:pPr>
            <a:r>
              <a:rPr sz="1550" b="1">
                <a:solidFill>
                  <a:srgbClr val="1B2A4A"/>
                </a:solidFill>
                <a:latin typeface="Microsoft JhengHei"/>
              </a:rPr>
              <a:t>■ 五大模組架構：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• Provider Adapter — 多供應商統一抽象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• Model Router — 智慧模型路由分發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• Prompt Assembly — 六層 Prompt 組裝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• Output Parser — 結構化輸出解析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• Error Handler — 失敗模式緩解</a:t>
            </a:r>
          </a:p>
          <a:p>
            <a:pPr>
              <a:spcAft>
                <a:spcPts val="200"/>
              </a:spcAft>
              <a:defRPr>
                <a:latin typeface="Microsoft JhengHei"/>
              </a:defRPr>
            </a:pPr>
            <a:endParaRPr sz="1400" b="0">
              <a:solidFill>
                <a:srgbClr val="3A4A63"/>
              </a:solidFill>
              <a:latin typeface="Microsoft JhengHei"/>
            </a:endParaRPr>
          </a:p>
          <a:p>
            <a:pPr>
              <a:spcBef>
                <a:spcPts val="600"/>
              </a:spcBef>
              <a:spcAft>
                <a:spcPts val="400"/>
              </a:spcAft>
              <a:defRPr sz="1550" b="1">
                <a:solidFill>
                  <a:srgbClr val="1B2A4A"/>
                </a:solidFill>
                <a:latin typeface="Microsoft JhengHei"/>
              </a:defRPr>
            </a:pPr>
            <a:r>
              <a:rPr sz="1550" b="1">
                <a:solidFill>
                  <a:srgbClr val="1B2A4A"/>
                </a:solidFill>
                <a:latin typeface="Microsoft JhengHei"/>
              </a:rPr>
              <a:t>■ Prompt 六層組裝與 Token 預算分配：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第一層：系統身分 (固定預留)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第二層：工具定義 (高優先級)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第三層：檢索上下文 (依相關度填補)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第四層：對話歷史 (滑動窗口壓縮)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第五層：本次用戶輸入 (不壓縮)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第六層：推理思維鏈 (彈性填入)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234440"/>
            <a:ext cx="7479792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ig4_infographi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536" y="1684729"/>
            <a:ext cx="7315200" cy="408290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1234440" cy="365760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Part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292608"/>
            <a:ext cx="9692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  <a:latin typeface="Microsoft JhengHei"/>
              </a:defRPr>
            </a:pPr>
            <a:r>
              <a:rPr sz="2600" b="1">
                <a:solidFill>
                  <a:srgbClr val="1B2A4A"/>
                </a:solidFill>
                <a:latin typeface="Microsoft JhengHei"/>
              </a:rPr>
              <a:t>Tool System 深度規劃 — 8 步執行流水線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E7C86"/>
                </a:solidFill>
                <a:latin typeface="Microsoft JhengHei"/>
              </a:defRPr>
            </a:pPr>
            <a:r>
              <a:rPr sz="1400" b="0">
                <a:solidFill>
                  <a:srgbClr val="0E7C86"/>
                </a:solidFill>
                <a:latin typeface="Microsoft JhengHei"/>
              </a:rPr>
              <a:t>Part II · 第 11 章 Tool System 四大模組與安全沙箱隔離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82512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E7C86"/>
                </a:solidFill>
                <a:latin typeface="Microsoft JhengHei"/>
              </a:defRPr>
            </a:pPr>
            <a:r>
              <a:rPr sz="1100" b="1">
                <a:solidFill>
                  <a:srgbClr val="0E7C86"/>
                </a:solidFill>
                <a:latin typeface="Microsoft JhengHei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3566160" cy="49834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353312"/>
            <a:ext cx="3291840" cy="4736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550" b="1">
                <a:solidFill>
                  <a:srgbClr val="1B2A4A"/>
                </a:solidFill>
                <a:latin typeface="Microsoft JhengHei"/>
              </a:defRPr>
            </a:pPr>
            <a:r>
              <a:rPr sz="1550" b="1">
                <a:solidFill>
                  <a:srgbClr val="1B2A4A"/>
                </a:solidFill>
                <a:latin typeface="Microsoft JhengHei"/>
              </a:rPr>
              <a:t>■ 工具調用執行流水線 8 步驟：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① 模型函數調用 (Function Call)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② 參數嚴格校驗 (JSON Schema)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③ 權限安全檢查 (Permission Check)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④ 調用速率限制 (Rate Limiter)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⑤ 沙箱環境隔離 (Sandbox Wrapper)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⑥ 工具實際執行 (Execute Tool)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⑦ 結果處理過濾 (Result Processor)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⑧ 工具結果物件 (Tool Result Object)</a:t>
            </a:r>
          </a:p>
          <a:p>
            <a:pPr>
              <a:spcAft>
                <a:spcPts val="200"/>
              </a:spcAft>
              <a:defRPr>
                <a:latin typeface="Microsoft JhengHei"/>
              </a:defRPr>
            </a:pPr>
            <a:endParaRPr sz="1400" b="0">
              <a:solidFill>
                <a:srgbClr val="3A4A63"/>
              </a:solidFill>
              <a:latin typeface="Microsoft JhengHei"/>
            </a:endParaRPr>
          </a:p>
          <a:p>
            <a:pPr>
              <a:spcBef>
                <a:spcPts val="600"/>
              </a:spcBef>
              <a:spcAft>
                <a:spcPts val="400"/>
              </a:spcAft>
              <a:defRPr sz="1550" b="1">
                <a:solidFill>
                  <a:srgbClr val="1B2A4A"/>
                </a:solidFill>
                <a:latin typeface="Microsoft JhengHei"/>
              </a:defRPr>
            </a:pPr>
            <a:r>
              <a:rPr sz="1550" b="1">
                <a:solidFill>
                  <a:srgbClr val="1B2A4A"/>
                </a:solidFill>
                <a:latin typeface="Microsoft JhengHei"/>
              </a:rPr>
              <a:t>■ 三級權限安全隔離：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• Level 0 唯讀 — 自動執行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• Level 1 寫入 — 輕量沙箱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• Level 2 高危 — 人類審批 + 完全沙箱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234440"/>
            <a:ext cx="7479792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ig5_infographi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536" y="1684729"/>
            <a:ext cx="7315200" cy="408290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1234440" cy="365760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Part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292608"/>
            <a:ext cx="9692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  <a:latin typeface="Microsoft JhengHei"/>
              </a:defRPr>
            </a:pPr>
            <a:r>
              <a:rPr sz="2600" b="1">
                <a:solidFill>
                  <a:srgbClr val="1B2A4A"/>
                </a:solidFill>
                <a:latin typeface="Microsoft JhengHei"/>
              </a:rPr>
              <a:t>Memory &amp; State 深度規劃 — 四層記憶體系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E7C86"/>
                </a:solidFill>
                <a:latin typeface="Microsoft JhengHei"/>
              </a:defRPr>
            </a:pPr>
            <a:r>
              <a:rPr sz="1400" b="0">
                <a:solidFill>
                  <a:srgbClr val="0E7C86"/>
                </a:solidFill>
                <a:latin typeface="Microsoft JhengHei"/>
              </a:rPr>
              <a:t>Part II · 第 12 章 記憶與狀態管理 · 支援長鏈任務不崩潰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82512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E7C86"/>
                </a:solidFill>
                <a:latin typeface="Microsoft JhengHei"/>
              </a:defRPr>
            </a:pPr>
            <a:r>
              <a:rPr sz="1100" b="1">
                <a:solidFill>
                  <a:srgbClr val="0E7C86"/>
                </a:solidFill>
                <a:latin typeface="Microsoft JhengHei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3566160" cy="49834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353312"/>
            <a:ext cx="3291840" cy="4736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550" b="1">
                <a:solidFill>
                  <a:srgbClr val="1B2A4A"/>
                </a:solidFill>
                <a:latin typeface="Microsoft JhengHei"/>
              </a:defRPr>
            </a:pPr>
            <a:r>
              <a:rPr sz="1550" b="1">
                <a:solidFill>
                  <a:srgbClr val="1B2A4A"/>
                </a:solidFill>
                <a:latin typeface="Microsoft JhengHei"/>
              </a:rPr>
              <a:t>■ 四層階層化記憶架構：</a:t>
            </a:r>
          </a:p>
          <a:p>
            <a:pPr>
              <a:spcAft>
                <a:spcPts val="200"/>
              </a:spcAft>
              <a:defRPr>
                <a:latin typeface="Microsoft JhengHei"/>
              </a:defRPr>
            </a:pPr>
            <a:endParaRPr sz="1550" b="1">
              <a:solidFill>
                <a:srgbClr val="1B2A4A"/>
              </a:solidFill>
              <a:latin typeface="Microsoft JhengHei"/>
            </a:endParaRP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1. 工作記憶 (Working Memory)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   當前會話即時快取，滑動窗口管理</a:t>
            </a:r>
          </a:p>
          <a:p>
            <a:pPr>
              <a:spcAft>
                <a:spcPts val="200"/>
              </a:spcAft>
              <a:defRPr>
                <a:latin typeface="Microsoft JhengHei"/>
              </a:defRPr>
            </a:pPr>
            <a:endParaRPr sz="1400" b="0">
              <a:solidFill>
                <a:srgbClr val="3A4A63"/>
              </a:solidFill>
              <a:latin typeface="Microsoft JhengHei"/>
            </a:endParaRP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2. 短期記憶 (Short-term Memory)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   單一任務跨步驟狀態機 (Scratchpad)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   含目標、計畫、發現、決策、阻塞紀錄</a:t>
            </a:r>
          </a:p>
          <a:p>
            <a:pPr>
              <a:spcAft>
                <a:spcPts val="200"/>
              </a:spcAft>
              <a:defRPr>
                <a:latin typeface="Microsoft JhengHei"/>
              </a:defRPr>
            </a:pPr>
            <a:endParaRPr sz="1400" b="0">
              <a:solidFill>
                <a:srgbClr val="3A4A63"/>
              </a:solidFill>
              <a:latin typeface="Microsoft JhengHei"/>
            </a:endParaRP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3. 長期記憶 (Long-term Memory)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   跨會話持久化知識庫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   三大後端：向量庫 / 文件儲存 / 圖譜</a:t>
            </a:r>
          </a:p>
          <a:p>
            <a:pPr>
              <a:spcAft>
                <a:spcPts val="200"/>
              </a:spcAft>
              <a:defRPr>
                <a:latin typeface="Microsoft JhengHei"/>
              </a:defRPr>
            </a:pPr>
            <a:endParaRPr sz="1400" b="0">
              <a:solidFill>
                <a:srgbClr val="3A4A63"/>
              </a:solidFill>
              <a:latin typeface="Microsoft JhengHei"/>
            </a:endParaRP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4. 情節記憶 (Episodic Memory)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   歷史任務軌跡與經驗規則自學習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   成功/失敗模式歸納，反饋至 Guardrails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234440"/>
            <a:ext cx="7479792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ig6_infographi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536" y="1684729"/>
            <a:ext cx="7315200" cy="408290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1234440" cy="365760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Part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292608"/>
            <a:ext cx="9692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  <a:latin typeface="Microsoft JhengHei"/>
              </a:defRPr>
            </a:pPr>
            <a:r>
              <a:rPr sz="2600" b="1">
                <a:solidFill>
                  <a:srgbClr val="1B2A4A"/>
                </a:solidFill>
                <a:latin typeface="Microsoft JhengHei"/>
              </a:rPr>
              <a:t>Orchestration &amp; Planning 深度規劃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E7C86"/>
                </a:solidFill>
                <a:latin typeface="Microsoft JhengHei"/>
              </a:defRPr>
            </a:pPr>
            <a:r>
              <a:rPr sz="1400" b="0">
                <a:solidFill>
                  <a:srgbClr val="0E7C86"/>
                </a:solidFill>
                <a:latin typeface="Microsoft JhengHei"/>
              </a:rPr>
              <a:t>任務分解引擎、動態重規劃機制與多代理協同通訊協議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82512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E7C86"/>
                </a:solidFill>
                <a:latin typeface="Microsoft JhengHei"/>
              </a:defRPr>
            </a:pPr>
            <a:r>
              <a:rPr sz="1100" b="1">
                <a:solidFill>
                  <a:srgbClr val="0E7C86"/>
                </a:solidFill>
                <a:latin typeface="Microsoft JhengHei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11091672" cy="15544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77240" y="1399032"/>
            <a:ext cx="548640" cy="347472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344168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1B2A4A"/>
                </a:solidFill>
                <a:latin typeface="Microsoft JhengHei"/>
              </a:defRPr>
            </a:pPr>
            <a:r>
              <a:rPr sz="1650" b="1">
                <a:solidFill>
                  <a:srgbClr val="1B2A4A"/>
                </a:solidFill>
                <a:latin typeface="Microsoft JhengHei"/>
              </a:rPr>
              <a:t>13.1 Task Decomposition Engine（任務拆解引擎）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709928"/>
            <a:ext cx="9966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3A4A63"/>
                </a:solidFill>
                <a:latin typeface="Microsoft JhengHei"/>
              </a:defRPr>
            </a:pPr>
            <a:r>
              <a:rPr sz="1400">
                <a:solidFill>
                  <a:srgbClr val="3A4A63"/>
                </a:solidFill>
                <a:latin typeface="Microsoft JhengHei"/>
              </a:rPr>
              <a:t>• 目標理解 → 影響分析 → 依賴映射 → DAG 構建 → 優先級排程</a:t>
            </a:r>
          </a:p>
          <a:p>
            <a:pPr>
              <a:spcAft>
                <a:spcPts val="200"/>
              </a:spcAft>
              <a:defRPr sz="1400">
                <a:solidFill>
                  <a:srgbClr val="3A4A63"/>
                </a:solidFill>
                <a:latin typeface="Microsoft JhengHei"/>
              </a:defRPr>
            </a:pPr>
            <a:r>
              <a:rPr sz="1400">
                <a:solidFill>
                  <a:srgbClr val="3A4A63"/>
                </a:solidFill>
                <a:latin typeface="Microsoft JhengHei"/>
              </a:rPr>
              <a:t>• SubTask 定義：ID、描述、依賴、工具需求、預估成本、狀態機</a:t>
            </a:r>
          </a:p>
          <a:p>
            <a:pPr>
              <a:spcAft>
                <a:spcPts val="200"/>
              </a:spcAft>
              <a:defRPr sz="1400">
                <a:solidFill>
                  <a:srgbClr val="3A4A63"/>
                </a:solidFill>
                <a:latin typeface="Microsoft JhengHei"/>
              </a:defRPr>
            </a:pPr>
            <a:r>
              <a:rPr sz="1400">
                <a:solidFill>
                  <a:srgbClr val="3A4A63"/>
                </a:solidFill>
                <a:latin typeface="Microsoft JhengHei"/>
              </a:rPr>
              <a:t>• 無依賴子任務自動平行化派發，大幅縮短整體任務執行耗時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98648"/>
            <a:ext cx="11091672" cy="15544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77240" y="3063240"/>
            <a:ext cx="548640" cy="347472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008376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1B2A4A"/>
                </a:solidFill>
                <a:latin typeface="Microsoft JhengHei"/>
              </a:defRPr>
            </a:pPr>
            <a:r>
              <a:rPr sz="1650" b="1">
                <a:solidFill>
                  <a:srgbClr val="1B2A4A"/>
                </a:solidFill>
                <a:latin typeface="Microsoft JhengHei"/>
              </a:rPr>
              <a:t>13.2 Dynamic Re-planning（動態重規劃）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374136"/>
            <a:ext cx="9966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3A4A63"/>
                </a:solidFill>
                <a:latin typeface="Microsoft JhengHei"/>
              </a:defRPr>
            </a:pPr>
            <a:r>
              <a:rPr sz="1400">
                <a:solidFill>
                  <a:srgbClr val="3A4A63"/>
                </a:solidFill>
                <a:latin typeface="Microsoft JhengHei"/>
              </a:rPr>
              <a:t>• 觸發條件：子任務失敗 · 新約束出現 · 需求變更 · 資源不足</a:t>
            </a:r>
          </a:p>
          <a:p>
            <a:pPr>
              <a:spcAft>
                <a:spcPts val="200"/>
              </a:spcAft>
              <a:defRPr sz="1400">
                <a:solidFill>
                  <a:srgbClr val="3A4A63"/>
                </a:solidFill>
                <a:latin typeface="Microsoft JhengHei"/>
              </a:defRPr>
            </a:pPr>
            <a:r>
              <a:rPr sz="1400">
                <a:solidFill>
                  <a:srgbClr val="3A4A63"/>
                </a:solidFill>
                <a:latin typeface="Microsoft JhengHei"/>
              </a:rPr>
              <a:t>• 重規劃流程：暫停 → 重新評估 → 合併已完成結果 → 構建新 DAG → 恢復執行</a:t>
            </a:r>
          </a:p>
          <a:p>
            <a:pPr>
              <a:spcAft>
                <a:spcPts val="200"/>
              </a:spcAft>
              <a:defRPr sz="1400">
                <a:solidFill>
                  <a:srgbClr val="3A4A63"/>
                </a:solidFill>
                <a:latin typeface="Microsoft JhengHei"/>
              </a:defRPr>
            </a:pPr>
            <a:r>
              <a:rPr sz="1400">
                <a:solidFill>
                  <a:srgbClr val="3A4A63"/>
                </a:solidFill>
                <a:latin typeface="Microsoft JhengHei"/>
              </a:rPr>
              <a:t>• 狀態增量更新，避免已產生的中間計算與 API 成本浪費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562856"/>
            <a:ext cx="11091672" cy="15544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77240" y="4727448"/>
            <a:ext cx="548640" cy="347472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672584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1B2A4A"/>
                </a:solidFill>
                <a:latin typeface="Microsoft JhengHei"/>
              </a:defRPr>
            </a:pPr>
            <a:r>
              <a:rPr sz="1650" b="1">
                <a:solidFill>
                  <a:srgbClr val="1B2A4A"/>
                </a:solidFill>
                <a:latin typeface="Microsoft JhengHei"/>
              </a:rPr>
              <a:t>13.3 Multi-Agent Coordination（多代理協同）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5038344"/>
            <a:ext cx="9966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3A4A63"/>
                </a:solidFill>
                <a:latin typeface="Microsoft JhengHei"/>
              </a:defRPr>
            </a:pPr>
            <a:r>
              <a:rPr sz="1400">
                <a:solidFill>
                  <a:srgbClr val="3A4A63"/>
                </a:solidFill>
                <a:latin typeface="Microsoft JhengHei"/>
              </a:rPr>
              <a:t>• 主控代理 (Orchestrator) + 專項子代理 (Specialist) 層次架構</a:t>
            </a:r>
          </a:p>
          <a:p>
            <a:pPr>
              <a:spcAft>
                <a:spcPts val="200"/>
              </a:spcAft>
              <a:defRPr sz="1400">
                <a:solidFill>
                  <a:srgbClr val="3A4A63"/>
                </a:solidFill>
                <a:latin typeface="Microsoft JhengHei"/>
              </a:defRPr>
            </a:pPr>
            <a:r>
              <a:rPr sz="1400">
                <a:solidFill>
                  <a:srgbClr val="3A4A63"/>
                </a:solidFill>
                <a:latin typeface="Microsoft JhengHei"/>
              </a:rPr>
              <a:t>• 五類通訊協議：TASK_ASSIGN · PROGRESS · RESULT · CLARIFY · ABORT</a:t>
            </a:r>
          </a:p>
          <a:p>
            <a:pPr>
              <a:spcAft>
                <a:spcPts val="200"/>
              </a:spcAft>
              <a:defRPr sz="1400">
                <a:solidFill>
                  <a:srgbClr val="3A4A63"/>
                </a:solidFill>
                <a:latin typeface="Microsoft JhengHei"/>
              </a:defRPr>
            </a:pPr>
            <a:r>
              <a:rPr sz="1400">
                <a:solidFill>
                  <a:srgbClr val="3A4A63"/>
                </a:solidFill>
                <a:latin typeface="Microsoft JhengHei"/>
              </a:rPr>
              <a:t>• 四種上下文隔離策略：完全隔離 / 選擇性共享 / 完全共享 / 唯讀共享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1234440" cy="365760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Part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292608"/>
            <a:ext cx="9692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  <a:latin typeface="Microsoft JhengHei"/>
              </a:defRPr>
            </a:pPr>
            <a:r>
              <a:rPr sz="2600" b="1">
                <a:solidFill>
                  <a:srgbClr val="1B2A4A"/>
                </a:solidFill>
                <a:latin typeface="Microsoft JhengHei"/>
              </a:rPr>
              <a:t>Guardrails 深度規劃 — 五層縱深防禦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E7C86"/>
                </a:solidFill>
                <a:latin typeface="Microsoft JhengHei"/>
              </a:defRPr>
            </a:pPr>
            <a:r>
              <a:rPr sz="1400" b="0">
                <a:solidFill>
                  <a:srgbClr val="0E7C86"/>
                </a:solidFill>
                <a:latin typeface="Microsoft JhengHei"/>
              </a:rPr>
              <a:t>Part II · 第 14 章 護欄與錯誤處理 · 全流程安全保障機制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82512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E7C86"/>
                </a:solidFill>
                <a:latin typeface="Microsoft JhengHei"/>
              </a:defRPr>
            </a:pPr>
            <a:r>
              <a:rPr sz="1100" b="1">
                <a:solidFill>
                  <a:srgbClr val="0E7C86"/>
                </a:solidFill>
                <a:latin typeface="Microsoft JhengHei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3566160" cy="49834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353312"/>
            <a:ext cx="3291840" cy="4736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550" b="1">
                <a:solidFill>
                  <a:srgbClr val="1B2A4A"/>
                </a:solidFill>
                <a:latin typeface="Microsoft JhengHei"/>
              </a:defRPr>
            </a:pPr>
            <a:r>
              <a:rPr sz="1550" b="1">
                <a:solidFill>
                  <a:srgbClr val="1B2A4A"/>
                </a:solidFill>
                <a:latin typeface="Microsoft JhengHei"/>
              </a:rPr>
              <a:t>■ 五層 Defense-in-Depth 架構：</a:t>
            </a:r>
          </a:p>
          <a:p>
            <a:pPr>
              <a:spcAft>
                <a:spcPts val="200"/>
              </a:spcAft>
              <a:defRPr>
                <a:latin typeface="Microsoft JhengHei"/>
              </a:defRPr>
            </a:pPr>
            <a:endParaRPr sz="1550" b="1">
              <a:solidFill>
                <a:srgbClr val="1B2A4A"/>
              </a:solidFill>
              <a:latin typeface="Microsoft JhengHei"/>
            </a:endParaRP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L1 輸入層護欄 (Input Guardrail)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  防提示注入 · 越獄過濾 · PII 脫敏</a:t>
            </a:r>
          </a:p>
          <a:p>
            <a:pPr>
              <a:spcAft>
                <a:spcPts val="200"/>
              </a:spcAft>
              <a:defRPr>
                <a:latin typeface="Microsoft JhengHei"/>
              </a:defRPr>
            </a:pPr>
            <a:endParaRPr sz="1400" b="0">
              <a:solidFill>
                <a:srgbClr val="3A4A63"/>
              </a:solidFill>
              <a:latin typeface="Microsoft JhengHei"/>
            </a:endParaRP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L2 輸出層護欄 (Output Guardrail)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  合規過濾 · 防敏感資訊洩露 · 事實核查</a:t>
            </a:r>
          </a:p>
          <a:p>
            <a:pPr>
              <a:spcAft>
                <a:spcPts val="200"/>
              </a:spcAft>
              <a:defRPr>
                <a:latin typeface="Microsoft JhengHei"/>
              </a:defRPr>
            </a:pPr>
            <a:endParaRPr sz="1400" b="0">
              <a:solidFill>
                <a:srgbClr val="3A4A63"/>
              </a:solidFill>
              <a:latin typeface="Microsoft JhengHei"/>
            </a:endParaRP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L3 行動層護欄 (Action Guardrail)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  工具權限管控 · 高危操作審批 (HITL)</a:t>
            </a:r>
          </a:p>
          <a:p>
            <a:pPr>
              <a:spcAft>
                <a:spcPts val="200"/>
              </a:spcAft>
              <a:defRPr>
                <a:latin typeface="Microsoft JhengHei"/>
              </a:defRPr>
            </a:pPr>
            <a:endParaRPr sz="1400" b="0">
              <a:solidFill>
                <a:srgbClr val="3A4A63"/>
              </a:solidFill>
              <a:latin typeface="Microsoft JhengHei"/>
            </a:endParaRP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L4 執行層護欄 (Execution Guardrail)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  沙箱隔離 · 資源配額 · 超時熔斷</a:t>
            </a:r>
          </a:p>
          <a:p>
            <a:pPr>
              <a:spcAft>
                <a:spcPts val="200"/>
              </a:spcAft>
              <a:defRPr>
                <a:latin typeface="Microsoft JhengHei"/>
              </a:defRPr>
            </a:pPr>
            <a:endParaRPr sz="1400" b="0">
              <a:solidFill>
                <a:srgbClr val="3A4A63"/>
              </a:solidFill>
              <a:latin typeface="Microsoft JhengHei"/>
            </a:endParaRP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L5 全局迴圈護欄 (Loop Guardrail)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  步驟上限 50 · Token 上限 500K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  超時 30 分鐘 · 費用熔斷 $5 · 死循環偵測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234440"/>
            <a:ext cx="7479792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ig7_infographi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536" y="1684729"/>
            <a:ext cx="7315200" cy="408290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1234440" cy="365760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Part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292608"/>
            <a:ext cx="9692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  <a:latin typeface="Microsoft JhengHei"/>
              </a:defRPr>
            </a:pPr>
            <a:r>
              <a:rPr sz="2600" b="1">
                <a:solidFill>
                  <a:srgbClr val="1B2A4A"/>
                </a:solidFill>
                <a:latin typeface="Microsoft JhengHei"/>
              </a:rPr>
              <a:t>Observability 深度規劃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E7C86"/>
                </a:solidFill>
                <a:latin typeface="Microsoft JhengHei"/>
              </a:defRPr>
            </a:pPr>
            <a:r>
              <a:rPr sz="1400" b="0">
                <a:solidFill>
                  <a:srgbClr val="0E7C86"/>
                </a:solidFill>
                <a:latin typeface="Microsoft JhengHei"/>
              </a:rPr>
              <a:t>全鏈路追蹤、結構化日誌、核心度量指標體系與即時成本熔斷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82512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E7C86"/>
                </a:solidFill>
                <a:latin typeface="Microsoft JhengHei"/>
              </a:defRPr>
            </a:pPr>
            <a:r>
              <a:rPr sz="1100" b="1">
                <a:solidFill>
                  <a:srgbClr val="0E7C86"/>
                </a:solidFill>
                <a:latin typeface="Microsoft JhengHei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11091672" cy="114300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77240" y="1380744"/>
            <a:ext cx="502920" cy="329184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325880"/>
            <a:ext cx="10058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  <a:latin typeface="Microsoft JhengHei"/>
              </a:defRPr>
            </a:pPr>
            <a:r>
              <a:rPr sz="1600" b="1">
                <a:solidFill>
                  <a:srgbClr val="1B2A4A"/>
                </a:solidFill>
                <a:latin typeface="Microsoft JhengHei"/>
              </a:rPr>
              <a:t>15.1 Tracing（全鏈路分散式追蹤）</a:t>
            </a:r>
          </a:p>
          <a:p>
            <a:pPr>
              <a:spcBef>
                <a:spcPts val="300"/>
              </a:spcBef>
              <a:defRPr sz="1400">
                <a:solidFill>
                  <a:srgbClr val="3A4A63"/>
                </a:solidFill>
                <a:latin typeface="Microsoft JhengHei"/>
              </a:defRPr>
            </a:pPr>
            <a:r>
              <a:rPr sz="1400">
                <a:solidFill>
                  <a:srgbClr val="3A4A63"/>
                </a:solidFill>
                <a:latin typeface="Microsoft JhengHei"/>
              </a:rPr>
              <a:t>• 階層式 Span 樹狀軌跡：Observe → Think → Guardrail → Act → Terminate；標準屬性 trace_id · span_id · model · tokens · cost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87168"/>
            <a:ext cx="11091672" cy="114300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77240" y="2633472"/>
            <a:ext cx="502920" cy="329184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578608"/>
            <a:ext cx="10058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  <a:latin typeface="Microsoft JhengHei"/>
              </a:defRPr>
            </a:pPr>
            <a:r>
              <a:rPr sz="1600" b="1">
                <a:solidFill>
                  <a:srgbClr val="1B2A4A"/>
                </a:solidFill>
                <a:latin typeface="Microsoft JhengHei"/>
              </a:rPr>
              <a:t>15.2 Logging（結構化日誌）</a:t>
            </a:r>
          </a:p>
          <a:p>
            <a:pPr>
              <a:spcBef>
                <a:spcPts val="300"/>
              </a:spcBef>
              <a:defRPr sz="1400">
                <a:solidFill>
                  <a:srgbClr val="3A4A63"/>
                </a:solidFill>
                <a:latin typeface="Microsoft JhengHei"/>
              </a:defRPr>
            </a:pPr>
            <a:r>
              <a:rPr sz="1400">
                <a:solidFill>
                  <a:srgbClr val="3A4A63"/>
                </a:solidFill>
                <a:latin typeface="Microsoft JhengHei"/>
              </a:rPr>
              <a:t>• 六級結構化分級：TRACE → DEBUG → INFO → WARN → ERROR → FATAL；JSON 結構化格式完整記錄 Raw I/O 與 Token 消耗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39896"/>
            <a:ext cx="11091672" cy="114300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77240" y="3886200"/>
            <a:ext cx="502920" cy="329184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831335"/>
            <a:ext cx="10058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  <a:latin typeface="Microsoft JhengHei"/>
              </a:defRPr>
            </a:pPr>
            <a:r>
              <a:rPr sz="1600" b="1">
                <a:solidFill>
                  <a:srgbClr val="1B2A4A"/>
                </a:solidFill>
                <a:latin typeface="Microsoft JhengHei"/>
              </a:rPr>
              <a:t>15.3 Metrics（核心指標度量）</a:t>
            </a:r>
          </a:p>
          <a:p>
            <a:pPr>
              <a:spcBef>
                <a:spcPts val="300"/>
              </a:spcBef>
              <a:defRPr sz="1400">
                <a:solidFill>
                  <a:srgbClr val="3A4A63"/>
                </a:solidFill>
                <a:latin typeface="Microsoft JhengHei"/>
              </a:defRPr>
            </a:pPr>
            <a:r>
              <a:rPr sz="1400">
                <a:solidFill>
                  <a:srgbClr val="3A4A63"/>
                </a:solidFill>
                <a:latin typeface="Microsoft JhengHei"/>
              </a:rPr>
              <a:t>• 六大維度度量指標：任務成功率 · 平均步驟數 · Token 消耗 · P95 延遲 · API 費用累計 · 記憶命中率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992624"/>
            <a:ext cx="11091672" cy="114300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77240" y="5138928"/>
            <a:ext cx="502920" cy="329184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084064"/>
            <a:ext cx="10058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  <a:latin typeface="Microsoft JhengHei"/>
              </a:defRPr>
            </a:pPr>
            <a:r>
              <a:rPr sz="1600" b="1">
                <a:solidFill>
                  <a:srgbClr val="1B2A4A"/>
                </a:solidFill>
                <a:latin typeface="Microsoft JhengHei"/>
              </a:rPr>
              <a:t>15.4 成本管控系統</a:t>
            </a:r>
          </a:p>
          <a:p>
            <a:pPr>
              <a:spcBef>
                <a:spcPts val="300"/>
              </a:spcBef>
              <a:defRPr sz="1400">
                <a:solidFill>
                  <a:srgbClr val="3A4A63"/>
                </a:solidFill>
                <a:latin typeface="Microsoft JhengHei"/>
              </a:defRPr>
            </a:pPr>
            <a:r>
              <a:rPr sz="1400">
                <a:solidFill>
                  <a:srgbClr val="3A4A63"/>
                </a:solidFill>
                <a:latin typeface="Microsoft JhengHei"/>
              </a:rPr>
              <a:t>• 三級預算熔斷機制：單次調用上限 · 單任務預算 · 全局月度預算；逐步執行回放 (Replay) 與分支替代除錯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14400" y="1783080"/>
            <a:ext cx="2194560" cy="438912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</a:rPr>
              <a:t>轉 — HOW · Part 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231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Microsoft JhengHei"/>
              </a:defRPr>
            </a:pPr>
            <a:r>
              <a:rPr sz="3400" b="1">
                <a:solidFill>
                  <a:srgbClr val="FFFFFF"/>
                </a:solidFill>
                <a:latin typeface="Microsoft JhengHei"/>
              </a:rPr>
              <a:t>合規安全框架與 AI 評測整合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BFDBFE"/>
                </a:solidFill>
                <a:latin typeface="Microsoft JhengHei"/>
              </a:defRPr>
            </a:pPr>
            <a:r>
              <a:rPr sz="1600" b="0">
                <a:solidFill>
                  <a:srgbClr val="BFDBFE"/>
                </a:solidFill>
                <a:latin typeface="Microsoft JhengHei"/>
              </a:rPr>
              <a:t>ISO 42001 AIMS · OWASP Top 10 LLM · MITRE ATLAS · AIEC AI 評測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297680"/>
            <a:ext cx="3200400" cy="36576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55680" y="6382512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E7C86"/>
                </a:solidFill>
                <a:latin typeface="Microsoft JhengHei"/>
              </a:defRPr>
            </a:pPr>
            <a:r>
              <a:rPr sz="1100" b="1">
                <a:solidFill>
                  <a:srgbClr val="0E7C86"/>
                </a:solidFill>
                <a:latin typeface="Microsoft Jheng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1234440" cy="365760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Part 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292608"/>
            <a:ext cx="9692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  <a:latin typeface="Microsoft JhengHei"/>
              </a:defRPr>
            </a:pPr>
            <a:r>
              <a:rPr sz="2600" b="1">
                <a:solidFill>
                  <a:srgbClr val="1B2A4A"/>
                </a:solidFill>
                <a:latin typeface="Microsoft JhengHei"/>
              </a:rPr>
              <a:t>九大維度全局架構：合規 + 核心 + 評測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E7C86"/>
                </a:solidFill>
                <a:latin typeface="Microsoft JhengHei"/>
              </a:defRPr>
            </a:pPr>
            <a:r>
              <a:rPr sz="1400" b="0">
                <a:solidFill>
                  <a:srgbClr val="0E7C86"/>
                </a:solidFill>
                <a:latin typeface="Microsoft JhengHei"/>
              </a:rPr>
              <a:t>Part III · 第 16 章 第八維度：Compliance &amp;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82512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E7C86"/>
                </a:solidFill>
                <a:latin typeface="Microsoft JhengHei"/>
              </a:defRPr>
            </a:pPr>
            <a:r>
              <a:rPr sz="1100" b="1">
                <a:solidFill>
                  <a:srgbClr val="0E7C86"/>
                </a:solidFill>
                <a:latin typeface="Microsoft JhengHei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3566160" cy="49834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353312"/>
            <a:ext cx="3291840" cy="4736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550" b="1">
                <a:solidFill>
                  <a:srgbClr val="1B2A4A"/>
                </a:solidFill>
                <a:latin typeface="Microsoft JhengHei"/>
              </a:defRPr>
            </a:pPr>
            <a:r>
              <a:rPr sz="1550" b="1">
                <a:solidFill>
                  <a:srgbClr val="1B2A4A"/>
                </a:solidFill>
                <a:latin typeface="Microsoft JhengHei"/>
              </a:rPr>
              <a:t>■ 新增兩個橫切 (Cross-cutting) 維度：</a:t>
            </a:r>
          </a:p>
          <a:p>
            <a:pPr>
              <a:spcAft>
                <a:spcPts val="200"/>
              </a:spcAft>
              <a:defRPr>
                <a:latin typeface="Microsoft JhengHei"/>
              </a:defRPr>
            </a:pPr>
            <a:endParaRPr sz="1550" b="1">
              <a:solidFill>
                <a:srgbClr val="1B2A4A"/>
              </a:solidFill>
              <a:latin typeface="Microsoft JhengHei"/>
            </a:endParaRP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第 8 維度：合規治理層 (頂層)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  ISO 42001 AIMS 管理體系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  OWASP Top 10 for LLM 安全防禦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  MITRE ATLAS 對抗威脅矩陣</a:t>
            </a:r>
          </a:p>
          <a:p>
            <a:pPr>
              <a:spcAft>
                <a:spcPts val="200"/>
              </a:spcAft>
              <a:defRPr>
                <a:latin typeface="Microsoft JhengHei"/>
              </a:defRPr>
            </a:pPr>
            <a:endParaRPr sz="1400" b="0">
              <a:solidFill>
                <a:srgbClr val="3A4A63"/>
              </a:solidFill>
              <a:latin typeface="Microsoft JhengHei"/>
            </a:endParaRP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第 9 維度：評測驗證層 (底層)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  AIEC 十大評測指標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  內建 Benchmark Suite 基準測試集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  Red Team 紅隊攻防演練</a:t>
            </a:r>
          </a:p>
          <a:p>
            <a:pPr>
              <a:spcAft>
                <a:spcPts val="200"/>
              </a:spcAft>
              <a:defRPr>
                <a:latin typeface="Microsoft JhengHei"/>
              </a:defRPr>
            </a:pPr>
            <a:endParaRPr sz="1400" b="0">
              <a:solidFill>
                <a:srgbClr val="3A4A63"/>
              </a:solidFill>
              <a:latin typeface="Microsoft JhengHei"/>
            </a:endParaRPr>
          </a:p>
          <a:p>
            <a:pPr>
              <a:spcBef>
                <a:spcPts val="600"/>
              </a:spcBef>
              <a:spcAft>
                <a:spcPts val="400"/>
              </a:spcAft>
              <a:defRPr sz="1550" b="1">
                <a:solidFill>
                  <a:srgbClr val="1B2A4A"/>
                </a:solidFill>
                <a:latin typeface="Microsoft JhengHei"/>
              </a:defRPr>
            </a:pPr>
            <a:r>
              <a:rPr sz="1550" b="1">
                <a:solidFill>
                  <a:srgbClr val="1B2A4A"/>
                </a:solidFill>
                <a:latin typeface="Microsoft JhengHei"/>
              </a:rPr>
              <a:t>■ 核心設計原則：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合規不是「附加層」，而是深度融入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七大核心組件的內建保證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四大框架互補形成完整防護網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234440"/>
            <a:ext cx="7479792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ig8_infographi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536" y="1684729"/>
            <a:ext cx="7315200" cy="408290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1234440" cy="365760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ISO 42001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292608"/>
            <a:ext cx="9692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  <a:latin typeface="Microsoft JhengHei"/>
              </a:defRPr>
            </a:pPr>
            <a:r>
              <a:rPr sz="2600" b="1">
                <a:solidFill>
                  <a:srgbClr val="1B2A4A"/>
                </a:solidFill>
                <a:latin typeface="Microsoft JhengHei"/>
              </a:rPr>
              <a:t>ISO 42001 AIMS — AI 影響評估管線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E7C86"/>
                </a:solidFill>
                <a:latin typeface="Microsoft JhengHei"/>
              </a:defRPr>
            </a:pPr>
            <a:r>
              <a:rPr sz="1400" b="0">
                <a:solidFill>
                  <a:srgbClr val="0E7C86"/>
                </a:solidFill>
                <a:latin typeface="Microsoft JhengHei"/>
              </a:rPr>
              <a:t>Part III · ISO 42001 PDCA 循環 + Annex A 38 項控制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82512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E7C86"/>
                </a:solidFill>
                <a:latin typeface="Microsoft JhengHei"/>
              </a:defRPr>
            </a:pPr>
            <a:r>
              <a:rPr sz="1100" b="1">
                <a:solidFill>
                  <a:srgbClr val="0E7C86"/>
                </a:solidFill>
                <a:latin typeface="Microsoft JhengHei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3566160" cy="49834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353312"/>
            <a:ext cx="3291840" cy="4736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550" b="1">
                <a:solidFill>
                  <a:srgbClr val="1B2A4A"/>
                </a:solidFill>
                <a:latin typeface="Microsoft JhengHei"/>
              </a:defRPr>
            </a:pPr>
            <a:r>
              <a:rPr sz="1550" b="1">
                <a:solidFill>
                  <a:srgbClr val="1B2A4A"/>
                </a:solidFill>
                <a:latin typeface="Microsoft JhengHei"/>
              </a:rPr>
              <a:t>■ ISO 42001 十大條款映射至 Harness：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Clause 4 組織環境 → Compliance Layer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Clause 5 領導力 → System Prompt 政策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Clause 6 規劃 → Impact Assessment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Clause 7 支援 → 行為軌跡歸檔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Clause 8 運作 → 全生命週期管控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Clause 9 績效評估 → 自動化審計報告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Clause 10 改善 → 情節記憶自學習</a:t>
            </a:r>
          </a:p>
          <a:p>
            <a:pPr>
              <a:spcAft>
                <a:spcPts val="200"/>
              </a:spcAft>
              <a:defRPr>
                <a:latin typeface="Microsoft JhengHei"/>
              </a:defRPr>
            </a:pPr>
            <a:endParaRPr sz="1400" b="0">
              <a:solidFill>
                <a:srgbClr val="3A4A63"/>
              </a:solidFill>
              <a:latin typeface="Microsoft JhengHei"/>
            </a:endParaRPr>
          </a:p>
          <a:p>
            <a:pPr>
              <a:spcBef>
                <a:spcPts val="600"/>
              </a:spcBef>
              <a:spcAft>
                <a:spcPts val="400"/>
              </a:spcAft>
              <a:defRPr sz="1550" b="1">
                <a:solidFill>
                  <a:srgbClr val="1B2A4A"/>
                </a:solidFill>
                <a:latin typeface="Microsoft JhengHei"/>
              </a:defRPr>
            </a:pPr>
            <a:r>
              <a:rPr sz="1550" b="1">
                <a:solidFill>
                  <a:srgbClr val="1B2A4A"/>
                </a:solidFill>
                <a:latin typeface="Microsoft JhengHei"/>
              </a:rPr>
              <a:t>■ AI Impact Assessment Pipeline：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① 任務接收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② 風險分級 (EU AI Act 標準)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③ 影響評估 (權益/公平/倫理)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④ 緩解策略 (護欄等級調整)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⑤ 人機審批 (高風險 Human-in-the-Loop)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⑥ 安全執行 (Agent Loop 啟動)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234440"/>
            <a:ext cx="7479792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ig9_infographi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536" y="1684729"/>
            <a:ext cx="7315200" cy="408290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1234440" cy="365760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OWASP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292608"/>
            <a:ext cx="9692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  <a:latin typeface="Microsoft JhengHei"/>
              </a:defRPr>
            </a:pPr>
            <a:r>
              <a:rPr sz="2600" b="1">
                <a:solidFill>
                  <a:srgbClr val="1B2A4A"/>
                </a:solidFill>
                <a:latin typeface="Microsoft JhengHei"/>
              </a:rPr>
              <a:t>OWASP Top 10 for LLM (2025) — 十大風險防禦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E7C86"/>
                </a:solidFill>
                <a:latin typeface="Microsoft JhengHei"/>
              </a:defRPr>
            </a:pPr>
            <a:r>
              <a:rPr sz="1400" b="0">
                <a:solidFill>
                  <a:srgbClr val="0E7C86"/>
                </a:solidFill>
                <a:latin typeface="Microsoft JhengHei"/>
              </a:rPr>
              <a:t>全面覆蓋 2025 最新大語言模型安全威脅 · 分級防禦與縱深護欄部署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82512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E7C86"/>
                </a:solidFill>
                <a:latin typeface="Microsoft JhengHei"/>
              </a:defRPr>
            </a:pPr>
            <a:r>
              <a:rPr sz="1100" b="1">
                <a:solidFill>
                  <a:srgbClr val="0E7C86"/>
                </a:solidFill>
                <a:latin typeface="Microsoft JhengHei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11091672" cy="1435607"/>
          </a:xfrm>
          <a:prstGeom prst="roundRect">
            <a:avLst/>
          </a:prstGeom>
          <a:solidFill>
            <a:srgbClr val="FDF3F2"/>
          </a:solidFill>
          <a:ln w="12700">
            <a:solidFill>
              <a:srgbClr val="E5A8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77240" y="1344168"/>
            <a:ext cx="3108960" cy="347472"/>
          </a:xfrm>
          <a:prstGeom prst="roundRect">
            <a:avLst/>
          </a:prstGeom>
          <a:solidFill>
            <a:srgbClr val="B33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50" b="1">
                <a:solidFill>
                  <a:srgbClr val="FFFFFF"/>
                </a:solidFill>
                <a:latin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</a:rPr>
              <a:t>極高風險 (Critical) — 需最高優先級防禦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09928"/>
            <a:ext cx="1060704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3A4A63"/>
                </a:solidFill>
                <a:latin typeface="Microsoft JhengHei"/>
              </a:defRPr>
            </a:pPr>
            <a:r>
              <a:rPr sz="1400">
                <a:solidFill>
                  <a:srgbClr val="3A4A63"/>
                </a:solidFill>
                <a:latin typeface="Microsoft JhengHei"/>
              </a:rPr>
              <a:t>• LLM01 Prompt Injection → L1 Input Guardrail：四層級聯防禦（規則+分類模型+語義異常+指令/數據隔離）</a:t>
            </a:r>
          </a:p>
          <a:p>
            <a:pPr>
              <a:spcAft>
                <a:spcPts val="300"/>
              </a:spcAft>
              <a:defRPr sz="1400">
                <a:solidFill>
                  <a:srgbClr val="3A4A63"/>
                </a:solidFill>
                <a:latin typeface="Microsoft JhengHei"/>
              </a:defRPr>
            </a:pPr>
            <a:r>
              <a:rPr sz="1400">
                <a:solidFill>
                  <a:srgbClr val="3A4A63"/>
                </a:solidFill>
                <a:latin typeface="Microsoft JhengHei"/>
              </a:rPr>
              <a:t>• LLM02 敏感資訊洩露 → L2 Output Guardrail：PII 掃描 + System Prompt 保護 + 事實核查</a:t>
            </a:r>
          </a:p>
          <a:p>
            <a:pPr>
              <a:spcAft>
                <a:spcPts val="300"/>
              </a:spcAft>
              <a:defRPr sz="1400">
                <a:solidFill>
                  <a:srgbClr val="3A4A63"/>
                </a:solidFill>
                <a:latin typeface="Microsoft JhengHei"/>
              </a:defRPr>
            </a:pPr>
            <a:r>
              <a:rPr sz="1400">
                <a:solidFill>
                  <a:srgbClr val="3A4A63"/>
                </a:solidFill>
                <a:latin typeface="Microsoft JhengHei"/>
              </a:rPr>
              <a:t>• LLM06 過度自主 (Excessive Agency) → L3 Action Guardrail：最小權限 + 白名單 + 委派深度限制 3 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16352"/>
            <a:ext cx="11091672" cy="1755648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77240" y="2926080"/>
            <a:ext cx="3108960" cy="347472"/>
          </a:xfrm>
          <a:prstGeom prst="roundRect">
            <a:avLst/>
          </a:prstGeom>
          <a:solidFill>
            <a:srgbClr val="C889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50" b="1">
                <a:solidFill>
                  <a:srgbClr val="FFFFFF"/>
                </a:solidFill>
                <a:latin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</a:rPr>
              <a:t>高風險 (High) — 需系統性防禦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9184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3A4A63"/>
                </a:solidFill>
                <a:latin typeface="Microsoft JhengHei"/>
              </a:defRPr>
            </a:pPr>
            <a:r>
              <a:rPr sz="1400">
                <a:solidFill>
                  <a:srgbClr val="3A4A63"/>
                </a:solidFill>
                <a:latin typeface="Microsoft JhengHei"/>
              </a:rPr>
              <a:t>• LLM03 供應鏈 → 工具簽章驗證 + AI 物料清冊 (AI BoM)</a:t>
            </a:r>
          </a:p>
          <a:p>
            <a:pPr>
              <a:spcAft>
                <a:spcPts val="300"/>
              </a:spcAft>
              <a:defRPr sz="1400">
                <a:solidFill>
                  <a:srgbClr val="3A4A63"/>
                </a:solidFill>
                <a:latin typeface="Microsoft JhengHei"/>
              </a:defRPr>
            </a:pPr>
            <a:r>
              <a:rPr sz="1400">
                <a:solidFill>
                  <a:srgbClr val="3A4A63"/>
                </a:solidFill>
                <a:latin typeface="Microsoft JhengHei"/>
              </a:rPr>
              <a:t>• LLM04 數據/模型投毒 → RAG 白名單 + 嵌入偏移偵測 + 向量庫完整性校驗</a:t>
            </a:r>
          </a:p>
          <a:p>
            <a:pPr>
              <a:spcAft>
                <a:spcPts val="300"/>
              </a:spcAft>
              <a:defRPr sz="1400">
                <a:solidFill>
                  <a:srgbClr val="3A4A63"/>
                </a:solidFill>
                <a:latin typeface="Microsoft JhengHei"/>
              </a:defRPr>
            </a:pPr>
            <a:r>
              <a:rPr sz="1400">
                <a:solidFill>
                  <a:srgbClr val="3A4A63"/>
                </a:solidFill>
                <a:latin typeface="Microsoft JhengHei"/>
              </a:rPr>
              <a:t>• LLM05 不當輸出處理 → 輸出清洗管線 (XSS/SQL/Shell 注入防護)</a:t>
            </a:r>
          </a:p>
          <a:p>
            <a:pPr>
              <a:spcAft>
                <a:spcPts val="300"/>
              </a:spcAft>
              <a:defRPr sz="1400">
                <a:solidFill>
                  <a:srgbClr val="3A4A63"/>
                </a:solidFill>
                <a:latin typeface="Microsoft JhengHei"/>
              </a:defRPr>
            </a:pPr>
            <a:r>
              <a:rPr sz="1400">
                <a:solidFill>
                  <a:srgbClr val="3A4A63"/>
                </a:solidFill>
                <a:latin typeface="Microsoft JhengHei"/>
              </a:rPr>
              <a:t>• LLM09 錯誤資訊 → 事實核查管線 (Fact-Checking Pipeline) + 不確定性標註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718304"/>
            <a:ext cx="11091672" cy="1435607"/>
          </a:xfrm>
          <a:prstGeom prst="roundRect">
            <a:avLst/>
          </a:prstGeom>
          <a:solidFill>
            <a:srgbClr val="EDF8F9"/>
          </a:solidFill>
          <a:ln w="12700">
            <a:solidFill>
              <a:srgbClr val="8FD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77240" y="4828032"/>
            <a:ext cx="3108960" cy="347472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50" b="1">
                <a:solidFill>
                  <a:srgbClr val="FFFFFF"/>
                </a:solidFill>
                <a:latin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</a:rPr>
              <a:t>中風險 (Medium) — 需基礎防護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93792"/>
            <a:ext cx="1060704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3A4A63"/>
                </a:solidFill>
                <a:latin typeface="Microsoft JhengHei"/>
              </a:defRPr>
            </a:pPr>
            <a:r>
              <a:rPr sz="1400">
                <a:solidFill>
                  <a:srgbClr val="3A4A63"/>
                </a:solidFill>
                <a:latin typeface="Microsoft JhengHei"/>
              </a:rPr>
              <a:t>• LLM07 System Prompt 洩露 → 輸出比對過濾</a:t>
            </a:r>
          </a:p>
          <a:p>
            <a:pPr>
              <a:spcAft>
                <a:spcPts val="300"/>
              </a:spcAft>
              <a:defRPr sz="1400">
                <a:solidFill>
                  <a:srgbClr val="3A4A63"/>
                </a:solidFill>
                <a:latin typeface="Microsoft JhengHei"/>
              </a:defRPr>
            </a:pPr>
            <a:r>
              <a:rPr sz="1400">
                <a:solidFill>
                  <a:srgbClr val="3A4A63"/>
                </a:solidFill>
                <a:latin typeface="Microsoft JhengHei"/>
              </a:rPr>
              <a:t>• LLM08 向量/嵌入弱點 → Vector Store ACL + 嵌入加密</a:t>
            </a:r>
          </a:p>
          <a:p>
            <a:pPr>
              <a:spcAft>
                <a:spcPts val="300"/>
              </a:spcAft>
              <a:defRPr sz="1400">
                <a:solidFill>
                  <a:srgbClr val="3A4A63"/>
                </a:solidFill>
                <a:latin typeface="Microsoft JhengHei"/>
              </a:defRPr>
            </a:pPr>
            <a:r>
              <a:rPr sz="1400">
                <a:solidFill>
                  <a:srgbClr val="3A4A63"/>
                </a:solidFill>
                <a:latin typeface="Microsoft JhengHei"/>
              </a:rPr>
              <a:t>• LLM10 無限制消耗 → Token 預算上限 + API 費用熔斷 + DoS 防護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1234440" cy="365760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MITRE ATLAS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292608"/>
            <a:ext cx="9692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  <a:latin typeface="Microsoft JhengHei"/>
              </a:defRPr>
            </a:pPr>
            <a:r>
              <a:rPr sz="2600" b="1">
                <a:solidFill>
                  <a:srgbClr val="1B2A4A"/>
                </a:solidFill>
                <a:latin typeface="Microsoft JhengHei"/>
              </a:rPr>
              <a:t>MITRE ATLAS — AI 威脅建模管線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E7C86"/>
                </a:solidFill>
                <a:latin typeface="Microsoft JhengHei"/>
              </a:defRPr>
            </a:pPr>
            <a:r>
              <a:rPr sz="1400" b="0">
                <a:solidFill>
                  <a:srgbClr val="0E7C86"/>
                </a:solidFill>
                <a:latin typeface="Microsoft JhengHei"/>
              </a:rPr>
              <a:t>Part III · 16 大攻擊戰術 + 170+ 技術全覆蓋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82512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E7C86"/>
                </a:solidFill>
                <a:latin typeface="Microsoft JhengHei"/>
              </a:defRPr>
            </a:pPr>
            <a:r>
              <a:rPr sz="1100" b="1">
                <a:solidFill>
                  <a:srgbClr val="0E7C86"/>
                </a:solidFill>
                <a:latin typeface="Microsoft JhengHei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3566160" cy="49834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353312"/>
            <a:ext cx="3291840" cy="4736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550" b="1">
                <a:solidFill>
                  <a:srgbClr val="1B2A4A"/>
                </a:solidFill>
                <a:latin typeface="Microsoft JhengHei"/>
              </a:defRPr>
            </a:pPr>
            <a:r>
              <a:rPr sz="1550" b="1">
                <a:solidFill>
                  <a:srgbClr val="1B2A4A"/>
                </a:solidFill>
                <a:latin typeface="Microsoft JhengHei"/>
              </a:rPr>
              <a:t>■ ATLAS 關鍵攻擊面防禦映射：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偵察 → API 最小暴露 · 模型版本隱藏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初始存取 → 多層注入偵測 · 工具簽章校驗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執行 → 沙箱隔離 · 指令白名單 · 容器化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持久化 → 記憶寫入校驗 · 定期完整性掃描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防禦規避 → 行為基線比對 · 長期偏移偵測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資料外洩 → 工具輸出審查 · DLP 防護</a:t>
            </a:r>
          </a:p>
          <a:p>
            <a:pPr>
              <a:spcAft>
                <a:spcPts val="200"/>
              </a:spcAft>
              <a:defRPr>
                <a:latin typeface="Microsoft JhengHei"/>
              </a:defRPr>
            </a:pPr>
            <a:endParaRPr sz="1400" b="0">
              <a:solidFill>
                <a:srgbClr val="3A4A63"/>
              </a:solidFill>
              <a:latin typeface="Microsoft JhengHei"/>
            </a:endParaRPr>
          </a:p>
          <a:p>
            <a:pPr>
              <a:spcBef>
                <a:spcPts val="600"/>
              </a:spcBef>
              <a:spcAft>
                <a:spcPts val="400"/>
              </a:spcAft>
              <a:defRPr sz="1550" b="1">
                <a:solidFill>
                  <a:srgbClr val="1B2A4A"/>
                </a:solidFill>
                <a:latin typeface="Microsoft JhengHei"/>
              </a:defRPr>
            </a:pPr>
            <a:r>
              <a:rPr sz="1550" b="1">
                <a:solidFill>
                  <a:srgbClr val="1B2A4A"/>
                </a:solidFill>
                <a:latin typeface="Microsoft JhengHei"/>
              </a:rPr>
              <a:t>■ AI Threat Modeling Pipeline：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① 輸入資訊 (任務+工具+數據來源)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② 攻擊面映射 (基於 ATLAS)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③ 威脅排序 (資產價值 × 攻擊可能性)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④ 控制建議 (自動推薦安全控制)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⑤ 防禦配置 (動態調整 Guardrails)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234440"/>
            <a:ext cx="7479792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ig_threat_modeli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536" y="1684729"/>
            <a:ext cx="7315200" cy="408290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1234440" cy="365760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AIEC 評測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292608"/>
            <a:ext cx="9692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  <a:latin typeface="Microsoft JhengHei"/>
              </a:defRPr>
            </a:pPr>
            <a:r>
              <a:rPr sz="2600" b="1">
                <a:solidFill>
                  <a:srgbClr val="1B2A4A"/>
                </a:solidFill>
                <a:latin typeface="Microsoft JhengHei"/>
              </a:rPr>
              <a:t>AIEC AI 評測 — Evaluation Engine 三層架構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E7C86"/>
                </a:solidFill>
                <a:latin typeface="Microsoft JhengHei"/>
              </a:defRPr>
            </a:pPr>
            <a:r>
              <a:rPr sz="1400" b="0">
                <a:solidFill>
                  <a:srgbClr val="0E7C86"/>
                </a:solidFill>
                <a:latin typeface="Microsoft JhengHei"/>
              </a:rPr>
              <a:t>Part III · 第 17 章 第九維度：Evaluation &amp; Benchmarking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82512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E7C86"/>
                </a:solidFill>
                <a:latin typeface="Microsoft JhengHei"/>
              </a:defRPr>
            </a:pPr>
            <a:r>
              <a:rPr sz="1100" b="1">
                <a:solidFill>
                  <a:srgbClr val="0E7C86"/>
                </a:solidFill>
                <a:latin typeface="Microsoft JhengHei"/>
              </a:rP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3566160" cy="49834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353312"/>
            <a:ext cx="3291840" cy="4736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550" b="1">
                <a:solidFill>
                  <a:srgbClr val="1B2A4A"/>
                </a:solidFill>
                <a:latin typeface="Microsoft JhengHei"/>
              </a:defRPr>
            </a:pPr>
            <a:r>
              <a:rPr sz="1550" b="1">
                <a:solidFill>
                  <a:srgbClr val="1B2A4A"/>
                </a:solidFill>
                <a:latin typeface="Microsoft JhengHei"/>
              </a:rPr>
              <a:t>■ AIEC 十大評測指標：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① 準確性  ② 安全性  ③ 可解釋性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④ 韌性    ⑤ 公平性  ⑥ 隱私保護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⑦ 資訊安全 ⑧ 可靠性  ⑨ 透明度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⑩ 臺灣在地化 (繁中語境 + 本土法規)</a:t>
            </a:r>
          </a:p>
          <a:p>
            <a:pPr>
              <a:spcAft>
                <a:spcPts val="200"/>
              </a:spcAft>
              <a:defRPr>
                <a:latin typeface="Microsoft JhengHei"/>
              </a:defRPr>
            </a:pPr>
            <a:endParaRPr sz="1400" b="0">
              <a:solidFill>
                <a:srgbClr val="3A4A63"/>
              </a:solidFill>
              <a:latin typeface="Microsoft JhengHei"/>
            </a:endParaRPr>
          </a:p>
          <a:p>
            <a:pPr>
              <a:spcBef>
                <a:spcPts val="600"/>
              </a:spcBef>
              <a:spcAft>
                <a:spcPts val="400"/>
              </a:spcAft>
              <a:defRPr sz="1550" b="1">
                <a:solidFill>
                  <a:srgbClr val="1B2A4A"/>
                </a:solidFill>
                <a:latin typeface="Microsoft JhengHei"/>
              </a:defRPr>
            </a:pPr>
            <a:r>
              <a:rPr sz="1550" b="1">
                <a:solidFill>
                  <a:srgbClr val="1B2A4A"/>
                </a:solidFill>
                <a:latin typeface="Microsoft JhengHei"/>
              </a:rPr>
              <a:t>■ Evaluation Engine 三層架構：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Tier 1 基準測試集 (Benchmark Suite)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  AIEC 題庫 · OWASP 攻擊測試 · ATLAS 紅隊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Tier 2 測試執行引擎 (Test Runner)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  批次測試 · A/B 對比 · 回歸測試 · 壓力測試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Tier 3 評測成績單 (Scorecard Generator)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  十大維度雷達圖 · 合規覆蓋率報告</a:t>
            </a:r>
          </a:p>
          <a:p>
            <a:pPr>
              <a:spcAft>
                <a:spcPts val="300"/>
              </a:spcAft>
              <a:defRPr sz="1400" b="0">
                <a:solidFill>
                  <a:srgbClr val="3A4A63"/>
                </a:solidFill>
                <a:latin typeface="Microsoft JhengHei"/>
              </a:defRPr>
            </a:pPr>
            <a:r>
              <a:rPr sz="1400" b="0">
                <a:solidFill>
                  <a:srgbClr val="3A4A63"/>
                </a:solidFill>
                <a:latin typeface="Microsoft JhengHei"/>
              </a:rPr>
              <a:t>    威脅防禦熱力圖 · ISO 符合度自評報告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234440"/>
            <a:ext cx="7479792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ig11_infographi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536" y="1684729"/>
            <a:ext cx="7315200" cy="408290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1234440" cy="365760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需求彙總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292608"/>
            <a:ext cx="9692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  <a:latin typeface="Microsoft JhengHei"/>
              </a:defRPr>
            </a:pPr>
            <a:r>
              <a:rPr sz="2600" b="1">
                <a:solidFill>
                  <a:srgbClr val="1B2A4A"/>
                </a:solidFill>
                <a:latin typeface="Microsoft JhengHei"/>
              </a:rPr>
              <a:t>四大框架對七大組件擴展需求彙總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E7C86"/>
                </a:solidFill>
                <a:latin typeface="Microsoft JhengHei"/>
              </a:defRPr>
            </a:pPr>
            <a:r>
              <a:rPr sz="1400" b="0">
                <a:solidFill>
                  <a:srgbClr val="0E7C86"/>
                </a:solidFill>
                <a:latin typeface="Microsoft JhengHei"/>
              </a:rPr>
              <a:t>ISO 42001 · OWASP · MITRE ATLAS · AIEC 對 Harness 七大核心組件之賦能與擴展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82512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E7C86"/>
                </a:solidFill>
                <a:latin typeface="Microsoft JhengHei"/>
              </a:defRPr>
            </a:pPr>
            <a:r>
              <a:rPr sz="1100" b="1">
                <a:solidFill>
                  <a:srgbClr val="0E7C86"/>
                </a:solidFill>
                <a:latin typeface="Microsoft JhengHei"/>
              </a:rP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11091672" cy="786384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399032"/>
            <a:ext cx="1645920" cy="420624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50" b="1">
                <a:solidFill>
                  <a:srgbClr val="FFFFFF"/>
                </a:solidFill>
                <a:latin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</a:rPr>
              <a:t>Agent 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344168"/>
            <a:ext cx="8961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A4A63"/>
                </a:solidFill>
                <a:latin typeface="Microsoft JhengHei"/>
              </a:defRPr>
            </a:pPr>
            <a:r>
              <a:rPr sz="1400">
                <a:solidFill>
                  <a:srgbClr val="3A4A63"/>
                </a:solidFill>
                <a:latin typeface="Microsoft JhengHei"/>
              </a:rPr>
              <a:t>ISO 42001：任務前 Impact Assessment Gate · AIEC：可靠性長時任務測試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75688"/>
            <a:ext cx="11091672" cy="786384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1520" y="2240280"/>
            <a:ext cx="1645920" cy="420624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50" b="1">
                <a:solidFill>
                  <a:srgbClr val="FFFFFF"/>
                </a:solidFill>
                <a:latin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</a:rPr>
              <a:t>LLM Interface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2185416"/>
            <a:ext cx="8961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A4A63"/>
                </a:solidFill>
                <a:latin typeface="Microsoft JhengHei"/>
              </a:defRPr>
            </a:pPr>
            <a:r>
              <a:rPr sz="1400">
                <a:solidFill>
                  <a:srgbClr val="3A4A63"/>
                </a:solidFill>
                <a:latin typeface="Microsoft JhengHei"/>
              </a:rPr>
              <a:t>ISO 42001：模型版本控管/供應商 SLA · OWASP：System Prompt 保護 · ATLAS：模型資訊隱藏 · AIEC：準確性 Benchmark + 在地化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916936"/>
            <a:ext cx="11091672" cy="786384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31520" y="3081528"/>
            <a:ext cx="1645920" cy="420624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50" b="1">
                <a:solidFill>
                  <a:srgbClr val="FFFFFF"/>
                </a:solidFill>
                <a:latin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</a:rPr>
              <a:t>Tool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3026664"/>
            <a:ext cx="8961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A4A63"/>
                </a:solidFill>
                <a:latin typeface="Microsoft JhengHei"/>
              </a:defRPr>
            </a:pPr>
            <a:r>
              <a:rPr sz="1400">
                <a:solidFill>
                  <a:srgbClr val="3A4A63"/>
                </a:solidFill>
                <a:latin typeface="Microsoft JhengHei"/>
              </a:rPr>
              <a:t>ISO 42001：AI BoM (物料清冊) · OWASP：Supply Chain 掃描 · ATLAS：工具簽章驗證 + 沙箱 · AIEC：安全性測試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58184"/>
            <a:ext cx="11091672" cy="786384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31520" y="3922776"/>
            <a:ext cx="1645920" cy="420624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50" b="1">
                <a:solidFill>
                  <a:srgbClr val="FFFFFF"/>
                </a:solidFill>
                <a:latin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</a:rPr>
              <a:t>Memory &amp; State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3867912"/>
            <a:ext cx="8961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A4A63"/>
                </a:solidFill>
                <a:latin typeface="Microsoft JhengHei"/>
              </a:defRPr>
            </a:pPr>
            <a:r>
              <a:rPr sz="1400">
                <a:solidFill>
                  <a:srgbClr val="3A4A63"/>
                </a:solidFill>
                <a:latin typeface="Microsoft JhengHei"/>
              </a:rPr>
              <a:t>ISO 42001：資料分級 + 保留/銷毀政策 · OWASP：Vector Store ACL · ATLAS：記憶完整性掃描 · AIEC：隱私保護 + 公平性審計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599432"/>
            <a:ext cx="11091672" cy="786384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31520" y="4764024"/>
            <a:ext cx="1645920" cy="420624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50" b="1">
                <a:solidFill>
                  <a:srgbClr val="FFFFFF"/>
                </a:solidFill>
                <a:latin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</a:rPr>
              <a:t>Guardrails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4709160"/>
            <a:ext cx="8961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A4A63"/>
                </a:solidFill>
                <a:latin typeface="Microsoft JhengHei"/>
              </a:defRPr>
            </a:pPr>
            <a:r>
              <a:rPr sz="1400">
                <a:solidFill>
                  <a:srgbClr val="3A4A63"/>
                </a:solidFill>
                <a:latin typeface="Microsoft JhengHei"/>
              </a:rPr>
              <a:t>ISO 42001：政策嵌入 System Prompt · OWASP：十大風險全覆蓋 · ATLAS：多層攻擊偵測 + 紅隊 · AIEC：韌性/安全性對抗測試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440680"/>
            <a:ext cx="11091672" cy="786384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31520" y="5605272"/>
            <a:ext cx="1645920" cy="420624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50" b="1">
                <a:solidFill>
                  <a:srgbClr val="FFFFFF"/>
                </a:solidFill>
                <a:latin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</a:rPr>
              <a:t>Observability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5550408"/>
            <a:ext cx="8961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A4A63"/>
                </a:solidFill>
                <a:latin typeface="Microsoft JhengHei"/>
              </a:defRPr>
            </a:pPr>
            <a:r>
              <a:rPr sz="1400">
                <a:solidFill>
                  <a:srgbClr val="3A4A63"/>
                </a:solidFill>
                <a:latin typeface="Microsoft JhengHei"/>
              </a:rPr>
              <a:t>ISO 42001：合規審計報告 · OWASP：安全事件日誌 · ATLAS：威脅偵測告警 · AIEC：Dashboard + 成績單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14400" y="1783080"/>
            <a:ext cx="2194560" cy="438912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</a:rPr>
              <a:t>合 —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231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Microsoft JhengHei"/>
              </a:defRPr>
            </a:pPr>
            <a:r>
              <a:rPr sz="3400" b="1">
                <a:solidFill>
                  <a:srgbClr val="FFFFFF"/>
                </a:solidFill>
                <a:latin typeface="Microsoft JhengHei"/>
              </a:rPr>
              <a:t>實施路線圖與總結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BFDBFE"/>
                </a:solidFill>
                <a:latin typeface="Microsoft JhengHei"/>
              </a:defRPr>
            </a:pPr>
            <a:r>
              <a:rPr sz="1600" b="0">
                <a:solidFill>
                  <a:srgbClr val="BFDBFE"/>
                </a:solidFill>
                <a:latin typeface="Microsoft JhengHei"/>
              </a:rPr>
              <a:t>四階段漸進式導入 · 開放決策問題 · 未來展望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297680"/>
            <a:ext cx="3200400" cy="36576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55680" y="6382512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E7C86"/>
                </a:solidFill>
                <a:latin typeface="Microsoft JhengHei"/>
              </a:defRPr>
            </a:pPr>
            <a:r>
              <a:rPr sz="1100" b="1">
                <a:solidFill>
                  <a:srgbClr val="0E7C86"/>
                </a:solidFill>
                <a:latin typeface="Microsoft JhengHe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1234440" cy="365760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實施規劃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292608"/>
            <a:ext cx="9692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  <a:latin typeface="Microsoft JhengHei"/>
              </a:defRPr>
            </a:pPr>
            <a:r>
              <a:rPr sz="2600" b="1">
                <a:solidFill>
                  <a:srgbClr val="1B2A4A"/>
                </a:solidFill>
                <a:latin typeface="Microsoft JhengHei"/>
              </a:rPr>
              <a:t>四階段實施路線圖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E7C86"/>
                </a:solidFill>
                <a:latin typeface="Microsoft JhengHei"/>
              </a:defRPr>
            </a:pPr>
            <a:r>
              <a:rPr sz="1400" b="0">
                <a:solidFill>
                  <a:srgbClr val="0E7C86"/>
                </a:solidFill>
                <a:latin typeface="Microsoft JhengHei"/>
              </a:rPr>
              <a:t>從基礎合規、威脅防禦、評測體系到紅隊演練的系統化導入里程碑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82512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E7C86"/>
                </a:solidFill>
                <a:latin typeface="Microsoft JhengHei"/>
              </a:defRPr>
            </a:pPr>
            <a:r>
              <a:rPr sz="1100" b="1">
                <a:solidFill>
                  <a:srgbClr val="0E7C86"/>
                </a:solidFill>
                <a:latin typeface="Microsoft JhengHei"/>
              </a:rPr>
              <a:t>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11091672" cy="1170432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77240" y="1380744"/>
            <a:ext cx="1097280" cy="347472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50" b="1">
                <a:solidFill>
                  <a:srgbClr val="FFFFFF"/>
                </a:solidFill>
                <a:latin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</a:rP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344168"/>
            <a:ext cx="9418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1B2A4A"/>
                </a:solidFill>
                <a:latin typeface="Microsoft JhengHei"/>
              </a:defRPr>
            </a:pPr>
            <a:r>
              <a:rPr sz="1650" b="1">
                <a:solidFill>
                  <a:srgbClr val="1B2A4A"/>
                </a:solidFill>
                <a:latin typeface="Microsoft JhengHei"/>
              </a:rPr>
              <a:t>基礎合規框架（第 1-2 月）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673352"/>
            <a:ext cx="9418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3A4A63"/>
                </a:solidFill>
                <a:latin typeface="Microsoft JhengHei"/>
              </a:defRPr>
            </a:pPr>
            <a:r>
              <a:rPr sz="1400">
                <a:solidFill>
                  <a:srgbClr val="3A4A63"/>
                </a:solidFill>
                <a:latin typeface="Microsoft JhengHei"/>
              </a:rPr>
              <a:t>• ISO 42001 AI 政策文件化 + 角色權責矩陣建立</a:t>
            </a:r>
          </a:p>
          <a:p>
            <a:pPr>
              <a:spcAft>
                <a:spcPts val="200"/>
              </a:spcAft>
              <a:defRPr sz="1400">
                <a:solidFill>
                  <a:srgbClr val="3A4A63"/>
                </a:solidFill>
                <a:latin typeface="Microsoft JhengHei"/>
              </a:defRPr>
            </a:pPr>
            <a:r>
              <a:rPr sz="1400">
                <a:solidFill>
                  <a:srgbClr val="3A4A63"/>
                </a:solidFill>
                <a:latin typeface="Microsoft JhengHei"/>
              </a:rPr>
              <a:t>• OWASP Top 10 Guardrails 五層防禦全覆蓋</a:t>
            </a:r>
          </a:p>
          <a:p>
            <a:pPr>
              <a:spcAft>
                <a:spcPts val="200"/>
              </a:spcAft>
              <a:defRPr sz="1400">
                <a:solidFill>
                  <a:srgbClr val="3A4A63"/>
                </a:solidFill>
                <a:latin typeface="Microsoft JhengHei"/>
              </a:defRPr>
            </a:pPr>
            <a:r>
              <a:rPr sz="1400">
                <a:solidFill>
                  <a:srgbClr val="3A4A63"/>
                </a:solidFill>
                <a:latin typeface="Microsoft JhengHei"/>
              </a:rPr>
              <a:t>• AIEC 基礎評測題庫整合 + 基準跑分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78024"/>
            <a:ext cx="11091672" cy="1170432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77240" y="2624328"/>
            <a:ext cx="1097280" cy="347472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50" b="1">
                <a:solidFill>
                  <a:srgbClr val="FFFFFF"/>
                </a:solidFill>
                <a:latin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</a:rPr>
              <a:t>Phase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587752"/>
            <a:ext cx="9418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1B2A4A"/>
                </a:solidFill>
                <a:latin typeface="Microsoft JhengHei"/>
              </a:defRPr>
            </a:pPr>
            <a:r>
              <a:rPr sz="1650" b="1">
                <a:solidFill>
                  <a:srgbClr val="1B2A4A"/>
                </a:solidFill>
                <a:latin typeface="Microsoft JhengHei"/>
              </a:rPr>
              <a:t>威脅防禦深化（第 3-4 月）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916936"/>
            <a:ext cx="9418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3A4A63"/>
                </a:solidFill>
                <a:latin typeface="Microsoft JhengHei"/>
              </a:defRPr>
            </a:pPr>
            <a:r>
              <a:rPr sz="1400">
                <a:solidFill>
                  <a:srgbClr val="3A4A63"/>
                </a:solidFill>
                <a:latin typeface="Microsoft JhengHei"/>
              </a:rPr>
              <a:t>• MITRE ATLAS 威脅建模管線 (Threat Modeling Pipeline) 上線</a:t>
            </a:r>
          </a:p>
          <a:p>
            <a:pPr>
              <a:spcAft>
                <a:spcPts val="200"/>
              </a:spcAft>
              <a:defRPr sz="1400">
                <a:solidFill>
                  <a:srgbClr val="3A4A63"/>
                </a:solidFill>
                <a:latin typeface="Microsoft JhengHei"/>
              </a:defRPr>
            </a:pPr>
            <a:r>
              <a:rPr sz="1400">
                <a:solidFill>
                  <a:srgbClr val="3A4A63"/>
                </a:solidFill>
                <a:latin typeface="Microsoft JhengHei"/>
              </a:rPr>
              <a:t>• Prompt Injection Defense Engine 四層級聯防禦部署</a:t>
            </a:r>
          </a:p>
          <a:p>
            <a:pPr>
              <a:spcAft>
                <a:spcPts val="200"/>
              </a:spcAft>
              <a:defRPr sz="1400">
                <a:solidFill>
                  <a:srgbClr val="3A4A63"/>
                </a:solidFill>
                <a:latin typeface="Microsoft JhengHei"/>
              </a:defRPr>
            </a:pPr>
            <a:r>
              <a:rPr sz="1400">
                <a:solidFill>
                  <a:srgbClr val="3A4A63"/>
                </a:solidFill>
                <a:latin typeface="Microsoft JhengHei"/>
              </a:rPr>
              <a:t>• Output Sanitization Pipeline 五步清洗管線部署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21608"/>
            <a:ext cx="11091672" cy="1170432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77240" y="3867912"/>
            <a:ext cx="1097280" cy="347472"/>
          </a:xfrm>
          <a:prstGeom prst="roundRect">
            <a:avLst/>
          </a:prstGeom>
          <a:solidFill>
            <a:srgbClr val="C889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50" b="1">
                <a:solidFill>
                  <a:srgbClr val="FFFFFF"/>
                </a:solidFill>
                <a:latin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</a:rPr>
              <a:t>Phase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831336"/>
            <a:ext cx="9418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1B2A4A"/>
                </a:solidFill>
                <a:latin typeface="Microsoft JhengHei"/>
              </a:defRPr>
            </a:pPr>
            <a:r>
              <a:rPr sz="1650" b="1">
                <a:solidFill>
                  <a:srgbClr val="1B2A4A"/>
                </a:solidFill>
                <a:latin typeface="Microsoft JhengHei"/>
              </a:rPr>
              <a:t>評測體系建立（第 5-6 月）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160520"/>
            <a:ext cx="9418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3A4A63"/>
                </a:solidFill>
                <a:latin typeface="Microsoft JhengHei"/>
              </a:defRPr>
            </a:pPr>
            <a:r>
              <a:rPr sz="1400">
                <a:solidFill>
                  <a:srgbClr val="3A4A63"/>
                </a:solidFill>
                <a:latin typeface="Microsoft JhengHei"/>
              </a:rPr>
              <a:t>• Evaluation Engine 完整實作（Benchmark Suite + Test Runner + Scorecard）</a:t>
            </a:r>
          </a:p>
          <a:p>
            <a:pPr>
              <a:spcAft>
                <a:spcPts val="200"/>
              </a:spcAft>
              <a:defRPr sz="1400">
                <a:solidFill>
                  <a:srgbClr val="3A4A63"/>
                </a:solidFill>
                <a:latin typeface="Microsoft JhengHei"/>
              </a:defRPr>
            </a:pPr>
            <a:r>
              <a:rPr sz="1400">
                <a:solidFill>
                  <a:srgbClr val="3A4A63"/>
                </a:solidFill>
                <a:latin typeface="Microsoft JhengHei"/>
              </a:rPr>
              <a:t>• AIEC 十大指標自動化評測 + 雷達圖成績單生成</a:t>
            </a:r>
          </a:p>
          <a:p>
            <a:pPr>
              <a:spcAft>
                <a:spcPts val="200"/>
              </a:spcAft>
              <a:defRPr sz="1400">
                <a:solidFill>
                  <a:srgbClr val="3A4A63"/>
                </a:solidFill>
                <a:latin typeface="Microsoft JhengHei"/>
              </a:defRPr>
            </a:pPr>
            <a:r>
              <a:rPr sz="1400">
                <a:solidFill>
                  <a:srgbClr val="3A4A63"/>
                </a:solidFill>
                <a:latin typeface="Microsoft JhengHei"/>
              </a:rPr>
              <a:t>• A/B 模型對比測試 + 回歸測試自動化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65192"/>
            <a:ext cx="11091672" cy="1170432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77240" y="5111496"/>
            <a:ext cx="1097280" cy="347472"/>
          </a:xfrm>
          <a:prstGeom prst="roundRect">
            <a:avLst/>
          </a:prstGeom>
          <a:solidFill>
            <a:srgbClr val="B33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50" b="1">
                <a:solidFill>
                  <a:srgbClr val="FFFFFF"/>
                </a:solidFill>
                <a:latin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</a:rPr>
              <a:t>Phase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5074920"/>
            <a:ext cx="9418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1B2A4A"/>
                </a:solidFill>
                <a:latin typeface="Microsoft JhengHei"/>
              </a:defRPr>
            </a:pPr>
            <a:r>
              <a:rPr sz="1650" b="1">
                <a:solidFill>
                  <a:srgbClr val="1B2A4A"/>
                </a:solidFill>
                <a:latin typeface="Microsoft JhengHei"/>
              </a:rPr>
              <a:t>紅隊與持續改善（第 7 月起）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5404104"/>
            <a:ext cx="9418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3A4A63"/>
                </a:solidFill>
                <a:latin typeface="Microsoft JhengHei"/>
              </a:defRPr>
            </a:pPr>
            <a:r>
              <a:rPr sz="1400">
                <a:solidFill>
                  <a:srgbClr val="3A4A63"/>
                </a:solidFill>
                <a:latin typeface="Microsoft JhengHei"/>
              </a:rPr>
              <a:t>• Red Team Simulation Module 每季全攻擊面掃描</a:t>
            </a:r>
          </a:p>
          <a:p>
            <a:pPr>
              <a:spcAft>
                <a:spcPts val="200"/>
              </a:spcAft>
              <a:defRPr sz="1400">
                <a:solidFill>
                  <a:srgbClr val="3A4A63"/>
                </a:solidFill>
                <a:latin typeface="Microsoft JhengHei"/>
              </a:defRPr>
            </a:pPr>
            <a:r>
              <a:rPr sz="1400">
                <a:solidFill>
                  <a:srgbClr val="3A4A63"/>
                </a:solidFill>
                <a:latin typeface="Microsoft JhengHei"/>
              </a:rPr>
              <a:t>• 持續監控告警 + 異常行為斷路器</a:t>
            </a:r>
          </a:p>
          <a:p>
            <a:pPr>
              <a:spcAft>
                <a:spcPts val="200"/>
              </a:spcAft>
              <a:defRPr sz="1400">
                <a:solidFill>
                  <a:srgbClr val="3A4A63"/>
                </a:solidFill>
                <a:latin typeface="Microsoft JhengHei"/>
              </a:defRPr>
            </a:pPr>
            <a:r>
              <a:rPr sz="1400">
                <a:solidFill>
                  <a:srgbClr val="3A4A63"/>
                </a:solidFill>
                <a:latin typeface="Microsoft JhengHei"/>
              </a:rPr>
              <a:t>• ISO 42001 年度內稽準備 + Annex A 控制措施全量自評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89120" y="1463040"/>
            <a:ext cx="3410712" cy="420624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</a:rPr>
              <a:t>AI Agent Harness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48840"/>
            <a:ext cx="9445752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000" b="1">
                <a:solidFill>
                  <a:srgbClr val="FFFFFF"/>
                </a:solidFill>
                <a:latin typeface="Microsoft JhengHei"/>
              </a:defRPr>
            </a:pPr>
            <a:r>
              <a:rPr sz="5000" b="1">
                <a:solidFill>
                  <a:srgbClr val="FFFFFF"/>
                </a:solidFill>
                <a:latin typeface="Microsoft JhengHe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337560"/>
            <a:ext cx="94457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93C5FD"/>
                </a:solidFill>
                <a:latin typeface="Microsoft JhengHei"/>
              </a:defRPr>
            </a:pPr>
            <a:r>
              <a:rPr sz="2000" b="0">
                <a:solidFill>
                  <a:srgbClr val="93C5FD"/>
                </a:solidFill>
                <a:latin typeface="Microsoft JhengHei"/>
              </a:rPr>
              <a:t>企業級 AI 代理運行時基礎框架需求規格書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4160520"/>
            <a:ext cx="9445752" cy="731520"/>
          </a:xfrm>
          <a:prstGeom prst="roundRect">
            <a:avLst/>
          </a:prstGeom>
          <a:solidFill>
            <a:srgbClr val="132247"/>
          </a:solidFill>
          <a:ln w="1270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54480" y="4279392"/>
            <a:ext cx="907999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50" b="1">
                <a:solidFill>
                  <a:srgbClr val="BFDBFE"/>
                </a:solidFill>
                <a:latin typeface="Microsoft JhengHei"/>
              </a:defRPr>
            </a:pPr>
            <a:r>
              <a:rPr sz="1550" b="1">
                <a:solidFill>
                  <a:srgbClr val="BFDBFE"/>
                </a:solidFill>
                <a:latin typeface="Microsoft JhengHei"/>
              </a:rPr>
              <a:t>七大核心組成 × 深度工程規劃 × 合規安全框架 × AI 評測驗證體系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60F32E30-B69C-0152-CA6E-629873B452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0FF167AD-5C82-407E-807B-86DF620CDD3E}"/>
              </a:ext>
            </a:extLst>
          </p:cNvPr>
          <p:cNvSpPr/>
          <p:nvPr/>
        </p:nvSpPr>
        <p:spPr>
          <a:xfrm>
            <a:off x="582930" y="3874770"/>
            <a:ext cx="1783080" cy="51435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706C223-7BF7-96E1-B32E-04FBE293DEAE}"/>
              </a:ext>
            </a:extLst>
          </p:cNvPr>
          <p:cNvSpPr/>
          <p:nvPr/>
        </p:nvSpPr>
        <p:spPr>
          <a:xfrm>
            <a:off x="6777990" y="6183630"/>
            <a:ext cx="1211580" cy="182880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E293793-8B2E-3DF5-2FC3-D8CAC9EE2FC0}"/>
              </a:ext>
            </a:extLst>
          </p:cNvPr>
          <p:cNvSpPr txBox="1"/>
          <p:nvPr/>
        </p:nvSpPr>
        <p:spPr>
          <a:xfrm>
            <a:off x="7063621" y="6112371"/>
            <a:ext cx="8931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lang="zh-TW" altLang="en-US" sz="1200" b="1" dirty="0">
                <a:ln w="0">
                  <a:noFill/>
                </a:ln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紅隊演練</a:t>
            </a:r>
          </a:p>
        </p:txBody>
      </p:sp>
    </p:spTree>
    <p:extLst>
      <p:ext uri="{BB962C8B-B14F-4D97-AF65-F5344CB8AC3E}">
        <p14:creationId xmlns:p14="http://schemas.microsoft.com/office/powerpoint/2010/main" val="42823164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A1430198-405F-D648-3934-A37FB50409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1040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4264</Words>
  <Application>Microsoft Office PowerPoint</Application>
  <PresentationFormat>寬螢幕</PresentationFormat>
  <Paragraphs>657</Paragraphs>
  <Slides>28</Slides>
  <Notes>28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28</vt:i4>
      </vt:variant>
    </vt:vector>
  </HeadingPairs>
  <TitlesOfParts>
    <vt:vector size="33" baseType="lpstr">
      <vt:lpstr>Microsoft JhengHei</vt:lpstr>
      <vt:lpstr>Microsoft JhengHei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Eddy Yang</cp:lastModifiedBy>
  <cp:revision>4</cp:revision>
  <dcterms:created xsi:type="dcterms:W3CDTF">2013-01-27T09:14:16Z</dcterms:created>
  <dcterms:modified xsi:type="dcterms:W3CDTF">2026-09-03T17:20:04Z</dcterms:modified>
  <cp:category/>
</cp:coreProperties>
</file>