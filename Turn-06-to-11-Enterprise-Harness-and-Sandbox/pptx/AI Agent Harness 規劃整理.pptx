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295" r:id="rId3"/>
    <p:sldId id="296" r:id="rId4"/>
    <p:sldId id="271" r:id="rId5"/>
    <p:sldId id="270" r:id="rId6"/>
    <p:sldId id="273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78" d="100"/>
          <a:sy n="78" d="100"/>
        </p:scale>
        <p:origin x="4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dy Yang" userId="1f0b79fb7eaff299" providerId="LiveId" clId="{8688A8B5-E7F2-4C53-BD56-D16A17F04718}"/>
    <pc:docChg chg="delSld">
      <pc:chgData name="Eddy Yang" userId="1f0b79fb7eaff299" providerId="LiveId" clId="{8688A8B5-E7F2-4C53-BD56-D16A17F04718}" dt="2026-09-16T21:48:13.370" v="0" actId="47"/>
      <pc:docMkLst>
        <pc:docMk/>
      </pc:docMkLst>
      <pc:sldChg chg="del">
        <pc:chgData name="Eddy Yang" userId="1f0b79fb7eaff299" providerId="LiveId" clId="{8688A8B5-E7F2-4C53-BD56-D16A17F04718}" dt="2026-09-16T21:48:13.370" v="0" actId="47"/>
        <pc:sldMkLst>
          <pc:docMk/>
          <pc:sldMk cId="2904801632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422D0E-0980-453F-A943-49A9953D3122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941EA-AF01-4857-8766-C47B4741EB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1446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注入</a:t>
            </a:r>
            <a:r>
              <a:rPr lang="en-US" altLang="zh-TW" dirty="0"/>
              <a:t>(LLM 01)</a:t>
            </a:r>
            <a:r>
              <a:rPr lang="zh-TW" altLang="en-US" dirty="0"/>
              <a:t>：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直接注入（越獄 Jailbreak）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間接注入（RAG 檢索文檔夾帶隱藏指令）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越權</a:t>
            </a:r>
            <a:r>
              <a:rPr lang="en-US" altLang="zh-TW" sz="12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(LLM 07)</a:t>
            </a:r>
            <a:r>
              <a:rPr lang="zh-TW" altLang="en-US" sz="12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使用者藉由話術誘導模型印出完整 System Prompt 或內部架構規則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越權</a:t>
            </a:r>
            <a:r>
              <a:rPr lang="en-US" altLang="zh-TW" sz="12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(LLM 06)</a:t>
            </a:r>
            <a:r>
              <a:rPr lang="zh-TW" altLang="en-US" sz="12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自主執行高風險動作（刪庫、轉帳、發信）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呼叫未授權之工具 API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汙染</a:t>
            </a:r>
            <a:r>
              <a:rPr lang="en-US" altLang="zh-TW" dirty="0"/>
              <a:t>(LLM</a:t>
            </a:r>
            <a:r>
              <a:rPr lang="zh-TW" altLang="en-US" dirty="0"/>
              <a:t> </a:t>
            </a:r>
            <a:r>
              <a:rPr lang="en-US" altLang="zh-TW" dirty="0"/>
              <a:t>04)</a:t>
            </a:r>
            <a:r>
              <a:rPr lang="zh-TW" altLang="en-US" dirty="0"/>
              <a:t>：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RAG 知識庫資料被植入惡意後門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微調訓練語料被惡意污染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Dos(LLM 10)</a:t>
            </a:r>
            <a:r>
              <a:rPr lang="zh-TW" altLang="en-US" dirty="0"/>
              <a:t>：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超長上下文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迴圈失控（Loop Storm）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 額度遭惡意刷爆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機敏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(LLM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02)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模型吐出訓練資料中的 PII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內部憑證、API Key、密碼洩漏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跨權限洩漏高密級資料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幻覺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(LLM 09)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：生成捏造的事實、虛假法規、危險操作指令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可執行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(LLM 05)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模型生成惡意 JS (XSS)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生成 SQL 隱碼、系統命令注入 (RCE)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SSRF 請求攻擊內部網絡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============================================================================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RAG(LLM 08)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跨租戶檢索污染（Tenant Cross-talk）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向量資料庫操縱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供應鍊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(LLM 03)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第三方依賴套件漏洞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惡意微調權重 (LoRA 投毒)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外部外掛程式 (Plugin) 遭劫持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=============================================================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劫持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(ASI01)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間接注入竄改代理人的原始目標或規劃（如誘導其偏離任務去抓取其他資料）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工具濫用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(ASI02)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合法工具（API、SQL、Shell）被惡意組裝調用，造成邏輯漏洞或非預期外部請求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失控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(ASI03, ASI10)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繼承過高權限或冒用系統憑證，執行越權操作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脫離設定範圍、在網路中探索敏感資源或偽裝正常行為進行破壞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死迴圈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(ASI08)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單一 Agent 錯誤傳播，引發代理人網路死循環、無限遞迴或分散式 DoS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5" name="Google Shape;6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本頁重點在於「同一筆請求依序經過兩者」。Portal 在使用者按下送出之前就完成工作（②③），Gateway 在送出之後才開始工作（④起）。因此 Portal 的失效是「使用者體驗與一致性」問題，Gateway 的失效是「資安事故」問題，兩者風險等級不同，投資順序亦應不同。</a:t>
            </a:r>
            <a:endParaRPr/>
          </a:p>
        </p:txBody>
      </p:sp>
      <p:sp>
        <p:nvSpPr>
          <p:cNvPr id="119" name="Google Shape;119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OPA (Open Policy Agent)</a:t>
            </a:r>
            <a:r>
              <a:rPr lang="zh-TW" altLang="en-US" dirty="0"/>
              <a:t> 是一個開源且通用的「政策引擎」，而它的政策（</a:t>
            </a:r>
            <a:r>
              <a:rPr lang="en-US" altLang="zh-TW" dirty="0"/>
              <a:t>Policy</a:t>
            </a:r>
            <a:r>
              <a:rPr lang="zh-TW" altLang="en-US" dirty="0"/>
              <a:t>）是用來定義誰有權限存取什麼資源、哪些設定符合安全規範的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規則檔案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2AD113-872C-4A7B-A499-0360F2B87D5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226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192F86-2673-5BC4-396C-108E32E87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66FC99D-B8EC-C83E-218B-8E5BE8F93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F56CF9-7C3F-300F-EC80-6675F1E02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D94E-30EE-4940-BA98-7CE0B90D6FB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6DE81F-2AE5-480C-3BAC-9B5DA0B13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62D146-FE46-C1D5-5261-C4933C0F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1B4F-9C9E-4B33-8E77-BC649891CA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212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003747-430E-46A1-10CB-06D2AF3B9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7F9F00-D853-CA7A-ADD8-5BC8A70EB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DFA8A1-02A3-5324-6BFE-AEE82AD9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D94E-30EE-4940-BA98-7CE0B90D6FB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27DEBB-C89C-9DA4-C1C6-4ACA8C476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14D201-3994-70E2-A409-CB75C51CE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1B4F-9C9E-4B33-8E77-BC649891CA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7625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4BE106-2F6B-5130-C589-80E80818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47F96E1-A125-CF00-1CEC-A8C6E8791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1B7394-7A49-E6AB-3FD4-ABC807A67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D94E-30EE-4940-BA98-7CE0B90D6FB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E41827-1DAB-2623-5ABE-CFC8622C9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2AA045-4554-3132-9279-8DBCF22EE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1B4F-9C9E-4B33-8E77-BC649891CA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5274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EFE422-D189-BA8B-7F1D-2A483EC4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8C867A-511A-D44A-B35D-C8D35164E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DF7829A-7B39-43BC-5354-2B910AA6B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83772D5-D56F-6073-E7D7-CE0FA00AA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D94E-30EE-4940-BA98-7CE0B90D6FB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335DB95-F9C2-A55E-0010-E884851A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F92182-A6DA-9826-DA89-B760AC22A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1B4F-9C9E-4B33-8E77-BC649891CA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2992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28E98E-3057-4A8E-B115-837305777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FD804AB-55E5-9260-01D4-C47ED4285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019AE4-2572-C93C-3FF4-E42FBF28E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7B86D82-6328-1B3A-33CF-4AFA697F26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BCB0366-69B5-0DDD-EBB9-3E34F57DB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7819C23-6986-801D-21D8-268A01F6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D94E-30EE-4940-BA98-7CE0B90D6FB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53F0025-4796-43E9-42D7-4CE39BC8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D0541D5-683D-AC62-A80B-63EFD5847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1B4F-9C9E-4B33-8E77-BC649891CA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502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A804C5-53B4-C204-9CB4-E9045885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66B991D-02E1-8F0A-7F30-DEC77C566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D94E-30EE-4940-BA98-7CE0B90D6FB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EBF9D37-554E-E120-C0E0-5A39F69EF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2FA0769-D368-58C0-C6DE-E90FB44D1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1B4F-9C9E-4B33-8E77-BC649891CA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0631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F76573C-49E5-C08F-60F5-C40B5F20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D94E-30EE-4940-BA98-7CE0B90D6FB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8F33BC9-1B45-EAEF-DE1F-AA850987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C7EEE7-C038-539B-F780-A6D7AB467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1B4F-9C9E-4B33-8E77-BC649891CA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40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856F7E-FB77-0B0B-4807-BAEAD94D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8541FD-6775-E65B-A616-129EF4C1D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F604F84-E582-EE09-22B9-5BEF06CC7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6C3A76A-FBAD-F48F-E4A4-048A52C4C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D94E-30EE-4940-BA98-7CE0B90D6FB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8480522-675C-3E71-8C27-AF47DBFB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F0FDECC-E628-0AD3-5527-7778DE3E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1B4F-9C9E-4B33-8E77-BC649891CA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53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1D4B17-A3B8-50DE-7157-6803424A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84350AD-F44F-8924-5506-BCFC389DF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9B46226-8FFC-FF07-DB61-F96A91855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6AF5D8-903F-BCEF-933D-B2B090E68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D94E-30EE-4940-BA98-7CE0B90D6FB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959E29-AB5A-0652-FA27-4E12EC11D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DB3CC1-67E3-B3A0-3851-70C382332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1B4F-9C9E-4B33-8E77-BC649891CA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1734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9AF4B8-5AFC-3C08-BE81-C68EAE13D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7E9FC5B-3653-7C9D-2E71-990967158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8776CE-B0A4-32A9-FA7B-D539EBA7E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D94E-30EE-4940-BA98-7CE0B90D6FB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CB63CB-E3FB-56EF-839B-625E23EA4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6CCAAB-4FD5-0178-469D-C3C457EBF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1B4F-9C9E-4B33-8E77-BC649891CA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2122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B8FBA47-934C-5851-B632-F3F8D7F8C3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1B3A1DD-3F0D-7C0C-A630-92D10F9DC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62ECA1-E289-59EB-9701-24F12A6F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D94E-30EE-4940-BA98-7CE0B90D6FB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483C31-78FA-47C8-9FE8-8FA047419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342391-1660-8A66-7891-3139E98D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1B4F-9C9E-4B33-8E77-BC649891CA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5522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267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089E58A-D177-2236-09F2-FB35A64BC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5B6C115-C1C9-2F1C-3AD4-140E6F454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11794F-CE1B-7E4F-C8C6-3E606F2B52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7D94E-30EE-4940-BA98-7CE0B90D6FB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B2A3C6-08EC-CD06-E2DB-8BB392082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133AB7-EC55-8FB3-F7BD-3A7FE1C61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71B4F-9C9E-4B33-8E77-BC649891CA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837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292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/>
        </p:nvSpPr>
        <p:spPr>
          <a:xfrm>
            <a:off x="502920" y="329184"/>
            <a:ext cx="111831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Microsoft JhengHei"/>
              <a:buNone/>
              <a:tabLst/>
              <a:defRPr/>
            </a:pPr>
            <a:r>
              <a:rPr kumimoji="0" lang="zh-TW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院內使用場景</a:t>
            </a:r>
            <a:r>
              <a:rPr kumimoji="0" lang="en-US" altLang="zh-TW" sz="3000" b="1" i="0" u="none" strike="noStrike" kern="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kumimoji="0" lang="zh-TW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如何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守住 AI</a:t>
            </a:r>
            <a:r>
              <a:rPr kumimoji="0" lang="en-US" altLang="zh-TW" sz="3000" b="1" i="0" u="none" strike="noStrike" kern="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kumimoji="0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02920" y="1090314"/>
            <a:ext cx="2679192" cy="384048"/>
          </a:xfrm>
          <a:prstGeom prst="roundRect">
            <a:avLst>
              <a:gd name="adj" fmla="val 19048"/>
            </a:avLst>
          </a:prstGeom>
          <a:solidFill>
            <a:srgbClr val="F2F5F9"/>
          </a:solidFill>
          <a:ln w="9525" cap="flat" cmpd="sng">
            <a:solidFill>
              <a:srgbClr val="D8D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502920" y="1090314"/>
            <a:ext cx="2679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200"/>
              <a:buFont typeface="Microsoft JhengHei"/>
              <a:buNone/>
              <a:tabLst/>
              <a:defRPr/>
            </a:pP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2262E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行政管理部門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364992" y="1090314"/>
            <a:ext cx="2679192" cy="384048"/>
          </a:xfrm>
          <a:prstGeom prst="roundRect">
            <a:avLst>
              <a:gd name="adj" fmla="val 19048"/>
            </a:avLst>
          </a:prstGeom>
          <a:solidFill>
            <a:srgbClr val="F2F5F9"/>
          </a:solidFill>
          <a:ln w="9525" cap="flat" cmpd="sng">
            <a:solidFill>
              <a:srgbClr val="D8D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3364992" y="1090314"/>
            <a:ext cx="2679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200"/>
              <a:buFont typeface="Microsoft JhengHei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2262E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各所中心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227064" y="1090314"/>
            <a:ext cx="2679192" cy="384048"/>
          </a:xfrm>
          <a:prstGeom prst="roundRect">
            <a:avLst>
              <a:gd name="adj" fmla="val 19048"/>
            </a:avLst>
          </a:prstGeom>
          <a:solidFill>
            <a:srgbClr val="F2F5F9"/>
          </a:solidFill>
          <a:ln w="9525" cap="flat" cmpd="sng">
            <a:solidFill>
              <a:srgbClr val="D8D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6227064" y="1090314"/>
            <a:ext cx="2679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200"/>
              <a:buFont typeface="Microsoft JhengHei"/>
              <a:buNone/>
              <a:tabLst/>
              <a:defRPr/>
            </a:pP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2262E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計畫單位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9089136" y="1090314"/>
            <a:ext cx="2679192" cy="384048"/>
          </a:xfrm>
          <a:prstGeom prst="roundRect">
            <a:avLst>
              <a:gd name="adj" fmla="val 19048"/>
            </a:avLst>
          </a:prstGeom>
          <a:solidFill>
            <a:srgbClr val="F2F5F9"/>
          </a:solidFill>
          <a:ln w="9525" cap="flat" cmpd="sng">
            <a:solidFill>
              <a:srgbClr val="D8D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9089136" y="1090314"/>
            <a:ext cx="2679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200"/>
              <a:buFont typeface="Microsoft JhengHei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2262E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紅隊／稽核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02920" y="1657242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822960" y="165724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icrosoft JhengHei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AI Portal（大廳櫃台）　</a:t>
            </a:r>
            <a:r>
              <a:rPr kumimoji="0" lang="zh-TW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7D5E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單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7D5E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一入口：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C7D5E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誰能用、能用哪些工具、用得如何，一目了然</a:t>
            </a:r>
            <a:r>
              <a: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C7D5E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C7D5E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C7D5E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身分、部門、授權、日誌、監控</a:t>
            </a: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C7D5E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02920" y="2443626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0E7C86"/>
          </a:solidFill>
          <a:ln w="12700" cap="flat" cmpd="sng">
            <a:solidFill>
              <a:srgbClr val="0E7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822960" y="2443626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Control Gateway（門禁閘門）　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D2EAEC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唯一通道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02920" y="4044531"/>
            <a:ext cx="2093976" cy="1207008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 w="9525" cap="flat" cmpd="sng">
            <a:solidFill>
              <a:srgbClr val="D8D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49224" y="4190835"/>
            <a:ext cx="384048" cy="384048"/>
          </a:xfrm>
          <a:prstGeom prst="ellipse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649224" y="419083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icrosoft JhengHei"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L1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649224" y="4648035"/>
            <a:ext cx="18013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icrosoft JhengHei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通用大模型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649224" y="4922355"/>
            <a:ext cx="18013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Microsoft JhengHei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外購的通用大腦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779776" y="4044531"/>
            <a:ext cx="2093976" cy="1207008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 w="9525" cap="flat" cmpd="sng">
            <a:solidFill>
              <a:srgbClr val="D8D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926080" y="4190835"/>
            <a:ext cx="384048" cy="384048"/>
          </a:xfrm>
          <a:prstGeom prst="ellipse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2926080" y="419083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icrosoft JhengHei"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L2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2926080" y="4648035"/>
            <a:ext cx="18013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icrosoft JhengHei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專用領域模型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2926080" y="4922355"/>
            <a:ext cx="18013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Microsoft JhengHei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本院</a:t>
            </a: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語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料調校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056632" y="4044531"/>
            <a:ext cx="2093976" cy="1207008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 w="9525" cap="flat" cmpd="sng">
            <a:solidFill>
              <a:srgbClr val="D8D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202936" y="4190835"/>
            <a:ext cx="384048" cy="384048"/>
          </a:xfrm>
          <a:prstGeom prst="ellipse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5202936" y="419083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icrosoft JhengHei"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L3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5202936" y="4648035"/>
            <a:ext cx="18013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icrosoft JhengHei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AI Agent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5202936" y="4922355"/>
            <a:ext cx="18013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Microsoft JhengHei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會自己動手</a:t>
            </a: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做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事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7333488" y="4044531"/>
            <a:ext cx="2093976" cy="1207008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 w="9525" cap="flat" cmpd="sng">
            <a:solidFill>
              <a:srgbClr val="D8D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7479792" y="4190835"/>
            <a:ext cx="384048" cy="384048"/>
          </a:xfrm>
          <a:prstGeom prst="ellipse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7479792" y="419083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icrosoft JhengHei"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L4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7479792" y="4648035"/>
            <a:ext cx="18013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icrosoft JhengHei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技能與工具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7479792" y="4922355"/>
            <a:ext cx="18013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Microsoft JhengHei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Agent </a:t>
            </a: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可用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的工具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9610344" y="4044531"/>
            <a:ext cx="2093976" cy="1207008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 w="9525" cap="flat" cmpd="sng">
            <a:solidFill>
              <a:srgbClr val="D8D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756648" y="4190835"/>
            <a:ext cx="384048" cy="384048"/>
          </a:xfrm>
          <a:prstGeom prst="ellipse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9756648" y="419083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icrosoft JhengHei"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L5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9756648" y="4648035"/>
            <a:ext cx="18013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icrosoft JhengHei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院內知識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9756648" y="4922355"/>
            <a:ext cx="18013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Microsoft JhengHei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Agent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能查的資料櫃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02920" y="5416131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FBF2E1"/>
          </a:solidFill>
          <a:ln w="12700" cap="flat" cmpd="sng">
            <a:solidFill>
              <a:srgbClr val="C889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822960" y="5416131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D0C"/>
              </a:buClr>
              <a:buSzPts val="1350"/>
              <a:buFont typeface="Microsoft JhengHei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8A5D0C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Harness 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5D0C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治理外框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8A5D0C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（</a:t>
            </a:r>
            <a:r>
              <a:rPr kumimoji="0" lang="zh-TW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8A5D0C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隨行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5D0C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保全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8A5D0C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）</a:t>
            </a: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5320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貫穿全生命週期，確保 </a:t>
            </a: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6B5320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Agent </a:t>
            </a: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5320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每一步推論與工具調用均在可控邊界內執行。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84632" y="6195147"/>
            <a:ext cx="3648456" cy="402336"/>
          </a:xfrm>
          <a:prstGeom prst="roundRect">
            <a:avLst>
              <a:gd name="adj" fmla="val 13636"/>
            </a:avLst>
          </a:prstGeom>
          <a:solidFill>
            <a:srgbClr val="EAF3F4"/>
          </a:solidFill>
          <a:ln w="9525" cap="flat" cmpd="sng">
            <a:solidFill>
              <a:srgbClr val="B9D6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502920" y="6222882"/>
            <a:ext cx="364845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555C"/>
              </a:buClr>
              <a:buSzPts val="1100"/>
              <a:buFont typeface="Microsoft JhengHei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0555C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資料邊界　院內實體隔離網域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251960" y="6195147"/>
            <a:ext cx="3648456" cy="402336"/>
          </a:xfrm>
          <a:prstGeom prst="roundRect">
            <a:avLst>
              <a:gd name="adj" fmla="val 13636"/>
            </a:avLst>
          </a:prstGeom>
          <a:solidFill>
            <a:srgbClr val="EAF3F4"/>
          </a:solidFill>
          <a:ln w="9525" cap="flat" cmpd="sng">
            <a:solidFill>
              <a:srgbClr val="B9D6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4270248" y="6222882"/>
            <a:ext cx="364845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555C"/>
              </a:buClr>
              <a:buSzPts val="1100"/>
              <a:buFont typeface="Microsoft JhengHei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0555C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資料邊界　Diode 單向交換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8019288" y="6195147"/>
            <a:ext cx="3648456" cy="402336"/>
          </a:xfrm>
          <a:prstGeom prst="roundRect">
            <a:avLst>
              <a:gd name="adj" fmla="val 13636"/>
            </a:avLst>
          </a:prstGeom>
          <a:solidFill>
            <a:srgbClr val="EAF3F4"/>
          </a:solidFill>
          <a:ln w="9525" cap="flat" cmpd="sng">
            <a:solidFill>
              <a:srgbClr val="B9D6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037576" y="6222882"/>
            <a:ext cx="364845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555C"/>
              </a:buClr>
              <a:buSzPts val="1100"/>
              <a:buFont typeface="Microsoft JhengHei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0555C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資料邊界　雲端 VPC 數位圍籬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3047163" y="2965560"/>
            <a:ext cx="60943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 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047163" y="2965560"/>
            <a:ext cx="60943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 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76;p3">
            <a:extLst>
              <a:ext uri="{FF2B5EF4-FFF2-40B4-BE49-F238E27FC236}">
                <a16:creationId xmlns:a16="http://schemas.microsoft.com/office/drawing/2014/main" id="{7762EF4F-DB91-4960-AE4A-8EA9DE2CCA13}"/>
              </a:ext>
            </a:extLst>
          </p:cNvPr>
          <p:cNvSpPr/>
          <p:nvPr/>
        </p:nvSpPr>
        <p:spPr>
          <a:xfrm>
            <a:off x="526131" y="3247627"/>
            <a:ext cx="11183112" cy="658368"/>
          </a:xfrm>
          <a:prstGeom prst="roundRect">
            <a:avLst>
              <a:gd name="adj" fmla="val 8333"/>
            </a:avLst>
          </a:prstGeom>
          <a:solidFill>
            <a:schemeClr val="accent6">
              <a:lumMod val="75000"/>
            </a:schemeClr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2" name="Google Shape;77;p3">
            <a:extLst>
              <a:ext uri="{FF2B5EF4-FFF2-40B4-BE49-F238E27FC236}">
                <a16:creationId xmlns:a16="http://schemas.microsoft.com/office/drawing/2014/main" id="{E4AF61D2-BDCA-459B-BDA6-88A4BD993491}"/>
              </a:ext>
            </a:extLst>
          </p:cNvPr>
          <p:cNvSpPr txBox="1"/>
          <p:nvPr/>
        </p:nvSpPr>
        <p:spPr>
          <a:xfrm>
            <a:off x="846171" y="3247627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Guardrail（</a:t>
            </a:r>
            <a:r>
              <a:rPr kumimoji="0" lang="zh-TW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層層護欄</a:t>
            </a: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） </a:t>
            </a:r>
            <a:r>
              <a:rPr kumimoji="0" lang="zh-TW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  </a:t>
            </a:r>
            <a:r>
              <a:rPr kumimoji="0" lang="zh-TW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/>
                <a:sym typeface="Microsoft JhengHei"/>
              </a:rPr>
              <a:t>突破 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/>
                <a:sym typeface="Microsoft JhengHei"/>
              </a:rPr>
              <a:t>LLM </a:t>
            </a:r>
            <a:r>
              <a:rPr kumimoji="0" lang="zh-TW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/>
                <a:sym typeface="Microsoft JhengHei"/>
              </a:rPr>
              <a:t>概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率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本質</a:t>
            </a:r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63D8450-C3DC-AEE2-2746-E43251A97FD3}"/>
              </a:ext>
            </a:extLst>
          </p:cNvPr>
          <p:cNvSpPr txBox="1"/>
          <p:nvPr/>
        </p:nvSpPr>
        <p:spPr>
          <a:xfrm>
            <a:off x="4690755" y="2571149"/>
            <a:ext cx="6657066" cy="461665"/>
          </a:xfrm>
          <a:prstGeom prst="rect">
            <a:avLst/>
          </a:prstGeom>
          <a:solidFill>
            <a:srgbClr val="0E7C86"/>
          </a:solidFill>
        </p:spPr>
        <p:txBody>
          <a:bodyPr wrap="square">
            <a:spAutoFit/>
          </a:bodyPr>
          <a:lstStyle/>
          <a:p>
            <a:pPr marL="84138" marR="0" lvl="0" indent="-841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四階資料處理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清洗、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DLP/PII 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檢核、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DISA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IL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1/2/4/6 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分級、存取控制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</a:p>
          <a:p>
            <a:pPr marL="84138" marR="0" lvl="0" indent="-841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每一次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 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呼叫都要通過檢查，不合規當場攔下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(API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、路由、流量、歸屬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86E9C69-4F13-324D-DEEE-3A202A57B1A6}"/>
              </a:ext>
            </a:extLst>
          </p:cNvPr>
          <p:cNvSpPr txBox="1"/>
          <p:nvPr/>
        </p:nvSpPr>
        <p:spPr>
          <a:xfrm>
            <a:off x="4732958" y="3353999"/>
            <a:ext cx="70353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138" marR="0" lvl="0" indent="-841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Arial" panose="020B0604020202020204" pitchFamily="34" charset="0"/>
              </a:rPr>
              <a:t> 收斂為可驗證、可稽核之確定性行為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Microsoft JhengHei" pitchFamily="34" charset="-120"/>
              </a:rPr>
              <a:t>(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Microsoft JhengHei" pitchFamily="34" charset="-120"/>
              </a:rPr>
              <a:t>輸入、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Microsoft JhengHei" pitchFamily="34" charset="-120"/>
              </a:rPr>
              <a:t>RAG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Microsoft JhengHei" pitchFamily="34" charset="-120"/>
              </a:rPr>
              <a:t>、動作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Microsoft JhengHei" pitchFamily="34" charset="-120"/>
              </a:rPr>
              <a:t>/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Microsoft JhengHei" pitchFamily="34" charset="-120"/>
              </a:rPr>
              <a:t>工具、行為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Microsoft JhengHei" pitchFamily="34" charset="-120"/>
              </a:rPr>
              <a:t>/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Microsoft JhengHei" pitchFamily="34" charset="-120"/>
              </a:rPr>
              <a:t>迴圈、輸出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Microsoft JhengHei" pitchFamily="34" charset="-120"/>
              </a:rPr>
              <a:t>)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84138" marR="0" lvl="0" indent="-841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Arial" panose="020B0604020202020204" pitchFamily="34" charset="0"/>
              </a:rPr>
              <a:t>OWASP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Arial" panose="020B0604020202020204" pitchFamily="34" charset="0"/>
              </a:rPr>
              <a:t>Top 10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Arial" panose="020B0604020202020204" pitchFamily="34" charset="0"/>
              </a:rPr>
              <a:t>：注入、越權、污染、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Arial" panose="020B0604020202020204" pitchFamily="34" charset="0"/>
              </a:rPr>
              <a:t>Dos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Arial" panose="020B0604020202020204" pitchFamily="34" charset="0"/>
              </a:rPr>
              <a:t>、機敏、幻覺、可執行、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Arial" panose="020B0604020202020204" pitchFamily="34" charset="0"/>
              </a:rPr>
              <a:t>劫持、濫用、失控、死迴圈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Arial" panose="020B0604020202020204" pitchFamily="34" charset="0"/>
              </a:rPr>
              <a:t>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/>
        </p:nvSpPr>
        <p:spPr>
          <a:xfrm>
            <a:off x="640080" y="329184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Microsoft JhengHe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使用者資料流全景</a:t>
            </a:r>
            <a:endParaRPr kumimoji="0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40080" y="1481328"/>
            <a:ext cx="1325880" cy="804672"/>
          </a:xfrm>
          <a:prstGeom prst="roundRect">
            <a:avLst>
              <a:gd name="adj" fmla="val 5682"/>
            </a:avLst>
          </a:prstGeom>
          <a:solidFill>
            <a:srgbClr val="EAEEF4"/>
          </a:solidFill>
          <a:ln w="9525" cap="flat" cmpd="sng">
            <a:solidFill>
              <a:srgbClr val="6B76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713232" y="1627632"/>
            <a:ext cx="11795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Microsoft JhengHe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使用者端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713232" y="1911096"/>
            <a:ext cx="11795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850"/>
              <a:buFont typeface="Microsoft JhengHei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B7684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瀏覽器／用戶端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4"/>
          <p:cNvCxnSpPr/>
          <p:nvPr/>
        </p:nvCxnSpPr>
        <p:spPr>
          <a:xfrm>
            <a:off x="2020824" y="1883664"/>
            <a:ext cx="9555480" cy="0"/>
          </a:xfrm>
          <a:prstGeom prst="straightConnector1">
            <a:avLst/>
          </a:prstGeom>
          <a:noFill/>
          <a:ln w="9525" cap="flat" cmpd="sng">
            <a:solidFill>
              <a:srgbClr val="E8ECF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6" name="Google Shape;126;p4"/>
          <p:cNvSpPr/>
          <p:nvPr/>
        </p:nvSpPr>
        <p:spPr>
          <a:xfrm>
            <a:off x="640080" y="2414016"/>
            <a:ext cx="1325880" cy="804672"/>
          </a:xfrm>
          <a:prstGeom prst="roundRect">
            <a:avLst>
              <a:gd name="adj" fmla="val 5682"/>
            </a:avLst>
          </a:prstGeom>
          <a:solidFill>
            <a:srgbClr val="E7F1F2"/>
          </a:solidFill>
          <a:ln w="9525" cap="flat" cmpd="sng">
            <a:solidFill>
              <a:srgbClr val="0E7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713232" y="2560320"/>
            <a:ext cx="11795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Microsoft JhengHe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AI Portal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713232" y="2843784"/>
            <a:ext cx="11795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850"/>
              <a:buFont typeface="Microsoft JhengHei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B7684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使用者面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4"/>
          <p:cNvCxnSpPr/>
          <p:nvPr/>
        </p:nvCxnSpPr>
        <p:spPr>
          <a:xfrm>
            <a:off x="2020824" y="2816352"/>
            <a:ext cx="9555480" cy="0"/>
          </a:xfrm>
          <a:prstGeom prst="straightConnector1">
            <a:avLst/>
          </a:prstGeom>
          <a:noFill/>
          <a:ln w="9525" cap="flat" cmpd="sng">
            <a:solidFill>
              <a:srgbClr val="E8ECF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0" name="Google Shape;130;p4"/>
          <p:cNvSpPr/>
          <p:nvPr/>
        </p:nvSpPr>
        <p:spPr>
          <a:xfrm>
            <a:off x="640080" y="3346704"/>
            <a:ext cx="1325880" cy="804672"/>
          </a:xfrm>
          <a:prstGeom prst="roundRect">
            <a:avLst>
              <a:gd name="adj" fmla="val 5682"/>
            </a:avLst>
          </a:prstGeom>
          <a:solidFill>
            <a:srgbClr val="1B2A4A"/>
          </a:solidFill>
          <a:ln w="9525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688518" y="3493008"/>
            <a:ext cx="125272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icrosoft JhengHe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Control Gateway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713232" y="3776472"/>
            <a:ext cx="11795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4D4"/>
              </a:buClr>
              <a:buSzPts val="850"/>
              <a:buFont typeface="Microsoft JhengHei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B7C4D4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流量面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4"/>
          <p:cNvCxnSpPr/>
          <p:nvPr/>
        </p:nvCxnSpPr>
        <p:spPr>
          <a:xfrm>
            <a:off x="2020824" y="3749040"/>
            <a:ext cx="9555480" cy="0"/>
          </a:xfrm>
          <a:prstGeom prst="straightConnector1">
            <a:avLst/>
          </a:prstGeom>
          <a:noFill/>
          <a:ln w="9525" cap="flat" cmpd="sng">
            <a:solidFill>
              <a:srgbClr val="E8ECF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4" name="Google Shape;134;p4"/>
          <p:cNvSpPr/>
          <p:nvPr/>
        </p:nvSpPr>
        <p:spPr>
          <a:xfrm>
            <a:off x="640080" y="4279392"/>
            <a:ext cx="1325880" cy="804672"/>
          </a:xfrm>
          <a:prstGeom prst="roundRect">
            <a:avLst>
              <a:gd name="adj" fmla="val 5682"/>
            </a:avLst>
          </a:prstGeom>
          <a:solidFill>
            <a:srgbClr val="F4F6F8"/>
          </a:solidFill>
          <a:ln w="9525" cap="flat" cmpd="sng">
            <a:solidFill>
              <a:srgbClr val="6B76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713232" y="4425696"/>
            <a:ext cx="11795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Microsoft JhengHe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後端資源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713232" y="4709160"/>
            <a:ext cx="11795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850"/>
              <a:buFont typeface="Microsoft JhengHei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B7684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模型・工具・語料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4"/>
          <p:cNvCxnSpPr/>
          <p:nvPr/>
        </p:nvCxnSpPr>
        <p:spPr>
          <a:xfrm>
            <a:off x="2020824" y="4681728"/>
            <a:ext cx="9555480" cy="0"/>
          </a:xfrm>
          <a:prstGeom prst="straightConnector1">
            <a:avLst/>
          </a:prstGeom>
          <a:noFill/>
          <a:ln w="9525" cap="flat" cmpd="sng">
            <a:solidFill>
              <a:srgbClr val="E8ECF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8" name="Google Shape;138;p4"/>
          <p:cNvSpPr/>
          <p:nvPr/>
        </p:nvSpPr>
        <p:spPr>
          <a:xfrm>
            <a:off x="2066544" y="1536192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 cap="flat" cmpd="sng">
            <a:solidFill>
              <a:srgbClr val="6B76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2157984" y="1536192"/>
            <a:ext cx="1298448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00"/>
              <a:buFont typeface="Microsoft JhengHe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①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登入並提出需求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2066544" y="2468880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 cap="flat" cmpd="sng">
            <a:solidFill>
              <a:srgbClr val="0E7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2157984" y="2468880"/>
            <a:ext cx="1298448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00"/>
              <a:buFont typeface="Microsoft JhengHe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②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身分驗證與角色套用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666744" y="2468880"/>
            <a:ext cx="1819656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 cap="flat" cmpd="sng">
            <a:solidFill>
              <a:srgbClr val="0E7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3758184" y="2468880"/>
            <a:ext cx="16002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00"/>
              <a:buFont typeface="Microsoft JhengHe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③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組裝請求：範本＋語料選集＋分級標記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666744" y="3401568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 w="9525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3758184" y="3401568"/>
            <a:ext cx="1298448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icrosoft JhengHe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④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身分與</a:t>
            </a:r>
            <a:r>
              <a: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部門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識別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5266944" y="3401568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 w="9525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5358384" y="3401568"/>
            <a:ext cx="1298448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icrosoft JhengHe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⑤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分級檢核與注入防護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867144" y="3401568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 w="9525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6958584" y="3401568"/>
            <a:ext cx="1298448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icrosoft JhengHe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⑥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模型路由與出境判定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867144" y="4334256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 cap="flat" cmpd="sng">
            <a:solidFill>
              <a:srgbClr val="6B76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6958584" y="4334256"/>
            <a:ext cx="1298448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00"/>
              <a:buFont typeface="Microsoft JhengHe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⑦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推論／工具執行／向量檢索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8467344" y="3401568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 w="9525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8558784" y="3401568"/>
            <a:ext cx="1298448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icrosoft JhengHe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⑧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輸出過濾與來源標註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10067544" y="3401568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 w="9525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0158984" y="3401568"/>
            <a:ext cx="1298448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icrosoft JhengHe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⑨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稽核落檔（唯讀累加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）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10067544" y="2468880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 cap="flat" cmpd="sng">
            <a:solidFill>
              <a:srgbClr val="0E7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10158984" y="2468880"/>
            <a:ext cx="1298448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00"/>
              <a:buFont typeface="Microsoft JhengHe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⑩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回應呈現與引用標示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10067544" y="1536192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 cap="flat" cmpd="sng">
            <a:solidFill>
              <a:srgbClr val="6B76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10158984" y="1536192"/>
            <a:ext cx="1298448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00"/>
              <a:buFont typeface="Microsoft JhengHe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⑪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  <a:sym typeface="Microsoft JhengHei"/>
              </a:rPr>
              <a:t>使用者取得回應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2706624" y="2240280"/>
            <a:ext cx="201168" cy="14630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E7C86"/>
          </a:solidFill>
          <a:ln w="9525" cap="flat" cmpd="sng">
            <a:solidFill>
              <a:srgbClr val="0E7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3547872" y="2743200"/>
            <a:ext cx="118872" cy="137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B7684"/>
          </a:solidFill>
          <a:ln w="9525" cap="flat" cmpd="sng">
            <a:solidFill>
              <a:srgbClr val="6B76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4306824" y="3172968"/>
            <a:ext cx="201168" cy="14630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E7C86"/>
          </a:solidFill>
          <a:ln w="9525" cap="flat" cmpd="sng">
            <a:solidFill>
              <a:srgbClr val="0E7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148072" y="3675888"/>
            <a:ext cx="118872" cy="137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B7684"/>
          </a:solidFill>
          <a:ln w="9525" cap="flat" cmpd="sng">
            <a:solidFill>
              <a:srgbClr val="6B76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6748272" y="3675888"/>
            <a:ext cx="118872" cy="137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B7684"/>
          </a:solidFill>
          <a:ln w="9525" cap="flat" cmpd="sng">
            <a:solidFill>
              <a:srgbClr val="6B76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7251192" y="4105656"/>
            <a:ext cx="201168" cy="14630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E7C86"/>
          </a:solidFill>
          <a:ln w="9525" cap="flat" cmpd="sng">
            <a:solidFill>
              <a:srgbClr val="0E7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7763256" y="4105656"/>
            <a:ext cx="201168" cy="14630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C8891B"/>
          </a:solidFill>
          <a:ln w="9525" cap="flat" cmpd="sng">
            <a:solidFill>
              <a:srgbClr val="C889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8348472" y="3675888"/>
            <a:ext cx="118872" cy="137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B7684"/>
          </a:solidFill>
          <a:ln w="9525" cap="flat" cmpd="sng">
            <a:solidFill>
              <a:srgbClr val="6B76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9948672" y="3675888"/>
            <a:ext cx="118872" cy="137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B7684"/>
          </a:solidFill>
          <a:ln w="9525" cap="flat" cmpd="sng">
            <a:solidFill>
              <a:srgbClr val="6B76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10707624" y="3172968"/>
            <a:ext cx="201168" cy="14630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C8891B"/>
          </a:solidFill>
          <a:ln w="9525" cap="flat" cmpd="sng">
            <a:solidFill>
              <a:srgbClr val="C889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10707624" y="2240280"/>
            <a:ext cx="201168" cy="14630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C8891B"/>
          </a:solidFill>
          <a:ln w="9525" cap="flat" cmpd="sng">
            <a:solidFill>
              <a:srgbClr val="C889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FF212F5-4A2E-8E53-77FB-330626C78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C5E3DA9-8E37-04BF-953B-D1FB74EEBF15}"/>
              </a:ext>
            </a:extLst>
          </p:cNvPr>
          <p:cNvSpPr/>
          <p:nvPr/>
        </p:nvSpPr>
        <p:spPr>
          <a:xfrm>
            <a:off x="2045110" y="1445342"/>
            <a:ext cx="1150374" cy="373626"/>
          </a:xfrm>
          <a:prstGeom prst="rect">
            <a:avLst/>
          </a:prstGeom>
          <a:solidFill>
            <a:srgbClr val="0E35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8ECA2C8-78F2-9AFB-C10A-B737C05616C7}"/>
              </a:ext>
            </a:extLst>
          </p:cNvPr>
          <p:cNvSpPr txBox="1"/>
          <p:nvPr/>
        </p:nvSpPr>
        <p:spPr>
          <a:xfrm>
            <a:off x="2109019" y="1401322"/>
            <a:ext cx="1022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身分鑑別與動態分流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6879934-6C2B-2802-BF95-5469CD8FA5F3}"/>
              </a:ext>
            </a:extLst>
          </p:cNvPr>
          <p:cNvSpPr/>
          <p:nvPr/>
        </p:nvSpPr>
        <p:spPr>
          <a:xfrm>
            <a:off x="5024283" y="1568017"/>
            <a:ext cx="2276585" cy="373626"/>
          </a:xfrm>
          <a:prstGeom prst="rect">
            <a:avLst/>
          </a:prstGeom>
          <a:solidFill>
            <a:srgbClr val="FCF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E6CFADF-0838-9F91-ECDA-D914173E8F4F}"/>
              </a:ext>
            </a:extLst>
          </p:cNvPr>
          <p:cNvSpPr txBox="1"/>
          <p:nvPr/>
        </p:nvSpPr>
        <p:spPr>
          <a:xfrm>
            <a:off x="5024282" y="1499642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結合 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RBAC/ABAC 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零信任架構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落實最小權限動態授權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F4843CF-4CBD-BE81-8507-FE275D4CEAEA}"/>
              </a:ext>
            </a:extLst>
          </p:cNvPr>
          <p:cNvSpPr txBox="1"/>
          <p:nvPr/>
        </p:nvSpPr>
        <p:spPr>
          <a:xfrm>
            <a:off x="1925099" y="2745880"/>
            <a:ext cx="2276585" cy="369332"/>
          </a:xfrm>
          <a:prstGeom prst="rect">
            <a:avLst/>
          </a:prstGeom>
          <a:solidFill>
            <a:srgbClr val="F2F7F8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輸出資料清洗、機密等級合規檢核、標籤式 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ABAC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存取控制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E1449F0-AA11-28F2-E9C1-8B9B1ACAB4C0}"/>
              </a:ext>
            </a:extLst>
          </p:cNvPr>
          <p:cNvSpPr txBox="1"/>
          <p:nvPr/>
        </p:nvSpPr>
        <p:spPr>
          <a:xfrm>
            <a:off x="5550724" y="2710212"/>
            <a:ext cx="2066199" cy="369332"/>
          </a:xfrm>
          <a:prstGeom prst="rect">
            <a:avLst/>
          </a:prstGeom>
          <a:solidFill>
            <a:schemeClr val="bg1"/>
          </a:solidFill>
          <a:ln>
            <a:solidFill>
              <a:srgbClr val="F2F6F7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動態流量分配於大中小模型，純地端實體隔離，專網運算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3E8724D-1881-C21E-C831-FF0E77BCE1BD}"/>
              </a:ext>
            </a:extLst>
          </p:cNvPr>
          <p:cNvSpPr txBox="1"/>
          <p:nvPr/>
        </p:nvSpPr>
        <p:spPr>
          <a:xfrm>
            <a:off x="9129023" y="2734833"/>
            <a:ext cx="2066199" cy="369332"/>
          </a:xfrm>
          <a:prstGeom prst="rect">
            <a:avLst/>
          </a:prstGeom>
          <a:solidFill>
            <a:srgbClr val="F1F6F7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對齊 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OWASP Top 10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LLM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Agents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Skills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F0266D8-5C9D-2830-30A7-95153681B638}"/>
              </a:ext>
            </a:extLst>
          </p:cNvPr>
          <p:cNvSpPr txBox="1"/>
          <p:nvPr/>
        </p:nvSpPr>
        <p:spPr>
          <a:xfrm>
            <a:off x="1465007" y="3713293"/>
            <a:ext cx="1637641" cy="369332"/>
          </a:xfrm>
          <a:prstGeom prst="rect">
            <a:avLst/>
          </a:prstGeom>
          <a:solidFill>
            <a:srgbClr val="F2F7F8"/>
          </a:solidFill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工作流狀態機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虛擬檔案系統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(VFS)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AD5D09F-D593-C892-7CCB-DF71BD6E23C2}"/>
              </a:ext>
            </a:extLst>
          </p:cNvPr>
          <p:cNvSpPr txBox="1"/>
          <p:nvPr/>
        </p:nvSpPr>
        <p:spPr>
          <a:xfrm>
            <a:off x="3131574" y="3732741"/>
            <a:ext cx="1494503" cy="369332"/>
          </a:xfrm>
          <a:prstGeom prst="rect">
            <a:avLst/>
          </a:prstGeom>
          <a:solidFill>
            <a:srgbClr val="F2F7F8"/>
          </a:solidFill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多 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Agent 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協同編排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深度任務規劃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AE2A7EF-A106-CC76-9C5C-392E6AA58AE6}"/>
              </a:ext>
            </a:extLst>
          </p:cNvPr>
          <p:cNvSpPr txBox="1"/>
          <p:nvPr/>
        </p:nvSpPr>
        <p:spPr>
          <a:xfrm>
            <a:off x="7844304" y="3713293"/>
            <a:ext cx="1872452" cy="369332"/>
          </a:xfrm>
          <a:prstGeom prst="rect">
            <a:avLst/>
          </a:prstGeom>
          <a:solidFill>
            <a:srgbClr val="F2F7F8"/>
          </a:solidFill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多層安全沙箱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(Sandbox)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人機審批中斷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(HITL)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1755FAC-ADA3-54DB-31D6-32B459AB1756}"/>
              </a:ext>
            </a:extLst>
          </p:cNvPr>
          <p:cNvSpPr txBox="1"/>
          <p:nvPr/>
        </p:nvSpPr>
        <p:spPr>
          <a:xfrm>
            <a:off x="9745682" y="3706239"/>
            <a:ext cx="1970696" cy="369332"/>
          </a:xfrm>
          <a:prstGeom prst="rect">
            <a:avLst/>
          </a:prstGeom>
          <a:solidFill>
            <a:srgbClr val="F2F7F8"/>
          </a:solidFill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動態權限攔截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(Deny-First)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紅隊測試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異常行為熔斷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4A7581E-137B-33F2-2A5E-D3EA3FE375B8}"/>
              </a:ext>
            </a:extLst>
          </p:cNvPr>
          <p:cNvSpPr txBox="1"/>
          <p:nvPr/>
        </p:nvSpPr>
        <p:spPr>
          <a:xfrm>
            <a:off x="5817495" y="5328214"/>
            <a:ext cx="1678578" cy="184666"/>
          </a:xfrm>
          <a:prstGeom prst="rect">
            <a:avLst/>
          </a:prstGeom>
          <a:solidFill>
            <a:srgbClr val="3D6450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高效能推理基礎模型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885BFFE-8749-153E-71B9-769006A26651}"/>
              </a:ext>
            </a:extLst>
          </p:cNvPr>
          <p:cNvSpPr txBox="1"/>
          <p:nvPr/>
        </p:nvSpPr>
        <p:spPr>
          <a:xfrm>
            <a:off x="5631109" y="5077153"/>
            <a:ext cx="1678578" cy="184666"/>
          </a:xfrm>
          <a:prstGeom prst="rect">
            <a:avLst/>
          </a:prstGeom>
          <a:solidFill>
            <a:srgbClr val="3D6450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領域專用微調模型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7E9E746-825A-ECA9-0836-CE34CF25BA4D}"/>
              </a:ext>
            </a:extLst>
          </p:cNvPr>
          <p:cNvSpPr txBox="1"/>
          <p:nvPr/>
        </p:nvSpPr>
        <p:spPr>
          <a:xfrm>
            <a:off x="5713553" y="4836140"/>
            <a:ext cx="1782520" cy="184666"/>
          </a:xfrm>
          <a:prstGeom prst="rect">
            <a:avLst/>
          </a:prstGeom>
          <a:solidFill>
            <a:srgbClr val="296693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多代理決策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上下文隔離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BEECF58-447B-BFE8-FD13-CF0043D3E8BC}"/>
              </a:ext>
            </a:extLst>
          </p:cNvPr>
          <p:cNvSpPr txBox="1"/>
          <p:nvPr/>
        </p:nvSpPr>
        <p:spPr>
          <a:xfrm>
            <a:off x="5538946" y="4588133"/>
            <a:ext cx="1782520" cy="184666"/>
          </a:xfrm>
          <a:prstGeom prst="rect">
            <a:avLst/>
          </a:prstGeom>
          <a:solidFill>
            <a:srgbClr val="0F3665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受控沙箱工具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專用微服務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BE45622-EC78-065C-9575-DFFD6B4CAA5E}"/>
              </a:ext>
            </a:extLst>
          </p:cNvPr>
          <p:cNvSpPr txBox="1"/>
          <p:nvPr/>
        </p:nvSpPr>
        <p:spPr>
          <a:xfrm>
            <a:off x="1373109" y="6209883"/>
            <a:ext cx="153888" cy="184666"/>
          </a:xfrm>
          <a:prstGeom prst="rect">
            <a:avLst/>
          </a:prstGeom>
          <a:solidFill>
            <a:srgbClr val="F1F5F8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符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1DD21E2-596A-7C2B-ED41-0B5E7BACB8AC}"/>
              </a:ext>
            </a:extLst>
          </p:cNvPr>
          <p:cNvSpPr txBox="1"/>
          <p:nvPr/>
        </p:nvSpPr>
        <p:spPr>
          <a:xfrm>
            <a:off x="5497615" y="5644364"/>
            <a:ext cx="1974900" cy="215444"/>
          </a:xfrm>
          <a:prstGeom prst="rect">
            <a:avLst/>
          </a:prstGeom>
          <a:solidFill>
            <a:srgbClr val="FDFDFD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 w="0">
                  <a:solidFill>
                    <a:prstClr val="black">
                      <a:alpha val="66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底層標準規範與多維評測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FF2FF41-F8D2-292A-58AC-70F03FA734CB}"/>
              </a:ext>
            </a:extLst>
          </p:cNvPr>
          <p:cNvSpPr txBox="1"/>
          <p:nvPr/>
        </p:nvSpPr>
        <p:spPr>
          <a:xfrm>
            <a:off x="5447375" y="5938036"/>
            <a:ext cx="1376980" cy="200055"/>
          </a:xfrm>
          <a:prstGeom prst="rect">
            <a:avLst/>
          </a:prstGeom>
          <a:solidFill>
            <a:srgbClr val="FDFDFD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300" b="1" i="0" u="none" strike="noStrike" kern="1200" cap="none" spc="0" normalizeH="0" baseline="0" noProof="0" dirty="0">
                <a:ln w="0">
                  <a:solidFill>
                    <a:prstClr val="black">
                      <a:alpha val="66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AIEC</a:t>
            </a:r>
            <a:r>
              <a:rPr kumimoji="0" lang="zh-TW" altLang="en-US" sz="1300" b="1" i="0" u="none" strike="noStrike" kern="1200" cap="none" spc="0" normalizeH="0" baseline="0" noProof="0" dirty="0">
                <a:ln w="0">
                  <a:solidFill>
                    <a:prstClr val="black">
                      <a:alpha val="66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多維評測體系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6C833B2-49B6-D047-7BD1-7228B1CE8930}"/>
              </a:ext>
            </a:extLst>
          </p:cNvPr>
          <p:cNvSpPr txBox="1"/>
          <p:nvPr/>
        </p:nvSpPr>
        <p:spPr>
          <a:xfrm>
            <a:off x="4131348" y="6414645"/>
            <a:ext cx="256480" cy="153888"/>
          </a:xfrm>
          <a:prstGeom prst="rect">
            <a:avLst/>
          </a:prstGeom>
          <a:solidFill>
            <a:srgbClr val="95DFBC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準確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BB1A2E9-520D-5669-4729-687A968F5DAE}"/>
              </a:ext>
            </a:extLst>
          </p:cNvPr>
          <p:cNvSpPr txBox="1"/>
          <p:nvPr/>
        </p:nvSpPr>
        <p:spPr>
          <a:xfrm>
            <a:off x="4757754" y="6414645"/>
            <a:ext cx="256480" cy="153888"/>
          </a:xfrm>
          <a:prstGeom prst="rect">
            <a:avLst/>
          </a:prstGeom>
          <a:solidFill>
            <a:srgbClr val="95DFBC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安全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A674E30-71FE-6D68-A552-7EE4066F6E92}"/>
              </a:ext>
            </a:extLst>
          </p:cNvPr>
          <p:cNvSpPr txBox="1"/>
          <p:nvPr/>
        </p:nvSpPr>
        <p:spPr>
          <a:xfrm>
            <a:off x="5342101" y="6434741"/>
            <a:ext cx="346249" cy="138499"/>
          </a:xfrm>
          <a:prstGeom prst="rect">
            <a:avLst/>
          </a:prstGeom>
          <a:solidFill>
            <a:srgbClr val="95DFBC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可解釋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722457F8-50A0-FFCD-F00E-92D147101AF4}"/>
              </a:ext>
            </a:extLst>
          </p:cNvPr>
          <p:cNvSpPr txBox="1"/>
          <p:nvPr/>
        </p:nvSpPr>
        <p:spPr>
          <a:xfrm>
            <a:off x="6024286" y="6420516"/>
            <a:ext cx="256480" cy="153888"/>
          </a:xfrm>
          <a:prstGeom prst="rect">
            <a:avLst/>
          </a:prstGeom>
          <a:solidFill>
            <a:srgbClr val="95DFBC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公平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B46551B0-5709-74B4-D1F5-F18C660D7CAB}"/>
              </a:ext>
            </a:extLst>
          </p:cNvPr>
          <p:cNvSpPr txBox="1"/>
          <p:nvPr/>
        </p:nvSpPr>
        <p:spPr>
          <a:xfrm>
            <a:off x="6650692" y="6424693"/>
            <a:ext cx="256480" cy="153888"/>
          </a:xfrm>
          <a:prstGeom prst="rect">
            <a:avLst/>
          </a:prstGeom>
          <a:solidFill>
            <a:srgbClr val="95DFBC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隱私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8427B9E-00F4-CFDB-8BA9-B41C694C363B}"/>
              </a:ext>
            </a:extLst>
          </p:cNvPr>
          <p:cNvSpPr txBox="1"/>
          <p:nvPr/>
        </p:nvSpPr>
        <p:spPr>
          <a:xfrm>
            <a:off x="7261880" y="6414645"/>
            <a:ext cx="256480" cy="153888"/>
          </a:xfrm>
          <a:prstGeom prst="rect">
            <a:avLst/>
          </a:prstGeom>
          <a:solidFill>
            <a:srgbClr val="95DFBC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透明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69C8769-5E02-CE6B-18EE-BD7E734F1C82}"/>
              </a:ext>
            </a:extLst>
          </p:cNvPr>
          <p:cNvSpPr txBox="1"/>
          <p:nvPr/>
        </p:nvSpPr>
        <p:spPr>
          <a:xfrm>
            <a:off x="7854352" y="6424693"/>
            <a:ext cx="346249" cy="138499"/>
          </a:xfrm>
          <a:prstGeom prst="rect">
            <a:avLst/>
          </a:prstGeom>
          <a:solidFill>
            <a:srgbClr val="95DFBC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在地化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5C3585F4-3B56-8CD1-7A14-A19F51F23BC8}"/>
              </a:ext>
            </a:extLst>
          </p:cNvPr>
          <p:cNvSpPr txBox="1"/>
          <p:nvPr/>
        </p:nvSpPr>
        <p:spPr>
          <a:xfrm>
            <a:off x="9129023" y="6203908"/>
            <a:ext cx="1921790" cy="369332"/>
          </a:xfrm>
          <a:prstGeom prst="rect">
            <a:avLst/>
          </a:prstGeom>
          <a:solidFill>
            <a:schemeClr val="bg1"/>
          </a:solidFill>
          <a:ln>
            <a:solidFill>
              <a:srgbClr val="F2F6F7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全鏈路加密稽核日誌，確保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Agent 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全生命週期不可竄改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BBD4F94-78B1-7D3A-B9BB-87AA3DAB38A3}"/>
              </a:ext>
            </a:extLst>
          </p:cNvPr>
          <p:cNvSpPr/>
          <p:nvPr/>
        </p:nvSpPr>
        <p:spPr>
          <a:xfrm>
            <a:off x="1312984" y="167778"/>
            <a:ext cx="9566031" cy="499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Agent 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安全治理與縱身防禦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D4854EC-AF73-C99B-225C-DB2427A6B1AE}"/>
              </a:ext>
            </a:extLst>
          </p:cNvPr>
          <p:cNvSpPr txBox="1"/>
          <p:nvPr/>
        </p:nvSpPr>
        <p:spPr>
          <a:xfrm>
            <a:off x="2931234" y="2447935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(Diode/PQC)</a:t>
            </a:r>
            <a:endParaRPr kumimoji="0" lang="zh-TW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376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72C12DD-A264-282A-B6A4-271569144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6952FC3-9DAA-5B9A-3DFD-E65CC86EBF65}"/>
              </a:ext>
            </a:extLst>
          </p:cNvPr>
          <p:cNvSpPr/>
          <p:nvPr/>
        </p:nvSpPr>
        <p:spPr>
          <a:xfrm>
            <a:off x="9527458" y="1071716"/>
            <a:ext cx="2241755" cy="806245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A8C9AF-E658-EF79-4C8B-9C2C11892DEF}"/>
              </a:ext>
            </a:extLst>
          </p:cNvPr>
          <p:cNvSpPr/>
          <p:nvPr/>
        </p:nvSpPr>
        <p:spPr>
          <a:xfrm>
            <a:off x="570271" y="1140542"/>
            <a:ext cx="1632155" cy="609600"/>
          </a:xfrm>
          <a:prstGeom prst="rect">
            <a:avLst/>
          </a:prstGeom>
          <a:solidFill>
            <a:srgbClr val="F0EF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1F5CCA-DE7B-9F60-F461-5970681C21B4}"/>
              </a:ext>
            </a:extLst>
          </p:cNvPr>
          <p:cNvSpPr/>
          <p:nvPr/>
        </p:nvSpPr>
        <p:spPr>
          <a:xfrm>
            <a:off x="570271" y="5407742"/>
            <a:ext cx="3323303" cy="766916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FD75454-4338-51AE-E5FD-85F6C9CDC9C7}"/>
              </a:ext>
            </a:extLst>
          </p:cNvPr>
          <p:cNvSpPr txBox="1"/>
          <p:nvPr/>
        </p:nvSpPr>
        <p:spPr>
          <a:xfrm>
            <a:off x="677940" y="2945896"/>
            <a:ext cx="1356528" cy="215444"/>
          </a:xfrm>
          <a:prstGeom prst="rect">
            <a:avLst/>
          </a:prstGeom>
          <a:solidFill>
            <a:srgbClr val="FEFEFE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現有版本案例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</a:t>
            </a:r>
            <a:endParaRPr kumimoji="0" lang="zh-TW" altLang="en-US" sz="1400" b="1" i="0" u="none" strike="noStrike" kern="1200" cap="none" spc="0" normalizeH="0" baseline="0" noProof="0" dirty="0">
              <a:ln>
                <a:solidFill>
                  <a:prstClr val="black">
                    <a:alpha val="44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CF95EA-B6F0-B479-D379-C34C5C07B91B}"/>
              </a:ext>
            </a:extLst>
          </p:cNvPr>
          <p:cNvSpPr/>
          <p:nvPr/>
        </p:nvSpPr>
        <p:spPr>
          <a:xfrm>
            <a:off x="540127" y="4260500"/>
            <a:ext cx="3650037" cy="251209"/>
          </a:xfrm>
          <a:prstGeom prst="rect">
            <a:avLst/>
          </a:prstGeom>
          <a:solidFill>
            <a:srgbClr val="EA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40D5C2-DC11-A96D-0E57-9FD20CE443D6}"/>
              </a:ext>
            </a:extLst>
          </p:cNvPr>
          <p:cNvSpPr/>
          <p:nvPr/>
        </p:nvSpPr>
        <p:spPr>
          <a:xfrm>
            <a:off x="6689718" y="4280596"/>
            <a:ext cx="4232840" cy="231113"/>
          </a:xfrm>
          <a:prstGeom prst="rect">
            <a:avLst/>
          </a:prstGeom>
          <a:solidFill>
            <a:srgbClr val="EA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C86F7E-6504-333C-B6FD-C2DE882D8077}"/>
              </a:ext>
            </a:extLst>
          </p:cNvPr>
          <p:cNvSpPr/>
          <p:nvPr/>
        </p:nvSpPr>
        <p:spPr>
          <a:xfrm>
            <a:off x="1152643" y="318893"/>
            <a:ext cx="9566031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執行框架 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Harness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25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F487763A-C1E1-4857-9280-3C5DFA86B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16BBFE57-1707-57CB-0318-718E951FDFC4}"/>
              </a:ext>
            </a:extLst>
          </p:cNvPr>
          <p:cNvSpPr txBox="1"/>
          <p:nvPr/>
        </p:nvSpPr>
        <p:spPr>
          <a:xfrm>
            <a:off x="4357608" y="3185656"/>
            <a:ext cx="1895707" cy="938719"/>
          </a:xfrm>
          <a:prstGeom prst="rect">
            <a:avLst/>
          </a:prstGeom>
          <a:solidFill>
            <a:srgbClr val="F6F6F8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OWASP Top 10 </a:t>
            </a:r>
            <a:r>
              <a:rPr kumimoji="0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防護</a:t>
            </a:r>
            <a:endParaRPr kumimoji="0" lang="en-US" altLang="zh-TW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(LLM/Agents/Skills)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防注入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越獄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汙染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機敏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越權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RAG/DOS/Token/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工具濫用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419990-592A-AF49-3399-143B58EA7939}"/>
              </a:ext>
            </a:extLst>
          </p:cNvPr>
          <p:cNvSpPr/>
          <p:nvPr/>
        </p:nvSpPr>
        <p:spPr>
          <a:xfrm>
            <a:off x="432619" y="318893"/>
            <a:ext cx="11434916" cy="6096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防護框架 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Harness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D92DFF2-1659-7C0A-A899-8A86791FD7E4}"/>
              </a:ext>
            </a:extLst>
          </p:cNvPr>
          <p:cNvSpPr/>
          <p:nvPr/>
        </p:nvSpPr>
        <p:spPr>
          <a:xfrm>
            <a:off x="651510" y="4834890"/>
            <a:ext cx="1337310" cy="3657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身分鑑權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B15A0CC-B6A3-1E4E-E279-61F56CF7D650}"/>
              </a:ext>
            </a:extLst>
          </p:cNvPr>
          <p:cNvSpPr/>
          <p:nvPr/>
        </p:nvSpPr>
        <p:spPr>
          <a:xfrm>
            <a:off x="2640330" y="4834890"/>
            <a:ext cx="1337310" cy="3657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閘道路由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BB8C011-ED49-36FD-BC3C-45E3F45596C4}"/>
              </a:ext>
            </a:extLst>
          </p:cNvPr>
          <p:cNvSpPr/>
          <p:nvPr/>
        </p:nvSpPr>
        <p:spPr>
          <a:xfrm>
            <a:off x="4526280" y="4834890"/>
            <a:ext cx="1337310" cy="3657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雙向護欄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3BB20E2-7B1D-17DD-AAF1-ABCD11A6E454}"/>
              </a:ext>
            </a:extLst>
          </p:cNvPr>
          <p:cNvSpPr/>
          <p:nvPr/>
        </p:nvSpPr>
        <p:spPr>
          <a:xfrm>
            <a:off x="6412230" y="4834890"/>
            <a:ext cx="1337310" cy="3657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沙箱隔離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96C0478-C92C-A3C3-CF16-ACED3F55C0C1}"/>
              </a:ext>
            </a:extLst>
          </p:cNvPr>
          <p:cNvSpPr/>
          <p:nvPr/>
        </p:nvSpPr>
        <p:spPr>
          <a:xfrm>
            <a:off x="8298180" y="4834890"/>
            <a:ext cx="1337310" cy="3657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威脅評測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867CD44-8484-C0A1-74EC-939C82AF9174}"/>
              </a:ext>
            </a:extLst>
          </p:cNvPr>
          <p:cNvSpPr/>
          <p:nvPr/>
        </p:nvSpPr>
        <p:spPr>
          <a:xfrm>
            <a:off x="10245090" y="4834890"/>
            <a:ext cx="1337310" cy="3657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合規稽核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B9F410-6ED8-FE1C-F748-C615291CE01D}"/>
              </a:ext>
            </a:extLst>
          </p:cNvPr>
          <p:cNvSpPr/>
          <p:nvPr/>
        </p:nvSpPr>
        <p:spPr>
          <a:xfrm>
            <a:off x="432619" y="5303520"/>
            <a:ext cx="11340281" cy="134874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027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990</Words>
  <Application>Microsoft Office PowerPoint</Application>
  <PresentationFormat>寬螢幕</PresentationFormat>
  <Paragraphs>122</Paragraphs>
  <Slides>5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5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Calibri Light</vt:lpstr>
      <vt:lpstr>Wingdings</vt:lpstr>
      <vt:lpstr>Office 佈景主題</vt:lpstr>
      <vt:lpstr>1_Office Theme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Eddy Yang</dc:creator>
  <cp:lastModifiedBy>Eddy Yang</cp:lastModifiedBy>
  <cp:revision>1</cp:revision>
  <dcterms:created xsi:type="dcterms:W3CDTF">2026-09-16T21:45:11Z</dcterms:created>
  <dcterms:modified xsi:type="dcterms:W3CDTF">2026-09-16T21:48:17Z</dcterms:modified>
</cp:coreProperties>
</file>