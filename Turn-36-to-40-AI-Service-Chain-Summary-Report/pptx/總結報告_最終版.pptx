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【封面】</a:t>
            </a:r>
          </a:p>
          <a:p>
            <a:r>
              <a:t>報告名稱：國防 AI 服務鏈總結報告</a:t>
            </a:r>
          </a:p>
          <a:p>
            <a:r>
              <a:t>研析引擎：先以 Claude Opus 4.6 (Thinking) 進行深度研析與主體篇撰寫，再以 Gemini 3.1 Pro 進行補強與 Review。</a:t>
            </a:r>
          </a:p>
          <a:p/>
          <a:p>
            <a:r>
              <a:t>開場說明要點：</a:t>
            </a:r>
          </a:p>
          <a:p>
            <a:r>
              <a:t>• 本報告以「AI 服務鏈資料流」為核心視角，完整涵蓋從 Agent 開發到使用者操作、資安防護到建置藍圖的全生命週期。</a:t>
            </a:r>
          </a:p>
          <a:p>
            <a:r>
              <a:t>• 所有設計決策均錨定於五大安全治理原則：模型分層、資料分級、單一閘道、層層防護、全程留痕。</a:t>
            </a:r>
          </a:p>
          <a:p>
            <a:r>
              <a:t>• 報告整合了「AI Agent Harness 整合提報版 20260906」的完整內容，並額外補強了硬體基礎設施 (K8s/PAM)、護欄時序、SBOM 供應鏈安全與零信任架構。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【目錄】</a:t>
            </a:r>
          </a:p>
          <a:p>
            <a:r>
              <a:t>本報告分為兩大部分：</a:t>
            </a:r>
          </a:p>
          <a:p>
            <a:r>
              <a:t>一、主體篇 (Slide 3~17)：共 14 個章節，涵蓋五大原則、全景架構、Agent 開發者流程、使用者流程、四大資安防護面向、Roadmap 與效益評估。</a:t>
            </a:r>
          </a:p>
          <a:p>
            <a:r>
              <a:t>二、補充篇 (Slide 18~23)：針對 Gemini 3.1 Pro Review 後發現之不足，補強硬體實體架構 (K8s/PAM/PQ Tunnel)、護欄運作循序流程、SBOM 供應鏈管控、ZTA 七大支柱映射與 AI 自動化紅隊演練，以及全案總結論。</a:t>
            </a:r>
          </a:p>
          <a:p/>
          <a:p>
            <a:r>
              <a:t>提報建議：可依長官關注面向，選擇性深入說明特定章節。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【五大原則總覽】</a:t>
            </a:r>
          </a:p>
          <a:p>
            <a:r>
              <a:t>這五大原則是整份報告的「設計公理」，後續每一頁的架構決策都可回溯至此：</a:t>
            </a:r>
          </a:p>
          <a:p/>
          <a:p>
            <a:r>
              <a:t>1. 模型分層 (Model Tiering)：</a:t>
            </a:r>
          </a:p>
          <a:p>
            <a:r>
              <a:t>   - L1 基礎模型 → L2 領域 DSLM → L3 Agent → L4 Skill/MCP → L5 RAG 知識庫</a:t>
            </a:r>
          </a:p>
          <a:p>
            <a:r>
              <a:t>   - 各層風險面不同，須分別施加對應的安全控制</a:t>
            </a:r>
          </a:p>
          <a:p/>
          <a:p>
            <a:r>
              <a:t>2. 資料分級 (Data Classification)：</a:t>
            </a:r>
          </a:p>
          <a:p>
            <a:r>
              <a:t>   - 採用 CNSSI 1253 影響等級評定方法與 DISA CC SRG IL2~IL6 對照</a:t>
            </a:r>
          </a:p>
          <a:p>
            <a:r>
              <a:t>   - 以 C-I-A 三元組 (機密性/完整性/可用性) 取代傳統單一密級</a:t>
            </a:r>
          </a:p>
          <a:p/>
          <a:p>
            <a:r>
              <a:t>3. 單一閘道 (Single Gateway)：</a:t>
            </a:r>
          </a:p>
          <a:p>
            <a:r>
              <a:t>   - Portal = 唯一入口，Gateway = 唯一出口</a:t>
            </a:r>
          </a:p>
          <a:p>
            <a:r>
              <a:t>   - 金鑰僅存 Gateway 密鑰庫，防火牆封鎖所有 API 直連</a:t>
            </a:r>
          </a:p>
          <a:p/>
          <a:p>
            <a:r>
              <a:t>4. 層層防護 (Defense in Depth)：</a:t>
            </a:r>
          </a:p>
          <a:p>
            <a:r>
              <a:t>   - 六節點縱深：防火牆→Portal→Gateway→算力→沙箱→Guardrail</a:t>
            </a:r>
          </a:p>
          <a:p>
            <a:r>
              <a:t>   - Harness 治理外框橫跨 L1~L5 五層</a:t>
            </a:r>
          </a:p>
          <a:p/>
          <a:p>
            <a:r>
              <a:t>5. 全程留痕 (Full Auditability)：</a:t>
            </a:r>
          </a:p>
          <a:p>
            <a:r>
              <a:t>   - 8 欄位 append-only 不可否認稽核紀錄，保存 ≥ 1 年</a:t>
            </a:r>
          </a:p>
          <a:p>
            <a:r>
              <a:t>   - 串接 SOC 即時監控與斷路器熔斷機制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服務鏈全景架構 — 六節點縱深防禦】</a:t>
            </a:r>
          </a:p>
          <a:p>
            <a:r>
              <a:t>本頁對應整合提報版 Slide 5「AI 服務鏈系統架構與管控節點」。</a:t>
            </a:r>
          </a:p>
          <a:p/>
          <a:p>
            <a:r>
              <a:t>六節點設計原則：</a:t>
            </a:r>
          </a:p>
          <a:p>
            <a:r>
              <a:t>① 邊界防火牆：NGFW+IPS，預設拒絕，出向封鎖模型 API 直連，與 Diode 單向閘道銜接</a:t>
            </a:r>
          </a:p>
          <a:p>
            <a:r>
              <a:t>② 使用者 Portal：SSO+MFA，上傳掃描+分級標示，禁跨部門歷史檢視</a:t>
            </a:r>
          </a:p>
          <a:p>
            <a:r>
              <a:t>③ AI Gateway：OPA/Rego 三維裁決 (身分×分級×用途)，金鑰集中，fail-closed</a:t>
            </a:r>
          </a:p>
          <a:p>
            <a:r>
              <a:t>④ 核心算力：四層模型堆疊，模型權重簽章驗證+SBOM，部門 GPU 配額隔離</a:t>
            </a:r>
          </a:p>
          <a:p>
            <a:r>
              <a:t>⑤ 沙箱/容器：每次呼叫獨立容器用後即銷毀，MCP 自建自審白名單</a:t>
            </a:r>
          </a:p>
          <a:p>
            <a:r>
              <a:t>⑥ 輸出 Guardrail：敏感資訊遮蔽，越級阻斷，HITL interrupt() 核可</a:t>
            </a:r>
          </a:p>
          <a:p/>
          <a:p>
            <a:r>
              <a:t>關鍵設計：前一節點失效不得使後續節點失守（縱深獨立性原則）。</a:t>
            </a:r>
          </a:p>
          <a:p>
            <a:r>
              <a:t>Harness 治理外框橫跨五層，以基礎映像強制注入，比對失敗即拒絕啟動。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【Agent 開發者 — 行政庶務 Agent（開箱即用 Harness）】</a:t>
            </a:r>
          </a:p>
          <a:p>
            <a:r>
              <a:t>適用場景：公文撰擬、會議摘要、知識問答、報表產製</a:t>
            </a:r>
          </a:p>
          <a:p>
            <a:r>
              <a:t>安全等級：DISA IL-2 ~ IL-4</a:t>
            </a:r>
          </a:p>
          <a:p/>
          <a:p>
            <a:r>
              <a:t>三大開箱即用 Harness 選項：</a:t>
            </a:r>
          </a:p>
          <a:p>
            <a:r>
              <a:t>1. Claude Code (Anthropic)：內建 Harness 治理外框、自帶 HITL 審批、檔案系統權限控制</a:t>
            </a:r>
          </a:p>
          <a:p>
            <a:r>
              <a:t>2. OpenAI Codex (OpenAI)：內建程式碼沙箱、工具呼叫標準化、輸入/輸出護欄預置</a:t>
            </a:r>
          </a:p>
          <a:p>
            <a:r>
              <a:t>3. Google Antigravity 2.0 (DeepMind)：子 Agent 委派+隔離、虛擬檔案系統 (VFS)、可觀測性追蹤</a:t>
            </a:r>
          </a:p>
          <a:p/>
          <a:p>
            <a:r>
              <a:t>這些工具的共同特點是自帶完整的安全治理框架，開發者不需從零建構 Harness，可快速部署。</a:t>
            </a:r>
          </a:p>
          <a:p>
            <a:r>
              <a:t>開發週期約 1~2 週。</a:t>
            </a:r>
          </a:p>
          <a:p/>
          <a:p>
            <a:r>
              <a:t>共通管控要求：</a:t>
            </a:r>
          </a:p>
          <a:p>
            <a:r>
              <a:t>• Harness 以基礎映像強制注入，比對失敗拒絕啟動</a:t>
            </a:r>
          </a:p>
          <a:p>
            <a:r>
              <a:t>• MCP 伺服器一律自建自審</a:t>
            </a:r>
          </a:p>
          <a:p>
            <a:r>
              <a:t>• 工具採白名單</a:t>
            </a:r>
          </a:p>
          <a:p>
            <a:r>
              <a:t>• 高衝擊動作強制 HITL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【Agent 開發者 — 武器系統 Agent（客製化 Harness）】</a:t>
            </a:r>
          </a:p>
          <a:p>
            <a:r>
              <a:t>適用場景：戰術決策支援、情資分析、武器效能評估</a:t>
            </a:r>
          </a:p>
          <a:p>
            <a:r>
              <a:t>安全等級：DISA IL-5 ~ IL-6</a:t>
            </a:r>
          </a:p>
          <a:p/>
          <a:p>
            <a:r>
              <a:t>採用 LangChain DeepAgents v0.7 進行客製化開發：</a:t>
            </a:r>
          </a:p>
          <a:p>
            <a:r>
              <a:t>① 三層堆疊：Runtime (LangGraph) → Framework (LangChain) → Harness (DeepAgents)</a:t>
            </a:r>
          </a:p>
          <a:p>
            <a:r>
              <a:t>② Context Engineering：CompositeBackend (VFS) 大檔案卸載，read_file(offset,limit) 精準讀取</a:t>
            </a:r>
          </a:p>
          <a:p>
            <a:r>
              <a:t>③ 強化權限+沙箱：L0語言層→L1程序層→L2容器→L3微虛擬機 (gVisor/Kata/Firecracker)</a:t>
            </a:r>
          </a:p>
          <a:p>
            <a:r>
              <a:t>④ 多層 HITL：武器決策→指揮官→法律官 鏈式審批</a:t>
            </a:r>
          </a:p>
          <a:p>
            <a:r>
              <a:t>⑤ 全規範合規：ISO 42001、NIST AI RMF、OWASP AISVS、MITRE ATLAS</a:t>
            </a:r>
          </a:p>
          <a:p/>
          <a:p>
            <a:r>
              <a:t>開發週期約 2~3 個月。</a:t>
            </a:r>
          </a:p>
          <a:p/>
          <a:p>
            <a:r>
              <a:t>Harness 選型對照表 9 維度：</a:t>
            </a:r>
          </a:p>
          <a:p>
            <a:r>
              <a:t>代表工具、適用場景、資料密級、權限模式、HITL 審批、模型選用、執行隔離、MCP 治理、合規覆蓋、開發週期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【Agent 開發者 — Harness 治理外框與管控軌跡】</a:t>
            </a:r>
          </a:p>
          <a:p>
            <a:r>
              <a:t>本頁對應整合提報版 Slide 7-8「Harness 貫穿五層防護」與「Harness 治理外框」。</a:t>
            </a:r>
          </a:p>
          <a:p/>
          <a:p>
            <a:r>
              <a:t>Harness 四項強制功能（無法關閉、無法改寫）：</a:t>
            </a:r>
          </a:p>
          <a:p>
            <a:r>
              <a:t>1. 工具白名單：外部 MCP 一律不採用，全數自建自審</a:t>
            </a:r>
          </a:p>
          <a:p>
            <a:r>
              <a:t>2. 重大動作先問人：無法復原之動作一律 HITL interrupt()</a:t>
            </a:r>
          </a:p>
          <a:p>
            <a:r>
              <a:t>3. 用量與成本上限：異常暴衝自動熔斷</a:t>
            </a:r>
          </a:p>
          <a:p>
            <a:r>
              <a:t>4. 全程留紀錄：append-only，事後可逐步重建與課責</a:t>
            </a:r>
          </a:p>
          <a:p/>
          <a:p>
            <a:r>
              <a:t>L1~L5 五層防護：</a:t>
            </a:r>
          </a:p>
          <a:p>
            <a:r>
              <a:t>• L5 知識庫：檢索標記不可信、密級過濾、DLP 比對</a:t>
            </a:r>
          </a:p>
          <a:p>
            <a:r>
              <a:t>• L4 技能/MCP：簽章白名單、Schema 驗證、沙箱執行</a:t>
            </a:r>
          </a:p>
          <a:p>
            <a:r>
              <a:t>• L3 Agent：迴圈步數熔斷、部門隔離、HITL 閘門</a:t>
            </a:r>
          </a:p>
          <a:p>
            <a:r>
              <a:t>• L2 DSLM：語料核可清單、評測門檻 gating</a:t>
            </a:r>
          </a:p>
          <a:p>
            <a:r>
              <a:t>• L1 基礎模型：雜湊驗簽、系統提示凍結唯讀</a:t>
            </a:r>
          </a:p>
          <a:p/>
          <a:p>
            <a:r>
              <a:t>8 欄位稽核：請求ID、身分/租戶、模型版本、遮罩提示詞、RAG來源、工具呼叫、HITL核可、處置結果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【Agent 使用者 — Portal 到 Agent 的 11 步資料流】</a:t>
            </a:r>
          </a:p>
          <a:p>
            <a:r>
              <a:t>本頁對應整合提報版 Slide 4「使用者資料流全景」。</a:t>
            </a:r>
          </a:p>
          <a:p/>
          <a:p>
            <a:r>
              <a:t>11 步資料流：</a:t>
            </a:r>
          </a:p>
          <a:p>
            <a:r>
              <a:t>① 登入並提出需求 → ② 身分驗證與角色套用 → ③ 組裝請求 (範本+語料+分級標記) → ④ Gateway 身分與部門識別 → ⑤ 分級檢核與注入防護 → ⑥ 模型路由與出境判定 → ⑦ 推論/工具執行/向量檢索 → ⑧ 輸出過濾與來源標註 → ⑨ 稽核落檔 (唯讀累加) → ⑩ 回應呈現與引用標示 → ⑪ 使用者取得回應</a:t>
            </a:r>
          </a:p>
          <a:p/>
          <a:p>
            <a:r>
              <a:t>HITL 人機審批流程 (高衝擊動作)：</a:t>
            </a:r>
          </a:p>
          <a:p>
            <a:r>
              <a:t>Agent 提議 → Harness 攔截 (interrupt_on) → Checkpointer 保存斷點 → Portal 呈現決策軌跡 → 人工 approve/edit/reject → Command(resume=...) 恢復執行</a:t>
            </a:r>
          </a:p>
          <a:p/>
          <a:p>
            <a:r>
              <a:t>使用者端管控：</a:t>
            </a:r>
          </a:p>
          <a:p>
            <a:r>
              <a:t>• Portal：上架審查、密級宣告、閒置逾期自動下架</a:t>
            </a:r>
          </a:p>
          <a:p>
            <a:r>
              <a:t>• Gateway：OPA 三維裁決、金鑰集中、fail-closed</a:t>
            </a:r>
          </a:p>
          <a:p>
            <a:r>
              <a:t>• 隔離：thread_id 會話隔離、namespace 多租戶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【Agent 使用者 — 操作管控與軌跡紀錄】</a:t>
            </a:r>
          </a:p>
          <a:p>
            <a:r>
              <a:t>本頁對應整合提報版 Slide 6「Portal/Gateway 為單一控制點之管控」。</a:t>
            </a:r>
          </a:p>
          <a:p/>
          <a:p>
            <a:r>
              <a:t>Portal 側管控：</a:t>
            </a:r>
          </a:p>
          <a:p>
            <a:r>
              <a:t>• 單一撤銷點：一鍵停用部門/模型/Agent</a:t>
            </a:r>
          </a:p>
          <a:p>
            <a:r>
              <a:t>• 上架審查：Agent+技能須經安全審查後掛載</a:t>
            </a:r>
          </a:p>
          <a:p>
            <a:r>
              <a:t>• 使用可視化：用量/成本/拒絕率儀表板</a:t>
            </a:r>
          </a:p>
          <a:p>
            <a:r>
              <a:t>• 生命週期收斂：閒置逾期自動下架</a:t>
            </a:r>
          </a:p>
          <a:p/>
          <a:p>
            <a:r>
              <a:t>Gateway 側強制 (G1~G4)：</a:t>
            </a:r>
          </a:p>
          <a:p>
            <a:r>
              <a:t>• G1 強制通道+金鑰集中</a:t>
            </a:r>
          </a:p>
          <a:p>
            <a:r>
              <a:t>• G2 落點路由（依分級決定地端/圍籬/外部）</a:t>
            </a:r>
          </a:p>
          <a:p>
            <a:r>
              <a:t>• G3 流量成本 fail-closed</a:t>
            </a:r>
          </a:p>
          <a:p>
            <a:r>
              <a:t>• G4 稽核歸屬計費</a:t>
            </a:r>
          </a:p>
          <a:p/>
          <a:p>
            <a:r>
              <a:t>fail-closed 設計原則：</a:t>
            </a:r>
          </a:p>
          <a:p>
            <a:r>
              <a:t>• 檢查器不可用或逾時→一律不通過</a:t>
            </a:r>
          </a:p>
          <a:p>
            <a:r>
              <a:t>• 請求未匹配核准政策→一律拒絕</a:t>
            </a:r>
          </a:p>
          <a:p>
            <a:r>
              <a:t>• HITL 逾時→預設拒絕</a:t>
            </a:r>
          </a:p>
          <a:p/>
          <a:p>
            <a:r>
              <a:t>處置矩陣五種判定：放行(allow)、去識別(redact)、改寫重試(rewrite)、阻斷(block)、轉人工(escalate)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【資安防護（一）：單閘 Diode · DLP · 落點路由】</a:t>
            </a:r>
          </a:p>
          <a:p>
            <a:r>
              <a:t>三大防護面向：</a:t>
            </a:r>
          </a:p>
          <a:p/>
          <a:p>
            <a:r>
              <a:t>一、單向閘道器 (Diode/CDS)：</a:t>
            </a:r>
          </a:p>
          <a:p>
            <a:r>
              <a:t>• 入向：物理單向傳輸、深度封包檢測、外網語料落地隔離區、格式正規化剔除巨集</a:t>
            </a:r>
          </a:p>
          <a:p>
            <a:r>
              <a:t>• 出向：機敏資料絕對禁止離開內網、禁止送往公有雲模型</a:t>
            </a:r>
          </a:p>
          <a:p/>
          <a:p>
            <a:r>
              <a:t>二、DLP + PII 遮罩引擎：</a:t>
            </a:r>
          </a:p>
          <a:p>
            <a:r>
              <a:t>• 即時內容掃描：機敏關鍵字/正則/ML 分類器/文件指紋/影像 OCR</a:t>
            </a:r>
          </a:p>
          <a:p>
            <a:r>
              <a:t>• PII 遮罩：身分證號/電話/軍事座標/武器參數/金鑰 → 自動脫敏或即時阻斷</a:t>
            </a:r>
          </a:p>
          <a:p/>
          <a:p>
            <a:r>
              <a:t>三、三落點路由判定（對應整合提報版 Slide 16）：</a:t>
            </a:r>
          </a:p>
          <a:p>
            <a:r>
              <a:t>• A 地端院內機房：D0~D3 皆可存放，D3 僅限實體隔離</a:t>
            </a:r>
          </a:p>
          <a:p>
            <a:r>
              <a:t>• B 圍籬內雲端 (VPC)：D0/D1 可存放，D2 須逐案核可，CMEK/EKM 金鑰自管</a:t>
            </a:r>
          </a:p>
          <a:p>
            <a:r>
              <a:t>• C 圍籬外雲端：不存放任何本院資料，僅供 D0 + 去識別化 D1</a:t>
            </a:r>
          </a:p>
          <a:p/>
          <a:p>
            <a:r>
              <a:t>判定原則：以「資料被送到哪一區」認定落點，而非 AI 服務位於何處。就近且從嚴。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【資安防護（二）：資料治理管線 · Guardrail 五類佈設】</a:t>
            </a:r>
          </a:p>
          <a:p>
            <a:r>
              <a:t>本頁對應整合提報版 Slide 11-12, 15。</a:t>
            </a:r>
          </a:p>
          <a:p/>
          <a:p>
            <a:r>
              <a:t>Agentic 資料安全管控五步路徑（Slide 15）：</a:t>
            </a:r>
          </a:p>
          <a:p>
            <a:r>
              <a:t>01 資料盤點與分級 → 02 標籤綁定與繼承 → 03 政策即程式碼 (OPA/Rego) → 04 執行期強制點 → 05 稽核與復原</a:t>
            </a:r>
          </a:p>
          <a:p/>
          <a:p>
            <a:r>
              <a:t>Guardrail 五類佈設點（Slide 11）：</a:t>
            </a:r>
          </a:p>
          <a:p>
            <a:r>
              <a:t>• 輸入護欄：身分+部門檢核、Prompt Injection 偵測</a:t>
            </a:r>
          </a:p>
          <a:p>
            <a:r>
              <a:t>• 檢索護欄：依密級過濾索引、剝除文件夾帶指令語意</a:t>
            </a:r>
          </a:p>
          <a:p>
            <a:r>
              <a:t>• 工具/動作護欄：MCP 白名單、參數 Schema 驗證</a:t>
            </a:r>
          </a:p>
          <a:p>
            <a:r>
              <a:t>• 輸出護欄：結構驗證、有害內容過濾、DLP、引用比對、去指令化</a:t>
            </a:r>
          </a:p>
          <a:p>
            <a:r>
              <a:t>• 行為/迴圈護欄：步數/代幣/成本上限、逾限熔斷</a:t>
            </a:r>
          </a:p>
          <a:p/>
          <a:p>
            <a:r>
              <a:t>同一組規則於 Gateway (集中) 與 Harness (單一 Agent) 雙點佈設。</a:t>
            </a:r>
          </a:p>
          <a:p>
            <a:r>
              <a:t>兩段式檢查：確定性規則先行，僅灰區交由模型評審。</a:t>
            </a:r>
          </a:p>
          <a:p/>
          <a:p>
            <a:r>
              <a:t>不可退讓之架構紅線：</a:t>
            </a:r>
          </a:p>
          <a:p>
            <a:r>
              <a:t>• 隔離邊界不得因 Agent 專案而開孔</a:t>
            </a:r>
          </a:p>
          <a:p>
            <a:r>
              <a:t>• 敏感級以上資料不得送往雲端模型</a:t>
            </a:r>
          </a:p>
          <a:p>
            <a:r>
              <a:t>• 高衝擊動作必經 HITL</a:t>
            </a:r>
          </a:p>
          <a:p>
            <a:r>
              <a:t>• MCP 一律自建自審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國際標準與法規合規全覽】</a:t>
            </a:r>
          </a:p>
          <a:p>
            <a:r>
              <a:t>本頁對應整合提報版 Slide 2「AI 治理規範總覽」與 Slide 13「資料安全法規」。</a:t>
            </a:r>
          </a:p>
          <a:p/>
          <a:p>
            <a:r>
              <a:t>四大支柱共 29 項標準：</a:t>
            </a:r>
          </a:p>
          <a:p/>
          <a:p>
            <a:r>
              <a:t>支柱一：ISO 治理框架</a:t>
            </a:r>
          </a:p>
          <a:p>
            <a:r>
              <a:t>ISO/IEC 42001 (AIMS)、27001/27002、27017/27018 (雲端)、27040 (儲存)、27701 (PIMS)、17025 (稽核)</a:t>
            </a:r>
          </a:p>
          <a:p/>
          <a:p>
            <a:r>
              <a:t>支柱二：NIST 風險框架</a:t>
            </a:r>
          </a:p>
          <a:p>
            <a:r>
              <a:t>AI RMF 1.0 (四大功能)、AI 600-1 (GenAI 12類風險)、SP 800-53 R5、SP 800-218A (SSDF)、SP 800-171 R3 (CUI)、CSF 2.0、AI 100-2 (對抗式ML)、SP 800-88 (媒體銷毀)</a:t>
            </a:r>
          </a:p>
          <a:p/>
          <a:p>
            <a:r>
              <a:t>支柱三：OWASP 技術風險</a:t>
            </a:r>
          </a:p>
          <a:p>
            <a:r>
              <a:t>LLM Top 10 (2025)、Agentic AI 威脅、AISVS (分級查核)、ML Security Top 10、AI Exchange、GenAI Red Teaming、LLM 治理檢核</a:t>
            </a:r>
          </a:p>
          <a:p/>
          <a:p>
            <a:r>
              <a:t>支柱四：威脅知識庫與法制</a:t>
            </a:r>
          </a:p>
          <a:p>
            <a:r>
              <a:t>MITRE ATLAS、EU AI Act、CISA/NSA 指引、CNSSI 1253、DISA CC SRG、資通安全管理法、個資法、AI 基本法</a:t>
            </a:r>
          </a:p>
          <a:p/>
          <a:p>
            <a:r>
              <a:t>落地主軸：治理制度 (ISO 42001) → 風險流程 (NIST AI RMF) → 技術控制 (OWASP) → 威脅驗證 (MITRE ATLAS) → 稽核佐證 (ISO 17025/27001)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【資安防護（四）：SOC 監控 · 熔斷 · 紅隊演練】</a:t>
            </a:r>
          </a:p>
          <a:p>
            <a:r>
              <a:t>五層 SOC 架構：</a:t>
            </a:r>
          </a:p>
          <a:p/>
          <a:p>
            <a:r>
              <a:t>1. 資料蒐集：Agent 日誌、Gateway 紀錄、DLP 告警、模型調用、HITL 審批日誌</a:t>
            </a:r>
          </a:p>
          <a:p>
            <a:r>
              <a:t>2. SIEM 分析：關聯分析、ML 異常偵測、UEBA 使用者行為分析、威脅情資整合</a:t>
            </a:r>
          </a:p>
          <a:p>
            <a:r>
              <a:t>3. 偵測告警：異常頻率、跨密級存取、越權調用、Prompt Injection、資料外洩嘗試</a:t>
            </a:r>
          </a:p>
          <a:p>
            <a:r>
              <a:t>4. 熔斷回應：Circuit Breaker 自動熔斷、Kill Switch 緊急停止、即拋式環境銷毀、憑證凍結</a:t>
            </a:r>
          </a:p>
          <a:p>
            <a:r>
              <a:t>5. 事後調查：完整對話還原、決策鏈追溯、工具呼叫重放、根因分析、紅隊語料庫擴充</a:t>
            </a:r>
          </a:p>
          <a:p/>
          <a:p>
            <a:r>
              <a:t>季度紅隊演練涵蓋：越獄提示攻擊、間接提示注入、工具越權測試、跨密級存取試探、記憶投毒、沙箱逃逸</a:t>
            </a:r>
          </a:p>
          <a:p>
            <a:r>
              <a:t>量測指標：機密洩漏率、越獄成功率、誤攔率(FPR)、引用覆蓋率、延遲預算</a:t>
            </a:r>
          </a:p>
          <a:p>
            <a:r>
              <a:t>每次更版須以固定測試集重跑比對前版，並每月抽樣人工複核。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資安防護端到端工作流程】</a:t>
            </a:r>
          </a:p>
          <a:p>
            <a:r>
              <a:t>本頁為全案資安防護的鳥瞰圖，將所有防護機制串接為一條完整的防護鏈：</a:t>
            </a:r>
          </a:p>
          <a:p/>
          <a:p>
            <a:r>
              <a:t>外網資料源 → Diode 單向閘道 → 落地隔離區 → 惡意掃描/格式正規 → DLP/PII 遮罩 → 資料治理五步管線 → Guardrail 五類佈設 → Agent 執行層 → Guardrail 輸出護欄 → DLP 出向檢核 → 使用者交付</a:t>
            </a:r>
          </a:p>
          <a:p/>
          <a:p>
            <a:r>
              <a:t>全程由 SOC 7×24 持續監控：SIEM、異常偵測、斷路器熔斷、Kill Switch、紅隊演練、稽核留痕</a:t>
            </a:r>
          </a:p>
          <a:p/>
          <a:p>
            <a:r>
              <a:t>16 項完整檢核清單涵蓋：</a:t>
            </a:r>
          </a:p>
          <a:p>
            <a:r>
              <a:t>☑ 單向閘道 ☑ 惡意掃描 ☑ DLP 掃描 ☑ PII 遮罩 ☑ 資料五步管線 ☑ OPA 三維授權</a:t>
            </a:r>
          </a:p>
          <a:p>
            <a:r>
              <a:t>☑ Guardrail 五類 ☑ 處置矩陣 ☑ 四級沙箱 ☑ HITL ☑ fail-closed ☑ Harness 四項強制</a:t>
            </a:r>
          </a:p>
          <a:p>
            <a:r>
              <a:t>☑ 三落點路由 ☑ 8 欄位稽核 ☑ SOC 斷路器 ☑ 紅隊演練</a:t>
            </a:r>
          </a:p>
          <a:p/>
          <a:p>
            <a:r>
              <a:t>合規覆蓋：ISO 42001、NIST AI RMF 1.0、AI 600-1、SP 800-53、OWASP AISVS、LLM Top 10、MITRE ATLAS、DISA IL、EU AI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服務鏈 Roadmap — 四階段建置期程】</a:t>
            </a:r>
          </a:p>
          <a:p>
            <a:r>
              <a:t>本頁對應整合提報版 Slide 18「導入藍圖與成效衡量」。</a:t>
            </a:r>
          </a:p>
          <a:p/>
          <a:p>
            <a:r>
              <a:t>Q1 基礎防禦網：</a:t>
            </a:r>
          </a:p>
          <a:p>
            <a:r>
              <a:t>• Control Gateway 最小可行版上線</a:t>
            </a:r>
          </a:p>
          <a:p>
            <a:r>
              <a:t>• 資料分級 D0~D3 定案+機器判讀</a:t>
            </a:r>
          </a:p>
          <a:p>
            <a:r>
              <a:t>• 稽核紀錄格式與留存政策發布</a:t>
            </a:r>
          </a:p>
          <a:p>
            <a:r>
              <a:t>• 單向 Diode 閘道部署、SSO+MFA、Harness 基礎映像</a:t>
            </a:r>
          </a:p>
          <a:p/>
          <a:p>
            <a:r>
              <a:t>Q2 單一部門先導：</a:t>
            </a:r>
          </a:p>
          <a:p>
            <a:r>
              <a:t>• AI Portal 首版（模型+工具目錄）</a:t>
            </a:r>
          </a:p>
          <a:p>
            <a:r>
              <a:t>• 先導單位隔離驗證</a:t>
            </a:r>
          </a:p>
          <a:p>
            <a:r>
              <a:t>• 首批行政庶務 Agent PoC (開箱即用 Harness)</a:t>
            </a:r>
          </a:p>
          <a:p>
            <a:r>
              <a:t>• 可觀測性平台建置</a:t>
            </a:r>
          </a:p>
          <a:p/>
          <a:p>
            <a:r>
              <a:t>Q3 AI 助理串聯：</a:t>
            </a:r>
          </a:p>
          <a:p>
            <a:r>
              <a:t>• 跨所 AI 助理協作上線</a:t>
            </a:r>
          </a:p>
          <a:p>
            <a:r>
              <a:t>• 雲端圍籬+閘道事件回送整合</a:t>
            </a:r>
          </a:p>
          <a:p>
            <a:r>
              <a:t>• 客製化 Harness 框架建立 (DeepAgents)</a:t>
            </a:r>
          </a:p>
          <a:p>
            <a:r>
              <a:t>• SOC SIEM 全功能上線</a:t>
            </a:r>
          </a:p>
          <a:p/>
          <a:p>
            <a:r>
              <a:t>Q4 全院合規上線：</a:t>
            </a:r>
          </a:p>
          <a:p>
            <a:r>
              <a:t>• 全院單位完成接取</a:t>
            </a:r>
          </a:p>
          <a:p>
            <a:r>
              <a:t>• 關閉舊有直連端點</a:t>
            </a:r>
          </a:p>
          <a:p>
            <a:r>
              <a:t>• ISO 42001 內部稽核+管理審查</a:t>
            </a:r>
          </a:p>
          <a:p>
            <a:r>
              <a:t>• 季度紅隊演練啟動</a:t>
            </a:r>
          </a:p>
          <a:p/>
          <a:p>
            <a:r>
              <a:t>年度 KPI：100% 閘道覆蓋 · 0 件 D2/D3 出境 · 影子 AI 收斂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【效益評估與 KPI 指標】</a:t>
            </a:r>
          </a:p>
          <a:p>
            <a:r>
              <a:t>四大 KPI 指標：</a:t>
            </a:r>
          </a:p>
          <a:p/>
          <a:p>
            <a:r>
              <a:t>1. 閘道覆蓋率 100%：全院 AI 呼叫經 Gateway，無直連殘留，影子 AI 完全收斂</a:t>
            </a:r>
          </a:p>
          <a:p>
            <a:r>
              <a:t>2. 資料出境事件 0 件：D2/D3 資料零出境，DLP+PII 全攔截，越權 100% 阻斷</a:t>
            </a:r>
          </a:p>
          <a:p>
            <a:r>
              <a:t>3. 合規覆蓋率 100%：ISO 42001 全項、NIST AI RMF 完整對標、OWASP AISVS 分級通過</a:t>
            </a:r>
          </a:p>
          <a:p>
            <a:r>
              <a:t>4. 作業效率提升 60%：公文 8hr→1hr、報表 4hr→30min、知識檢索 ×10</a:t>
            </a:r>
          </a:p>
          <a:p/>
          <a:p>
            <a:r>
              <a:t>風險降低矩陣：</a:t>
            </a:r>
          </a:p>
          <a:p>
            <a:r>
              <a:t>• 資料外洩：極高→低 (↓90%)，主要控制：Diode+DLP+PII+三落點路由</a:t>
            </a:r>
          </a:p>
          <a:p>
            <a:r>
              <a:t>• Prompt Injection：高→極低 (↓95%)，主要控制：Guardrail+格式正規+fail-closed</a:t>
            </a:r>
          </a:p>
          <a:p>
            <a:r>
              <a:t>• 越權操作：高→無 (↓100%)，主要控制：Deny-First+HITL+四級沙箱+白名單</a:t>
            </a:r>
          </a:p>
          <a:p>
            <a:r>
              <a:t>• 模型幻覺：中→低 (↓70%)，主要控制：事實驗證+引用比對+輸出護欄</a:t>
            </a:r>
          </a:p>
          <a:p>
            <a:r>
              <a:t>• 供應鏈攻擊：中→低 (↓80%)，主要控制：MCP自建自審+SBOM+簽章驗證</a:t>
            </a:r>
          </a:p>
          <a:p>
            <a:r>
              <a:t>• 影子 AI：高→無 (↓100%)，主要控制：Gateway強制通道+直連封鎖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【結論與下一步行動】</a:t>
            </a:r>
          </a:p>
          <a:p>
            <a:r>
              <a:t>本頁為主體篇的收尾。</a:t>
            </a:r>
          </a:p>
          <a:p/>
          <a:p>
            <a:r>
              <a:t>10 項關鍵研究成果：</a:t>
            </a:r>
          </a:p>
          <a:p>
            <a:r>
              <a:t>✅ 五大原則驅動架構設計 ✅ Harness 治理外框 ✅ 開箱即用 vs 客製化雙軌</a:t>
            </a:r>
          </a:p>
          <a:p>
            <a:r>
              <a:t>✅ 11 步資料流 ✅ 16 項檢核清單 ✅ 國際標準 29 項</a:t>
            </a:r>
          </a:p>
          <a:p>
            <a:r>
              <a:t>✅ Guardrail 五類+fail-closed ✅ SOC+紅隊+8欄位 ✅ 三落點+OPA</a:t>
            </a:r>
          </a:p>
          <a:p>
            <a:r>
              <a:t>✅ Roadmap+KPI</a:t>
            </a:r>
          </a:p>
          <a:p/>
          <a:p>
            <a:r>
              <a:t>行動建議：</a:t>
            </a:r>
          </a:p>
          <a:p>
            <a:r>
              <a:t>• 即刻：Gateway 最小可行版 + 資料分級定案</a:t>
            </a:r>
          </a:p>
          <a:p>
            <a:r>
              <a:t>• 30 天：首批庶務 Agent PoC + 稽核政策發布</a:t>
            </a:r>
          </a:p>
          <a:p>
            <a:r>
              <a:t>• 90 天：Portal 首版上線 + Guardrail + SOC</a:t>
            </a:r>
          </a:p>
          <a:p>
            <a:r>
              <a:t>• 180 天：DeepAgents 客製化 + ISO 42001 稽核</a:t>
            </a:r>
          </a:p>
          <a:p/>
          <a:p>
            <a:r>
              <a:t>接下來翻至補充篇，深入說明硬體基礎設施、護欄時序、供應鏈安全與零信任架構。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【補充篇過場頁】</a:t>
            </a:r>
          </a:p>
          <a:p>
            <a:r>
              <a:t>本節為 Gemini 3.1 Pro Review 後補強的四大進階主題。</a:t>
            </a:r>
          </a:p>
          <a:p/>
          <a:p>
            <a:r>
              <a:t>補強背景：</a:t>
            </a:r>
          </a:p>
          <a:p>
            <a:r>
              <a:t>主體篇已完整建構邏輯架構與管控流程，但經 Review 後發現以下面向可進一步深化：</a:t>
            </a:r>
          </a:p>
          <a:p>
            <a:r>
              <a:t>1. 硬體與網路層面的實體防護（K8s 容器排程、PAM 特權管控、PQ Tunnel 後量子零信任）</a:t>
            </a:r>
          </a:p>
          <a:p>
            <a:r>
              <a:t>2. 護欄服務的具體運作時序（如何做到 Input/Output 雙向攔截）</a:t>
            </a:r>
          </a:p>
          <a:p>
            <a:r>
              <a:t>3. 軟體供應鏈安全（SBOM 料件清單管控、MCP 工具的零信任授權機制）</a:t>
            </a:r>
          </a:p>
          <a:p>
            <a:r>
              <a:t>4. 國防部零信任架構的七大支柱對齊，以及 AI 驅動的自動化紅隊演練</a:t>
            </a:r>
          </a:p>
          <a:p/>
          <a:p>
            <a:r>
              <a:t>這四個補強項目均已交叉覆蓋五大原則，形成完整的防護矩陣（詳見最後一頁結論）。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【補充 01：硬體實體架構與零信任網路】</a:t>
            </a:r>
          </a:p>
          <a:p>
            <a:r>
              <a:t>本頁依據「圖 73 資安方案與本案架構說明」設計，對映至真實的網路與硬體拓樸。</a:t>
            </a:r>
          </a:p>
          <a:p/>
          <a:p>
            <a:r>
              <a:t>核心交換層：</a:t>
            </a:r>
          </a:p>
          <a:p>
            <a:r>
              <a:t>• Core Switch 以 100Gbps / 400Gbps Ethernet 建構高速骨幹</a:t>
            </a:r>
          </a:p>
          <a:p>
            <a:r>
              <a:t>• 導入 PQ Tunnel（後量子密碼學）零信任網路管理平台，完全符合 NIST SP 800-207 ZTA 標準</a:t>
            </a:r>
          </a:p>
          <a:p>
            <a:r>
              <a:t>• 確保即使未來量子電腦成熟，通道加密仍不會被破解</a:t>
            </a:r>
          </a:p>
          <a:p/>
          <a:p>
            <a:r>
              <a:t>四區隔離設計：</a:t>
            </a:r>
          </a:p>
          <a:p>
            <a:r>
              <a:t>1. 資料清洗區：單向閘道器 (Diode) 搭配清洗節點，負責外網資料過濾與格式正規化</a:t>
            </a:r>
          </a:p>
          <a:p>
            <a:r>
              <a:t>2. 算力資源區：以 Kubernetes (K8s) 進行容器化排程與資源隔離；搭載 Liquid-Cooled AMD MI355X 與 NVIDIA HGX B200；啟用 TEE 機密運算保護運行中的模型權重（即使維運人員也無法從記憶體 Dump 模型）</a:t>
            </a:r>
          </a:p>
          <a:p>
            <a:r>
              <a:t>3. 存取控制區：PAM 特權帳號管理節點嚴格控管 K8s 叢集與 Mgt 節點的維運存取權限</a:t>
            </a:r>
          </a:p>
          <a:p>
            <a:r>
              <a:t>4. 資安監控區：日誌管理節點 (1-4) 與威脅情資管理節點 (1-2)，介接 SOC 中心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【補充 02：護欄運作雙向循序流程】</a:t>
            </a:r>
          </a:p>
          <a:p>
            <a:r>
              <a:t>本頁依據「圖 79 護欄運作循序流程說明」設計。</a:t>
            </a:r>
          </a:p>
          <a:p/>
          <a:p>
            <a:r>
              <a:t>護欄服務為獨立於代理層和 LLM 之外的攔截點，強制執行雙向檢核：</a:t>
            </a:r>
          </a:p>
          <a:p/>
          <a:p>
            <a:r>
              <a:t>階段 0（前置設定）：</a:t>
            </a:r>
          </a:p>
          <a:p>
            <a:r>
              <a:t>Admin 管理員設定 System Prompt 與護欄政策規則（政策即程式碼 OPA/Rego）</a:t>
            </a:r>
          </a:p>
          <a:p/>
          <a:p>
            <a:r>
              <a:t>階段 1（輸入檢核）：</a:t>
            </a:r>
          </a:p>
          <a:p>
            <a:r>
              <a:t>1.  User 發送 Request → 代理層接收</a:t>
            </a:r>
          </a:p>
          <a:p>
            <a:r>
              <a:t>1.1 代理層將輸入送交護欄服務檢查（Prompt Injection 偵測、密級比對、DLP）</a:t>
            </a:r>
          </a:p>
          <a:p>
            <a:r>
              <a:t>1.2 護欄服務回應輸入確認結果（allow / block）</a:t>
            </a:r>
          </a:p>
          <a:p>
            <a:r>
              <a:t>1.3 若通過，代理層才將安全的 Prompt 送交 LLM</a:t>
            </a:r>
          </a:p>
          <a:p/>
          <a:p>
            <a:r>
              <a:t>階段 2（輸出檢核）：</a:t>
            </a:r>
          </a:p>
          <a:p>
            <a:r>
              <a:t>2.1 LLM 回傳回應給代理層</a:t>
            </a:r>
          </a:p>
          <a:p>
            <a:r>
              <a:t>2.2 代理層將輸出送交護欄服務檢查（敏感資訊、越級內容、有害內容）</a:t>
            </a:r>
          </a:p>
          <a:p>
            <a:r>
              <a:t>2.3 護欄服務回應輸出確認結果</a:t>
            </a:r>
          </a:p>
          <a:p/>
          <a:p>
            <a:r>
              <a:t>處置邏輯：</a:t>
            </a:r>
          </a:p>
          <a:p>
            <a:r>
              <a:t>• 若判定為「阻斷」→ 代理層將回應替換為系統警告字串後回傳使用者</a:t>
            </a:r>
          </a:p>
          <a:p>
            <a:r>
              <a:t>• 若判定為「通過」→ 完整回應回傳給使用者，完成推論請求</a:t>
            </a:r>
          </a:p>
          <a:p/>
          <a:p>
            <a:r>
              <a:t>全程寫入 Audit Log（單向、不可竄改）。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【補充 03：SBOM 供應鏈管控與 MCP 零信任授權】</a:t>
            </a:r>
          </a:p>
          <a:p>
            <a:r>
              <a:t>對齊 NIST SP 800-218A SSDF（安全軟體開發框架），從模型到工具建立完整信任鏈。</a:t>
            </a:r>
          </a:p>
          <a:p/>
          <a:p>
            <a:r>
              <a:t>一、SBOM (軟體料件清單) 管控：</a:t>
            </a:r>
          </a:p>
          <a:p/>
          <a:p>
            <a:r>
              <a:t>基礎模型層 (L1)：</a:t>
            </a:r>
          </a:p>
          <a:p>
            <a:r>
              <a:t>• 模型權重下載後強制要求提供 SBOM</a:t>
            </a:r>
          </a:p>
          <a:p>
            <a:r>
              <a:t>• 進行雜湊值 (Hash) 比對與數位簽章驗證</a:t>
            </a:r>
          </a:p>
          <a:p>
            <a:r>
              <a:t>• 確認無遭竄改或植入後門方可掛載至算力區 (K8s)</a:t>
            </a:r>
          </a:p>
          <a:p/>
          <a:p>
            <a:r>
              <a:t>MCP 工具層 (L4)：</a:t>
            </a:r>
          </a:p>
          <a:p>
            <a:r>
              <a:t>• MCP 伺服器與外掛套件上架前，必須提交原始碼與相依套件 SBOM</a:t>
            </a:r>
          </a:p>
          <a:p>
            <a:r>
              <a:t>• 經過自動化弱點掃描 (SCA) 排除已知 CVE 漏洞</a:t>
            </a:r>
          </a:p>
          <a:p>
            <a:r>
              <a:t>• 於 Portal 上架時由資安官進行雙重確認</a:t>
            </a:r>
          </a:p>
          <a:p/>
          <a:p>
            <a:r>
              <a:t>二、MCP 工具零信任授權 (mTLS)：</a:t>
            </a:r>
          </a:p>
          <a:p/>
          <a:p>
            <a:r>
              <a:t>• 全面禁止靜態 API Key，防止一旦外洩即造成橫向移動威脅</a:t>
            </a:r>
          </a:p>
          <a:p>
            <a:r>
              <a:t>• 改採短時效憑證 (Ephemeral Credentials)：例如 5 分鐘有效期，逾期自動失效</a:t>
            </a:r>
          </a:p>
          <a:p>
            <a:r>
              <a:t>• 結合 SPIFFE/SPIRE 簽發工作負載身分，MCP 與 Agent 之間強制 mTLS 雙向加密</a:t>
            </a:r>
          </a:p>
          <a:p/>
          <a:p>
            <a:r>
              <a:t>SBOM 紀錄一併綁定至 8 欄位稽核日誌，落實全鏈路 Traceability。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【補充 04：ZTA 七大支柱映射與 AI 自動化紅隊演練】</a:t>
            </a:r>
          </a:p>
          <a:p/>
          <a:p>
            <a:r>
              <a:t>一、國防部零信任 ZTA 七大支柱對齊 (NIST SP 800-207)：</a:t>
            </a:r>
          </a:p>
          <a:p>
            <a:r>
              <a:t>柱 1 User：SSO/MFA + ABAC 動態屬性授權</a:t>
            </a:r>
          </a:p>
          <a:p>
            <a:r>
              <a:t>柱 2 Device：端點 MDM / 內網設備健康度檢查</a:t>
            </a:r>
          </a:p>
          <a:p>
            <a:r>
              <a:t>柱 3 Network：PQ Tunnel 後量子通道 + 單閘 Diode</a:t>
            </a:r>
          </a:p>
          <a:p>
            <a:r>
              <a:t>柱 4 App：Harness 治理外框 + K8s 沙箱隔離</a:t>
            </a:r>
          </a:p>
          <a:p>
            <a:r>
              <a:t>柱 5 Data：DISA IL 分級 + RAG 隔離 + DLP 遮罩</a:t>
            </a:r>
          </a:p>
          <a:p>
            <a:r>
              <a:t>柱 6 Visibility：8 欄位留痕 + SBOM + SOC 監控</a:t>
            </a:r>
          </a:p>
          <a:p>
            <a:r>
              <a:t>柱 7 Automation：異常自動熔斷斷路器 (Circuit Breaker)</a:t>
            </a:r>
          </a:p>
          <a:p/>
          <a:p>
            <a:r>
              <a:t>二、AI 驅動之自動化紅隊演練 (Automated AI Red Teaming)：</a:t>
            </a:r>
          </a:p>
          <a:p>
            <a:r>
              <a:t>改變傳統靜態演練，引入「對抗性 LLM」自動對 Agent 進行攻擊測試。</a:t>
            </a:r>
          </a:p>
          <a:p/>
          <a:p>
            <a:r>
              <a:t>AIEC 量化防禦指標 (AI Evaluation Criteria)：</a:t>
            </a:r>
          </a:p>
          <a:p>
            <a:r>
              <a:t>• 提示抗注入率 (Prompt Robustness)：目標 &gt; 99.9%</a:t>
            </a:r>
          </a:p>
          <a:p>
            <a:r>
              <a:t>• 防降密洩漏率 (Data Exfiltration Prevention)：100% 阻斷</a:t>
            </a:r>
          </a:p>
          <a:p>
            <a:r>
              <a:t>• 沙箱與 MCP 逃逸防禦 (Sandbox Escape Resilience)：零容忍</a:t>
            </a:r>
          </a:p>
          <a:p>
            <a:r>
              <a:t>• 護欄攔截準確率 (Guardrail Precision)：每月抽樣重跑比對基準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【全案總結論 — 五大原則 × 四大補強 完整覆蓋】</a:t>
            </a:r>
          </a:p>
          <a:p>
            <a:r>
              <a:t>本頁為整份 23 頁簡報的最終收尾。</a:t>
            </a:r>
          </a:p>
          <a:p/>
          <a:p>
            <a:r>
              <a:t>覆蓋矩陣說明：</a:t>
            </a:r>
          </a:p>
          <a:p>
            <a:r>
              <a:t>五大原則（模型分層/資料分級/單一閘道/層層防護/全程留痕）與四大補強（K8s·PAM·PQ Tunnel / 護欄雙向時序 / SBOM·MCP mTLS / ZTA 七柱·AI 紅隊）形成 5×4 = 20 格交叉矩陣，每一格均有對應的技術措施與驗證機制，確保「沒有死角」。</a:t>
            </a:r>
          </a:p>
          <a:p/>
          <a:p>
            <a:r>
              <a:t>對長官的三項決策建議：</a:t>
            </a:r>
          </a:p>
          <a:p>
            <a:r>
              <a:t>1. 建議立即啟動 Gateway + PQ Tunnel 建置 — Q1 完成最小可行版</a:t>
            </a:r>
          </a:p>
          <a:p>
            <a:r>
              <a:t>2. 建議先導單位 PoC 雙軌並行 — 庶務 (開箱即用) + 武器 (DeepAgents)</a:t>
            </a:r>
          </a:p>
          <a:p>
            <a:r>
              <a:t>3. 建議建立 SBOM + AI 紅隊常態機制 — 納入 CI/CD + 季度演練</a:t>
            </a:r>
          </a:p>
          <a:p/>
          <a:p>
            <a:r>
              <a:t>全案 23 頁核心交付成果：</a:t>
            </a:r>
          </a:p>
          <a:p>
            <a:r>
              <a:t>• 主體篇 17 頁：五大原則、六節點縱深、Harness 雙軌、11步資料流、Guardrail 五類、國際標準 29 項、SOC 熔斷、端到端 16 項檢核、Q1~Q4 Roadmap、風險矩陣、KPI</a:t>
            </a:r>
          </a:p>
          <a:p>
            <a:r>
              <a:t>• 補充篇 6 頁：K8s/PAM/PQ Tunnel 實體架構、護欄 I/O 時序、SBOM+mTLS、ZTA 七柱+AI 紅隊、覆蓋矩陣+決策建議</a:t>
            </a:r>
          </a:p>
          <a:p/>
          <a:p>
            <a:r>
              <a:t>五大原則貫穿全案，首尾呼應。報告完畢，敬請裁示。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JhengHei"/>
              </a:defRPr>
            </a:pPr>
            <a:r>
              <a:t>國防 AI 服務鏈 總結報告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DAEF5"/>
                </a:solidFill>
                <a:latin typeface="Microsoft JhengHei"/>
              </a:defRPr>
            </a:pPr>
            <a:r>
              <a:t>AI Service Chain — 架構研析 · 安全治理 · 建置藍圖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657600"/>
            <a:ext cx="1463040" cy="5029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3657600"/>
            <a:ext cx="146304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3657600"/>
            <a:ext cx="1463040" cy="50292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3657600"/>
            <a:ext cx="146304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657600"/>
            <a:ext cx="146304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D6D7E"/>
                </a:solidFill>
                <a:latin typeface="Microsoft JhengHei"/>
              </a:defRPr>
            </a:pPr>
            <a:r>
              <a:t>研析引擎：Claude Opus 4.6 (Thinking) │ 報告日期：2026-09-13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5DBE1"/>
                </a:solidFill>
                <a:latin typeface="Microsoft JhengHei"/>
              </a:defRPr>
            </a:pPr>
            <a:r>
              <a:t>涵蓋範圍：Agent 開發流程 · 使用者操作流程 · AI 資安防護 · Roadmap 效益評估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報告目錄 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" cy="5029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五大原則總覽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模型分層 · 資料分級 · 單一閘道 · 層層防護 · 全程留痕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1952"/>
            <a:ext cx="502920" cy="5029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AI 服務鏈全景架構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六節點縱深防禦：防火牆→Portal→Gateway→算力→沙箱→Guardrail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15184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Agent 開發者 — 行政庶務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開箱即用 Harness：Claude Code / Codex / Antigravity 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28416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Agent 開發者 — 武器系統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84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客製化 Harness：LangChain DeepAgents · 三重沙箱 · HITL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41648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Agent 開發者 — 管控與軌跡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Harness 治理外框 · CI/CD · 可觀測性 · 8欄位稽核紀錄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02920" cy="50292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Agent 使用者 — Portal 操作流程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Portal→Gateway 11步資料流 · RBAC+ABAC · HITL 審批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68112"/>
            <a:ext cx="502920" cy="50292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Agent 使用者 — 管控與軌跡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24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Portal/Gateway 雙管控 · 不可否認紀錄 · fail-closed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502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資安防護：單閘 Diode · DLP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單向閘道 · 資料外洩防護 · PII遮罩 · 落點路由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901952"/>
            <a:ext cx="502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資安防護：資料治理 · 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579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五階資料管線 · 五類 Guardrail · 處置矩陣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615184"/>
            <a:ext cx="502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資安防護：AI 國際標準全覽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ISO 42001 · NIST AI RMF · OWASP AISVS · MITRE ATLAS 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328416"/>
            <a:ext cx="502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資安防護：SOC 監控與熔斷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84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SIEM · 異常偵測 · 斷路器 · 事件回應 · 紅隊演練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041648"/>
            <a:ext cx="502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AI 服務鏈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四階段建置：Q1基礎→Q2先導→Q3串聯→Q4全院合規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54880"/>
            <a:ext cx="502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效益評估與 KPI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100%閘道覆蓋 · 0件出境事件 · 影子AI收斂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468112"/>
            <a:ext cx="502920" cy="502920"/>
          </a:xfrm>
          <a:prstGeom prst="round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468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結論與下一步行動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24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關鍵成果 · 決策建議 · 後續規劃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01  五大原則總覽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5DBE1"/>
                </a:solidFill>
                <a:latin typeface="Microsoft JhengHei"/>
              </a:defRPr>
            </a:pPr>
            <a:r>
              <a:t>所有設計決策均錨定於五大安全治理原則，貫穿 AI 服務鏈全生命週期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148840" cy="5029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874519" cy="59436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AEF5"/>
                </a:solidFill>
                <a:latin typeface="Microsoft JhengHei"/>
              </a:defRPr>
            </a:pPr>
            <a:r>
              <a:t>Model Tiering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L1 通用基礎模型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L2 領域 DSLM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L3 Agent 代理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L4 Skill / 工具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L5 領域知識庫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T1~T3 地端 / T4 雲端路由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371600"/>
            <a:ext cx="2148840" cy="5029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554480"/>
            <a:ext cx="1874519" cy="5943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AEF5"/>
                </a:solidFill>
                <a:latin typeface="Microsoft JhengHei"/>
              </a:defRPr>
            </a:pPr>
            <a:r>
              <a:t>Data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公開 IL-2（TLP:CLEAR）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營業秘密 IL-4（TLP:AMBER）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核心營業秘密 IL-5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機密 IL-6（TLP:RED）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C-I-A 三元組評定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標籤繼承至 RAG 切片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48840" cy="5029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60" y="1554480"/>
            <a:ext cx="1874519" cy="59436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AEF5"/>
                </a:solidFill>
                <a:latin typeface="Microsoft JhengHei"/>
              </a:defRPr>
            </a:pPr>
            <a:r>
              <a:t>Single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Portal＝單一入口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Gateway＝單一出口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金鑰僅存 Gateway 密鑰庫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防火牆封鎖 API 直連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OPA/Rego 三維裁決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fail-closed 預設拒絕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371600"/>
            <a:ext cx="2148840" cy="5029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79" y="1554480"/>
            <a:ext cx="1874519" cy="59436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AEF5"/>
                </a:solidFill>
                <a:latin typeface="Microsoft JhengHei"/>
              </a:defRPr>
            </a:pPr>
            <a:r>
              <a:t>Defense in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Harness 治理外框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六節點縱深防禦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五類 Guardrail 佈設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L0~L3 四級沙箱隔離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HITL interrupt() 閘門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對齊 ISO 42001 AIMS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371600"/>
            <a:ext cx="2148840" cy="5029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29800" y="1554480"/>
            <a:ext cx="1874519" cy="5943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2402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AEF5"/>
                </a:solidFill>
                <a:latin typeface="Microsoft JhengHei"/>
              </a:defRPr>
            </a:pPr>
            <a:r>
              <a:t>Full 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8 欄位不可否認紀錄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append-only 防竄改 ≥ 1 年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全鏈路 trace 可觀測性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SOC 即時告警介接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異常熔斷斷路器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稽核 + 紅隊演練佐證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02  AI 服務鏈全景架構 — 六節點縱深防禦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防火牆 → Portal → Gateway → 核心算力 → 沙箱/Container → 輸出 Guardrail　每一節點皆為獨立管控點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1389888"/>
            <a:ext cx="1682496" cy="4572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 邊界防火牆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NGFW+IPS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預設拒絕白名單放行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南北向微分段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出向封鎖 API 直連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跨域不開雙向通道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NIST SP 800-41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A 級防護基準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9111" y="3017520"/>
            <a:ext cx="182880" cy="228600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21992" y="1389888"/>
            <a:ext cx="1682496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 使用者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SSO+MFA 雙因素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會話綁定部門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上傳掃描+分級標示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提示前置 DLP 檢查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禁跨部門歷史檢視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ISO 27001 A.5.15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OWASP AISVS C1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5071" y="3017520"/>
            <a:ext cx="182880" cy="228600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1389888"/>
            <a:ext cx="1682496" cy="45720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 AI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OPA/Rego 三維裁決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分級路由: 敏感→地端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注入偵測+速率配額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全量留跡: 提示/模型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金鑰集中+fail-closed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OWASP LLM01/10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ISO 42001 A.6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1031" y="3017520"/>
            <a:ext cx="182880" cy="228600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59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1" y="1389888"/>
            <a:ext cx="1682496" cy="457200"/>
          </a:xfrm>
          <a:prstGeom prst="round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 核心算力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四層模型堆疊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模型權重簽章+SBOM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部門 GPU 配額隔離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離線評測後上線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不以敏感資料微調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E3A6E"/>
                </a:solidFill>
                <a:latin typeface="Microsoft JhengHei"/>
              </a:defRPr>
            </a:pPr>
            <a:r>
              <a:t>NIST AI RMF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1E3A6E"/>
                </a:solidFill>
                <a:latin typeface="Microsoft JhengHei"/>
              </a:defRPr>
            </a:pPr>
            <a:r>
              <a:t>ISO 42001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36990" y="3017520"/>
            <a:ext cx="182880" cy="228600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19872" y="1389888"/>
            <a:ext cx="1682496" cy="4572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 沙箱/容器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每次呼叫獨立容器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用後即銷毀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預設無網路+唯讀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AppArmor+cgroup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MCP 自建自審白名單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8E44AD"/>
                </a:solidFill>
                <a:latin typeface="Microsoft JhengHei"/>
              </a:defRPr>
            </a:pPr>
            <a:r>
              <a:t>OWASP AISVS C10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8E44AD"/>
                </a:solidFill>
                <a:latin typeface="Microsoft JhengHei"/>
              </a:defRPr>
            </a:pPr>
            <a:r>
              <a:t>LLM06 過度代理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02951" y="3017520"/>
            <a:ext cx="182880" cy="228600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1280160"/>
            <a:ext cx="1828800" cy="4114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85832" y="1389888"/>
            <a:ext cx="1682496" cy="4572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 輸出 Guardrail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196596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敏感資訊偵測遮蔽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越級阻斷+封鎖會話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HITL interrupt() 核可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輸出加註分級標籤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可追溯浮水印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OWASP LLM02</a:t>
            </a:r>
          </a:p>
          <a:p>
            <a:pPr>
              <a:lnSpc>
                <a:spcPts val="1120"/>
              </a:lnSpc>
              <a:spcAft>
                <a:spcPts val="240"/>
              </a:spcAft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ISO 42001 A.9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577840"/>
            <a:ext cx="11795760" cy="411480"/>
          </a:xfrm>
          <a:prstGeom prst="rect">
            <a:avLst/>
          </a:prstGeom>
          <a:solidFill>
            <a:srgbClr val="1A2F55"/>
          </a:solidFill>
          <a:ln w="1905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14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C730"/>
                </a:solidFill>
                <a:latin typeface="Microsoft JhengHei"/>
              </a:defRPr>
            </a:pPr>
            <a:r>
              <a:t>Harness 治理外框（橫跨五層）── 模型負責「想」，Harness 負責「准不准做」── 工具白名單 · 重大動作先問人 · 用量上限 · 全程留紀錄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回應路徑：核心算力/沙箱 → 輸出Guardrail → Gateway留跡 → Portal → 使用者。任一節點命中規則即阻斷、留跡並告警，不得由使用者自行重試繞過。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03  Agent 開發者 — 行政庶務 Agent（開箱即用 Harness）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適用場景：公文撰擬、會議摘要、知識問答、報表產製 │ 安全等級：DISA IL-2 ~ IL-4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開箱即用 Harness 選項 — 自帶完整治理框架，快速部署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3749039" cy="27432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3566160" cy="4572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Claude Code 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內建 Harness 治理外框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自帶 HITL 審批機制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檔案系統權限控制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工具白名單管理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沙箱隔離執行環境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即裝即用・低學習曲線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749039" cy="27432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566160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OpenAI Codex  (OpenAI)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Codex Agent 執行環境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內建程式碼沙箱隔離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工具呼叫標準化協議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自動化任務拆解引擎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輸入/輸出護欄預置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雲端/地端模型切換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749039" cy="27432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3566160" cy="45720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Antigravity 2.0  (Google DeepMind)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子 Agent 委派 + 隔離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虛擬檔案系統 (VFS)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自帶可觀測性追蹤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記憶與上下文管理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多模態輸入支援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• 企業級安全防護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開發流程 — 選用開箱即用 Harness 快速部署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① 需求定義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場景確認 · IL等級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0312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② Harness 選型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Claude/Codex/AGY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6908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③ 工具配置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MCP自建自審·白名單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3504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199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④ 權限 + HITL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Deny-First · 審批點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00999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⑤ 安全測試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越獄/注入/權限測試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66960" y="5212080"/>
            <a:ext cx="201168" cy="22860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04120" y="4983480"/>
            <a:ext cx="1783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⑥ 容器化部署</a:t>
            </a:r>
          </a:p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CI/CD · 映像掃描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52160"/>
            <a:ext cx="11612880" cy="822960"/>
          </a:xfrm>
          <a:prstGeom prst="rect">
            <a:avLst/>
          </a:prstGeom>
          <a:solidFill>
            <a:srgbClr val="1A2F5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897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共通管控要求 ▸ Harness 以基礎映像強制注入，比對失敗即拒絕啟動 ▸ MCP 伺服器一律自建自審，禁止直連外部未審伺服器 ▸ 工具採白名單 ▸ 高衝擊動作強制 HITL ▸ 全量 append-only 稽核日誌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04  Agent 開發者 — 武器系統 Agent（客製化 Harness）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適用場景：戰術決策支援、情資分析、武器效能評估 │ 安全等級：DISA IL-5 ~ IL-6 │ LangChain DeepAgents 客製化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53035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LangChain DeepAgents 客製化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① 三層堆疊客製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Runtime(LangGraph) → Framework(LangChain) → Harness(DeepAgents)</a:t>
            </a:r>
            <a:br/>
            <a:r>
              <a:t>各層獨立配置、安全策略疊加、Middleware 鉤子注入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② Context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CompositeBackend (VFS) 大檔案卸載磁碟/記憶體</a:t>
            </a:r>
            <a:br/>
            <a:r>
              <a:t>read_file(offset,limit) 精準讀取，避免上下文膨脹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③ 強化權限+沙箱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576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L0 語言層→L1 程序層→L2 容器→L3 微虛擬機 四級隔離</a:t>
            </a:r>
            <a:br/>
            <a:r>
              <a:t>Deny-First + Catch-All Deny 絕對防線 · 即拋式執行環境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④ 多層 HITL 審批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72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武器決策→指揮官→法律官 鏈式審批</a:t>
            </a:r>
            <a:br/>
            <a:r>
              <a:t>interrupt_on 多點掛載 · Checkpointer 斷點恢復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⑤ 全規範合規驗證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4864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ISO 42001 · NIST AI RMF · OWASP AISVS · MITRE ATLAS</a:t>
            </a:r>
            <a:br/>
            <a:r>
              <a:t>Agent/Skills 安全基準全覆蓋 · 紅隊演練門檻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669280" cy="53035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Harness 選型對照表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1691640" cy="384048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比較維度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828800"/>
            <a:ext cx="1691640" cy="384048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開箱即用 Harness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828800"/>
            <a:ext cx="1691640" cy="384048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客製化 Harness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67712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代表工具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267712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Claude Code</a:t>
            </a:r>
            <a:br/>
            <a:r>
              <a:t>Codex · AGY 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2267712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LangChain</a:t>
            </a:r>
            <a:br/>
            <a:r>
              <a:t>DeepAgents v0.7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51760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適用場景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651760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行政庶務 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651760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武器系統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35808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資料密級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035808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IL-2 ~ IL-4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3035808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IL-5 ~ IL-6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19856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權限模式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419856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內建 Deny-First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3419856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多層 ACL+四級沙箱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03904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HITL 審批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80" y="3803904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單層審批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3803904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多層鏈式審批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87952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模型選用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4187952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雲端/地端通用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4187952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僅限地端隔離模型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572000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執行隔離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4572000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容器化沙箱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60" y="4572000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gVisor/Kata/Firecracker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56048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MCP 治理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4956048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標準工具白名單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956048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自建自審+能力憑證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340096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合規覆蓋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5340096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基礎合規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5340096"/>
            <a:ext cx="1691640" cy="365760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全規範+紅隊演練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724144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開發週期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5724144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BC9C"/>
                </a:solidFill>
                <a:latin typeface="Microsoft JhengHei"/>
              </a:defRPr>
            </a:pPr>
            <a:r>
              <a:t>1~2 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5724144"/>
            <a:ext cx="1691640" cy="365760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E87C2A"/>
                </a:solidFill>
                <a:latin typeface="Microsoft JhengHei"/>
              </a:defRPr>
            </a:pPr>
            <a:r>
              <a:t>2~3 個月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05  Agent 開發者 — Harness 治理外框與管控軌跡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模型負責「想」，Harness 負責「准不准做」── 四項強制功能 + 五層管控 + 8欄位稽核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Harness 四項強制功能（無法關閉、無法改寫）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C730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icrosoft JhengHei"/>
              </a:defRPr>
            </a:pPr>
            <a:r>
              <a:t>工具白名單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AI 能動用哪些工具，須先經審查登記；外部來源之 MCP 工具伺服器一律不採用，全數自建自審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C730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icrosoft JhengHei"/>
              </a:defRPr>
            </a:pPr>
            <a:r>
              <a:t>重大動作先問人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對外發送、系統寫入等無法復原之動作，執行前一律停下等候人工核准 (HITL interrupt())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C730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icrosoft JhengHei"/>
              </a:defRPr>
            </a:pPr>
            <a:r>
              <a:t>用量與成本上限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單次任務與各單位每日用量皆設上限，異常暴衝自動熔斷，避免失控支出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C730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icrosoft JhengHei"/>
              </a:defRPr>
            </a:pPr>
            <a:r>
              <a:t>全程留紀錄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做了什麼、查了哪些資料、產出什麼，完整留存 (append-only)，事後可逐步重建與課責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669280" cy="28346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C730"/>
                </a:solidFill>
                <a:latin typeface="Microsoft JhengHei"/>
              </a:defRPr>
            </a:pPr>
            <a:r>
              <a:t>Harness 貫穿 L1~L5 五層強制作為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L5 知識庫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檢索標記不可信 · 依密級過濾 · DLP比對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75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L4 技能/MCP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0756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簽章白名單 · Schema驗證 · 沙箱執行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054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L3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505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迴圈步數熔斷 · 部門隔離 · HITL閘門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35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L2 DSLM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9352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語料核可清單 · 評測門檻 gating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L1 基礎模型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649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雜湊驗簽 · 系統提示凍結唯讀 · 參數上限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206240"/>
            <a:ext cx="11612880" cy="22860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8 欄位不可否認稽核紀錄（防竄改保存 ≥ 1 年）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① 請求識別碼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Request ID / Trace ID — 全鏈路追溯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② 身分/租戶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User/Tenant ID — SPIFFE/SPIRE 工作負載憑證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③ 模型版本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Model Version + 組態 — 含 SBOM 紀錄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④ 遮罩提示詞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Masked Prompt — 脫敏後完整保留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⑤ RAG 來源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引用來源+DISA IL 分級標籤 — 命中紀錄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⑥ 工具呼叫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Tool Calls + 參數 + 返回值 — 完整捕獲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⑦ HITL 核可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Approver Signature — 審批者身分+時戳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303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⑧ 處置結果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Decision + Status — allow/redact/block/escalate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06  Agent 使用者 — Portal 到 Agent 的 11 步資料流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① 登入提需求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瀏覽器/用戶端</a:t>
            </a:r>
            <a:br/>
            <a:r>
              <a:t>登入 Portal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4300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② 身分驗證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SSO+MFA</a:t>
            </a:r>
            <a:br/>
            <a:r>
              <a:t>角色套用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③ 組裝請求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範本+語料選集</a:t>
            </a:r>
            <a:br/>
            <a:r>
              <a:t>+分級標記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8999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④ 身分識別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Gateway</a:t>
            </a:r>
            <a:br/>
            <a:r>
              <a:t>部門識別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39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⑤ 分級檢核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注入防護</a:t>
            </a:r>
            <a:br/>
            <a:r>
              <a:t>密級比對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⑥ 模型路由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落點判定</a:t>
            </a:r>
            <a:br/>
            <a:r>
              <a:t>地端/雲端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2940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39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3A6E"/>
                </a:solidFill>
                <a:latin typeface="Microsoft JhengHei"/>
              </a:defRPr>
            </a:pPr>
            <a:r>
              <a:t>⑦ 推論執行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工具呼叫</a:t>
            </a:r>
            <a:br/>
            <a:r>
              <a:t>向量檢索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26679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8E44AD"/>
                </a:solidFill>
                <a:latin typeface="Microsoft JhengHei"/>
              </a:defRPr>
            </a:pPr>
            <a:r>
              <a:t>⑧ 輸出過濾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DLP + 來源</a:t>
            </a:r>
            <a:br/>
            <a:r>
              <a:t>標註校驗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1540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7AE60"/>
                </a:solidFill>
                <a:latin typeface="Microsoft JhengHei"/>
              </a:defRPr>
            </a:pPr>
            <a:r>
              <a:t>⑨ 稽核落檔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唯讀累加</a:t>
            </a:r>
            <a:br/>
            <a:r>
              <a:t>8欄位留存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21240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12679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⑩ 回應呈現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引用標示</a:t>
            </a:r>
            <a:br/>
            <a:r>
              <a:t>分級標籤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1018519" y="1600200"/>
            <a:ext cx="137160" cy="164592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09960" y="1097280"/>
            <a:ext cx="987552" cy="13716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⑪ 取得回應</a:t>
            </a:r>
          </a:p>
          <a:p>
            <a:pPr algn="ctr">
              <a:defRPr sz="700">
                <a:solidFill>
                  <a:srgbClr val="D5DBE1"/>
                </a:solidFill>
                <a:latin typeface="Microsoft JhengHei"/>
              </a:defRPr>
            </a:pPr>
            <a:r>
              <a:t>使用者</a:t>
            </a:r>
            <a:br/>
            <a:r>
              <a:t>下載/查閱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743200"/>
            <a:ext cx="11612880" cy="18288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HITL 人機審批流程（高衝擊動作強制中斷）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Agent 提議動作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模型產出工具</a:t>
            </a:r>
            <a:br/>
            <a:r>
              <a:t>呼叫意圖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221992" y="3611880"/>
            <a:ext cx="182880" cy="201168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Harness 攔截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interrupt_on</a:t>
            </a:r>
            <a:br/>
            <a:r>
              <a:t>掛起執行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142232" y="3611880"/>
            <a:ext cx="182880" cy="201168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8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狀態快照保存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Checkpointer</a:t>
            </a:r>
            <a:br/>
            <a:r>
              <a:t>保存斷點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62472" y="3611880"/>
            <a:ext cx="182880" cy="201168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呈現審批面板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Portal 顯示</a:t>
            </a:r>
            <a:br/>
            <a:r>
              <a:t>決策軌跡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82712" y="3611880"/>
            <a:ext cx="182880" cy="201168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人工決策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approve/edit</a:t>
            </a:r>
            <a:br/>
            <a:r>
              <a:t>/reject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902952" y="3611880"/>
            <a:ext cx="182880" cy="201168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0" y="3200400"/>
            <a:ext cx="1737360" cy="1097280"/>
          </a:xfrm>
          <a:prstGeom prst="roundRect">
            <a:avLst/>
          </a:prstGeom>
          <a:solidFill>
            <a:srgbClr val="1E3A6E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7C2A"/>
                </a:solidFill>
                <a:latin typeface="Microsoft JhengHei"/>
              </a:defRPr>
            </a:pPr>
            <a:r>
              <a:t>恢復執行</a:t>
            </a:r>
          </a:p>
          <a:p>
            <a:pPr algn="ctr">
              <a:defRPr sz="800">
                <a:solidFill>
                  <a:srgbClr val="D5DBE1"/>
                </a:solidFill>
                <a:latin typeface="Microsoft JhengHei"/>
              </a:defRPr>
            </a:pPr>
            <a:r>
              <a:t>Command</a:t>
            </a:r>
            <a:br/>
            <a:r>
              <a:t>(resume=...)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846320"/>
            <a:ext cx="11612880" cy="173736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使用者端管控機制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03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Portal 管控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身分+部門綁定 · Agent/技能上架審查 · 用途+密級宣告 · 禁跨部門歷史 · 閒置逾期自動下架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87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Gateway 管控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687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OPA/Rego 三維裁決 · 金鑰集中 · 速率/併發/成本上限 · 全量留跡+歸屬計費 · fail-closed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716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▶ 隔離原則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07161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會話 thread_id 隔離 · namespace 多租戶 · 部門 GPU 配額 · 跨密級存取告警 · 即時降級/鎖定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07  Agent 使用者 — 操作管控與軌跡紀錄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54864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Portal + Gateway 雙管控模型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Microsoft JhengHei"/>
              </a:defRPr>
            </a:pPr>
            <a:r>
              <a:t>◆ Portal 側管控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單一撤銷點：一鍵停用部門/模型/Agent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上架審查：Agent+技能須經安全審查後掛載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用途宣告：申請時宣告最高資料密級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使用可視化：用量/成本/拒絕率儀表板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生命週期收斂：閒置逾期自動下架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◆ Gateway 側強制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G1 強制通道：全院 AI 僅經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G2 落點路由：依分級決定地端/圍籬/外部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G3 流量成本：逾限降級或拒絕 (fail-closed)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G4 稽核歸屬：全量留存+部門歸屬計費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金鑰集中：用戶端與 Agent 一律不持有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085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Microsoft JhengHei"/>
              </a:defRPr>
            </a:pPr>
            <a:r>
              <a:t>◆ RBAC + ABAC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82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角色 RBAC：管理員/開發者/使用者/審核官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11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屬性 ABAC：單位/密級/時段/裝置+網段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0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短時效 Token：mTLS 服務身分識別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686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最小權限：動態策略引擎即時評估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972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越權即鎖：異常行為即時降級封鎖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005840"/>
            <a:ext cx="5669280" cy="54864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不可否認軌跡與 fail-closed 原則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Microsoft JhengHei"/>
              </a:defRPr>
            </a:pPr>
            <a:r>
              <a:t>◆ append-only 稽核體系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僅可附加 JSONL 記錄格式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48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提示+工具呼叫+結果完整留存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677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雜湊鏈串接+異地備份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4871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保存期限 ≥ 1 年（法規要求）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797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JhengHei"/>
              </a:defRPr>
            </a:pPr>
            <a:r>
              <a:t>◆ fail-closed 設計原則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54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檢查器不可用或逾時→一律不通過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735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請求未匹配核准政策→一律拒絕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930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前一節點失效→不得使後續失守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7124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HITL 逾時→預設拒絕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Microsoft JhengHei"/>
              </a:defRPr>
            </a:pPr>
            <a:r>
              <a:t>◆ 處置矩陣（五種判定）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793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放行 (allow)：全部通過留存判定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98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去識別 (redact)：遮蔽個資後放行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183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改寫重試 (rewrite)：退回限次重生成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937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阻斷 (block)：機密/金鑰/有害→終止告警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1572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轉人工 (escalate)：高衝擊→HITL 裁決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49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Microsoft JhengHei"/>
              </a:defRPr>
            </a:pPr>
            <a:r>
              <a:t>◆ SOC 介接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7241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即時告警：異常頻率/跨密級/越權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943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斷路器 (Circuit Breaker) 自動熔斷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6163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事故復原：權杖撤銷+語料回收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08  資安防護（一）：單閘 Diode · DLP · 落點路由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657600" cy="51206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🔒 單向閘道器 (Diode/CDS)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入向管制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物理單向傳輸 · 深度封包檢測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外網語料落地隔離區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格式正規化：剔除巨集/可執行碼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僅保留純文字/結構化資料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4261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人工抽驗→通過後匯入內網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52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Microsoft JhengHei"/>
              </a:defRPr>
            </a:pPr>
            <a:r>
              <a:t>▸ 出向管制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91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機敏資料絕對禁止離開內網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禁止送往公有雲模型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所有出向→DLP+PII遮罩檢核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96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嚴禁任何形式繞道直連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005840"/>
            <a:ext cx="3657600" cy="51206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🛡️ DLP + PII 遮罩引擎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DLP 檢核層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764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即時內容掃描引擎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842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機敏關鍵字/正則/ML 分類器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0370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文件指紋 (Fingerprint)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23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影像 OCR 文字提取檢核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PII 遮罩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71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身分證號/電話/地址→自動脫敏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191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軍事座標/武器參數→等級遮罩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4107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人名/單位→去識別化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6301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金鑰/密級標記→即時阻斷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9227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Microsoft JhengHei"/>
              </a:defRPr>
            </a:pPr>
            <a:r>
              <a:t>▸ 處置機制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1788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即時阻斷+告警通報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39826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事件升級 SOC 監控中心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617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違規紀錄完整留存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005840"/>
            <a:ext cx="3931920" cy="51206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1097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📍 三落點路由判定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508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A 地端院內機房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764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D0~D3 皆可存放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984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D3 僅限實體隔離網域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2037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本院自建模型+AI助理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423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不依賴任何外部服務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7157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B 圍籬內雲端 (VPC)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971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D0/D1 可存放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1912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D2 須逐案核可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410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CMEK/EKM 自管金鑰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6301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服務邊界限制資料外流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9227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Microsoft JhengHei"/>
              </a:defRPr>
            </a:pPr>
            <a:r>
              <a:t>▸ C 圍籬外雲端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1788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不存放本院任何資料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3982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僅供 D0+去識別化 D1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6177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經閘道呼叫+逐案核准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8371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契約載明零資料保留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判定原則：以「資料被送到哪一區」認定落點，而非 AI 服務位於何處 │ 就近且從嚴：地端能達成者不逕用雲端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09  資安防護（二）：資料治理管線 · Guardrail 五類佈設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53949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📊 Agentic 資料安全管控五步路徑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011680" cy="32004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01 資料盤點與分級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08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依業務盤點資產 · 四級(公開/內部/敏感/機密)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明訂禁入清單與跨域流通規則</a:t>
            </a:r>
          </a:p>
        </p:txBody>
      </p:sp>
      <p:sp>
        <p:nvSpPr>
          <p:cNvPr id="8" name="Down Arrow 7"/>
          <p:cNvSpPr/>
          <p:nvPr/>
        </p:nvSpPr>
        <p:spPr>
          <a:xfrm>
            <a:off x="1280160" y="1874520"/>
            <a:ext cx="228600" cy="320040"/>
          </a:xfrm>
          <a:prstGeom prst="down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350008"/>
            <a:ext cx="2011680" cy="3200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02 標籤綁定與繼承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35000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分級寫入檔案屬性+資料庫欄位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切塊/向量繼承來源標籤 · Agent 不得自行降級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80160" y="2715768"/>
            <a:ext cx="228600" cy="320040"/>
          </a:xfrm>
          <a:prstGeom prst="down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191256"/>
            <a:ext cx="2011680" cy="32004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03 政策即程式碼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19125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OPA/Rego 轉為可執行政策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身分×分級×用途 三維授權 · 版本化管理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280160" y="3557016"/>
            <a:ext cx="228600" cy="320040"/>
          </a:xfrm>
          <a:prstGeom prst="down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032504"/>
            <a:ext cx="201168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04 執行期強制點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03250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先授權後召回：檢索前過濾，非事後遮蔽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工具呼叫+輸出雙向檢查 · 高衝擊 HITL 攔截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280160" y="4398264"/>
            <a:ext cx="228600" cy="320040"/>
          </a:xfrm>
          <a:prstGeom prst="down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873752"/>
            <a:ext cx="2011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05 稽核與復原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87375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全鏈路留跡(提示/檢索/工具/輸出)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越級存取即時告警+自動封鎖 · 權杖撤銷+語料回收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05840"/>
            <a:ext cx="5669280" cy="53949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C730"/>
                </a:solidFill>
                <a:latin typeface="Microsoft JhengHei"/>
              </a:defRPr>
            </a:pPr>
            <a:r>
              <a:t>🚧 Guardrail 五類佈設點（Gateway + Harness 雙點）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554480"/>
            <a:ext cx="1463040" cy="3200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輸入護欄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身分+部門檢核 · Prompt Injection 偵測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輸入長度+外部內容來源標記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95728"/>
            <a:ext cx="1463040" cy="32004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檢索護欄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9572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依密級過濾索引 · 剝除文件夾帶指令語意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標記檢索內容為不可信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36976"/>
            <a:ext cx="1463040" cy="32004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工具/動作護欄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23697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工具白名單 · 參數 Schema 驗證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副作用與資源範圍檢查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78224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輸出護欄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0782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結構驗證 · 有害內容過濾 · DLP 掃描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引用比對 · 去指令化防二次注入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919472"/>
            <a:ext cx="14630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行為/迴圈護欄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91947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步數/代幣/成本上限 · 重複動作偵測</a:t>
            </a:r>
          </a:p>
          <a:p>
            <a:pPr>
              <a:lnSpc>
                <a:spcPts val="126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逾限自動熔斷+收斂工作階段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60720"/>
            <a:ext cx="11612880" cy="82296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不可退讓之架構紅線 ▸ 隔離邊界不得因 Agent 專案而開孔 ▸ 敏感級以上資料不得送往雲端模型 ▸ 高衝擊動作必經 HITL 人工核可 ▸ MCP 伺服器一律自建自審後始得上架</a:t>
            </a:r>
            <a:br/>
            <a:r>
              <a:t>設計原則：檢查器不可用或逾時，一律視為不通過 (fail-closed)；兩段式檢查：確定性規則先行，僅灰區交由模型評審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10  AI 國際標準與法規合規全覽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由治理制度向下貫穿至技術驗證與稽核佐證 — 四大支柱完整覆蓋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880360" cy="47548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1298448"/>
            <a:ext cx="2734056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01 ISO 治理框架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ISO/IEC 42001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AI 管理系統 (AIMS)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ISO/IEC 27001·27002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資安管理+控制措施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ISO/IEC 27017·27018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雲端安全+雲端個資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ISO/IEC 27040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儲存安全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ISO/IEC 27701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隱私資訊管理 (PIMS)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86C1"/>
                </a:solidFill>
                <a:latin typeface="Microsoft JhengHei"/>
              </a:defRPr>
            </a:pPr>
            <a:r>
              <a:t>ISO 17025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實驗室能力稽核佐證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188720"/>
            <a:ext cx="2880360" cy="47548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73552" y="1298448"/>
            <a:ext cx="2734056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02 NIST 風險框架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RMF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GOVERN/MAP/MEASURE/MANAGE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600-1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GenAI 剖繪·12類風險對策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800-53 R5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安全與隱私控制基線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800-218A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GenAI 安全開發 (SSDF)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800-171 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CUI 非機密受控保護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CSF 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Govern 功能銜接 AI 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AI 100-2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對抗式 ML 攻擊分類法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0690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BC9C"/>
                </a:solidFill>
                <a:latin typeface="Microsoft JhengHei"/>
              </a:defRPr>
            </a:pPr>
            <a:r>
              <a:t>SP 800-88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媒體清除銷毀標準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188720"/>
            <a:ext cx="2880360" cy="47548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91072" y="1298448"/>
            <a:ext cx="2734056" cy="41148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03 OWASP 技術風險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LLM Top 10 (2025)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注入·敏感洩漏·供應鏈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Agentic AI 威脅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記憶投毒·工具濫用·逸脫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AISVS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AI 應用安全驗證標準(分級)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ML Security Top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資料投毒·模型竊取·對抗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AI Exchange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威脅控制對映 ISO/NIST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GenAI Red Teaming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紅隊測試方法論指引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7C2A"/>
                </a:solidFill>
                <a:latin typeface="Microsoft JhengHei"/>
              </a:defRPr>
            </a:pPr>
            <a:r>
              <a:t>LLM 治理檢核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採購與部署盡職調查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39" y="1188720"/>
            <a:ext cx="2880360" cy="47548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308591" y="1298448"/>
            <a:ext cx="2734056" cy="4114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04 威脅知識庫與法制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79" y="1828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MITRE ATLAS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52759" y="18288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AI 對抗戰術技術知識庫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79" y="2148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EU AI 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59" y="2148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風險分級·GPAI義務·罰則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79" y="24688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CISA/NSA 指引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52759" y="2468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AI 系統安全部署指引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79" y="278892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CNSSI 1253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52759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國安系統影響等級評定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79" y="31089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DISA CC SRG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59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IL2~IL6 軍規分級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79" y="34290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資通安全管理法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59" y="34290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A級機關防護基準+通報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79" y="37490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個資法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52759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訓練資料蒐集利用界限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79" y="406908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74C3C"/>
                </a:solidFill>
                <a:latin typeface="Microsoft JhengHei"/>
              </a:defRPr>
            </a:pPr>
            <a:r>
              <a:t>AI 基本法(推動中)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2759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5DBE1"/>
                </a:solidFill>
                <a:latin typeface="Microsoft JhengHei"/>
              </a:defRPr>
            </a:pPr>
            <a:r>
              <a:t>國內 AI 治理上位規範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6080760"/>
            <a:ext cx="11795760" cy="54864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65760" y="6144768"/>
            <a:ext cx="201168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治理制度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2404872" y="6245352"/>
            <a:ext cx="274320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697480" y="6144768"/>
            <a:ext cx="201168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風險流程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736592" y="6245352"/>
            <a:ext cx="274320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29200" y="6144768"/>
            <a:ext cx="2011680" cy="41148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技術控制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7068312" y="6245352"/>
            <a:ext cx="274320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60919" y="6144768"/>
            <a:ext cx="2011680" cy="4114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威脅驗證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9400031" y="6245352"/>
            <a:ext cx="274320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692640" y="6144768"/>
            <a:ext cx="201168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稽核佐證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11  資安防護（四）：SOC 監控 · 熔斷 · 紅隊演練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64592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資料蒐集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097280"/>
            <a:ext cx="9784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Agent 執行日誌 · Gateway 存取紀錄 · DLP 告警 · 模型調用紀錄 · HITL 審批日誌 · VFS 操作 · 認證授權日誌</a:t>
            </a:r>
          </a:p>
        </p:txBody>
      </p:sp>
      <p:sp>
        <p:nvSpPr>
          <p:cNvPr id="6" name="Down Arrow 5"/>
          <p:cNvSpPr/>
          <p:nvPr/>
        </p:nvSpPr>
        <p:spPr>
          <a:xfrm>
            <a:off x="914400" y="1554480"/>
            <a:ext cx="201168" cy="320040"/>
          </a:xfrm>
          <a:prstGeom prst="down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993392"/>
            <a:ext cx="164592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SIEM 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9784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日誌集中化 · 關聯分析引擎 · 機器學習異常偵測 · UEBA 使用者行為分析 · 威脅情資整合 · 時序異常識別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400" y="2450592"/>
            <a:ext cx="201168" cy="320040"/>
          </a:xfrm>
          <a:prstGeom prst="down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889504"/>
            <a:ext cx="1645920" cy="41148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偵測告警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889504"/>
            <a:ext cx="9784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異常查詢頻率 · 跨密級存取試探 · 越權模型調用 · Prompt Injection · 資料外洩嘗試 · 異常 Token 消耗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14400" y="3346704"/>
            <a:ext cx="201168" cy="320040"/>
          </a:xfrm>
          <a:prstGeom prst="down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3785616"/>
            <a:ext cx="1645920" cy="4114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熔斷回應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785616"/>
            <a:ext cx="9784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自動熔斷斷路器 (Circuit Breaker)：異常暴衝→即時切斷 Agent · 緊急停止 Kill Switch · 即拋式環境銷毀 · 憑證凍結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14400" y="4242816"/>
            <a:ext cx="201168" cy="320040"/>
          </a:xfrm>
          <a:prstGeom prst="downArrow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4681728"/>
            <a:ext cx="1645920" cy="4114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事後調查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681728"/>
            <a:ext cx="9784080" cy="68580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5DBE1"/>
                </a:solidFill>
                <a:latin typeface="Microsoft JhengHei"/>
              </a:defRPr>
            </a:pPr>
            <a:r>
              <a:t>完整對話還原 · 決策鏈追溯 · 工具呼叫重放 · 根因分析 · 紅隊語料庫擴充 · 改善建議 · 規則更新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🔴 季度 Red Team AI 紅隊攻防演練 ▸ 越獄提示攻擊 ▸ 間接提示注入 ▸ 工具越權測試 ▸ 跨密級存取試探 ▸ 記憶投毒 ▸ 沙箱逃逸</a:t>
            </a:r>
            <a:br/>
            <a:r>
              <a:t>量測指標：機密洩漏率 · 越獄成功率 · 誤攔率(FPR) · 引用覆蓋率 · 延遲預算 │ 每次更版以固定測試集重跑比對，每月抽樣人工複核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AI 資安防護端到端工作流程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960120" cy="731520"/>
          </a:xfrm>
          <a:prstGeom prst="round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外網</a:t>
            </a:r>
            <a:br/>
            <a:r>
              <a:t>資料源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7043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097280"/>
            <a:ext cx="960120" cy="73152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Diode</a:t>
            </a:r>
            <a:br/>
            <a:r>
              <a:t>單向閘道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771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1097280"/>
            <a:ext cx="960120" cy="7315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落地</a:t>
            </a:r>
            <a:br/>
            <a:r>
              <a:t>隔離區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6499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19" y="1097280"/>
            <a:ext cx="960120" cy="7315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惡意掃描</a:t>
            </a:r>
            <a:br/>
            <a:r>
              <a:t>格式正規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62271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097280"/>
            <a:ext cx="960120" cy="7315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DLP</a:t>
            </a:r>
            <a:br/>
            <a:r>
              <a:t>PII遮罩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5955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097280"/>
            <a:ext cx="960120" cy="7315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資料治理</a:t>
            </a:r>
            <a:br/>
            <a:r>
              <a:t>五步管線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5683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59" y="1097280"/>
            <a:ext cx="96012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Guardrail</a:t>
            </a:r>
            <a:br/>
            <a:r>
              <a:t>五類佈設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54111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0" y="1097280"/>
            <a:ext cx="960120" cy="731520"/>
          </a:xfrm>
          <a:prstGeom prst="roundRect">
            <a:avLst/>
          </a:prstGeom>
          <a:solidFill>
            <a:srgbClr val="5DA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Agent</a:t>
            </a:r>
            <a:br/>
            <a:r>
              <a:t>執行層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5139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0" y="1097280"/>
            <a:ext cx="96012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Guardrail</a:t>
            </a:r>
            <a:br/>
            <a:r>
              <a:t>輸出護欄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48672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399" y="1097280"/>
            <a:ext cx="960120" cy="7315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DLP</a:t>
            </a:r>
            <a:br/>
            <a:r>
              <a:t>出向檢核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1045951" y="1325880"/>
            <a:ext cx="164592" cy="201168"/>
          </a:xfrm>
          <a:prstGeom prst="rightArrow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55680" y="1097280"/>
            <a:ext cx="960120" cy="731520"/>
          </a:xfrm>
          <a:prstGeom prst="round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使用者</a:t>
            </a:r>
            <a:br/>
            <a:r>
              <a:t>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011680"/>
            <a:ext cx="11795760" cy="365760"/>
          </a:xfrm>
          <a:prstGeom prst="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0391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Microsoft JhengHei"/>
              </a:defRPr>
            </a:pPr>
            <a:r>
              <a:t>🔴 SOC 7×24 持續監控 — SIEM · 異常偵測 · 斷路器熔斷 · Kill Switch · 紅隊演練 · 稽核留痕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468880"/>
            <a:ext cx="11795760" cy="36576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963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📋 合規：ISO 42001 · NIST AI RMF 1.0 · AI 600-1 · SP 800-53 · OWASP AISVS · LLM Top 10 · MITRE ATLAS · DISA IL · EU AI 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完整資安防護檢核清單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單向閘道器 (Diode/CDS) — 物理單向傳輸+DPI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入向惡意掃描 — 病毒/隱碼/注入偵測+格式正規化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15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DLP 即時掃描 — 機敏關鍵字/正則/ML/指紋/OCR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62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PII 遮罩 — 身分證/座標/武器參數/金鑰自動脫敏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10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資料五步管線 — 盤點→標籤繼承→政策碼→強制→稽核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OPA/Rego 三維授權 — 身分×分級×用途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Guardrail 五類佈設 — 輸入/檢索/動作/輸出/行為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527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處置矩陣 — allow/redact/rewrite/block/escalate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四級沙箱隔離 — L0語言→L1程序→L2容器→L3微VM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867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HITL interrupt() — 高衝擊動作強制人工核可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15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fail-closed 原則 — 檢查器逾時一律不通過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562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Harness 四項強制 — 白名單/先問人/上限/留紀錄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910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三落點路由 — 地端/圍籬內/圍籬外依分級判定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8 欄位 append-only 稽核 — 防竄改保存 ≥ 1 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SOC 斷路器 — 異常暴衝自動熔斷+Kill Switch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9527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☑ 紅隊演練 — 季度攻防+固定測試集比對+人工複核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12  AI 服務鏈 Roadmap — 四階段建置期程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88920" cy="475488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216152"/>
            <a:ext cx="2642616" cy="4572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Q1 基礎防禦網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Control Gateway 最小可行版上線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資料分級 D0~D3 定案+機器判讀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稽核紀錄格式與留存政策發布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單向 Diode 閘道部署規劃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基礎身分認證 (SSO+MFA)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Harness 基礎映像準備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90672" y="3200400"/>
            <a:ext cx="228600" cy="2743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788920" cy="475488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1216152"/>
            <a:ext cx="2642616" cy="4572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Q2 單一部門先導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AI Portal 首版：模型+工具目錄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先導單位隔離驗證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以租代購契約資安條款範本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首批行政庶務 Agent PoC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開箱即用 Harness 部署驗證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可觀測性平台建置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62472" y="3200400"/>
            <a:ext cx="228600" cy="274320"/>
          </a:xfrm>
          <a:prstGeom prst="rightArrow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788920" cy="475488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216152"/>
            <a:ext cx="2642616" cy="45720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Q3 AI 助理串聯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跨所 AI 助理協作上線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跨單位調用核准流程系統化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雲端圍籬+閘道事件回送整合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客製化 Harness 框架建立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DeepAgents 武器系統 Agent 試點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SOC SIEM 全功能上線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34272" y="3200400"/>
            <a:ext cx="228600" cy="274320"/>
          </a:xfrm>
          <a:prstGeom prst="rightArrow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89720" y="1097280"/>
            <a:ext cx="2788920" cy="475488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62872" y="1216152"/>
            <a:ext cx="2642616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Q4 全院合規上線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全院單位完成接取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關閉舊有直連端點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ISO 42001 內部稽核+管審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季度紅隊演練啟動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全規範交叉合規矩陣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影子 AI 完全收斂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989320"/>
            <a:ext cx="11612880" cy="64008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C730"/>
                </a:solidFill>
                <a:latin typeface="Microsoft JhengHei"/>
              </a:defRPr>
            </a:pPr>
            <a:r>
              <a:t>年度成效衡量 ▸ 100% 全院 AI 呼叫經由閘道，無直連端點 ▸ 0 件 D2/D3 資料出境事件 ▸ 各單位重複採購與影子 AI 完全收斂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13  效益評估與 KPI 指標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88920" cy="22860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閘道覆蓋率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Microsoft JhengHe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全院 AI 呼叫經 Gateway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無直連端點殘留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影子 AI 完全收斂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旁路直連封鎖驗證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788920" cy="22860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資料出境事件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BC9C"/>
                </a:solidFill>
                <a:latin typeface="Microsoft JhengHei"/>
              </a:defRPr>
            </a:pPr>
            <a:r>
              <a:t>0 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D2/D3 資料零出境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DLP+PII 全攔截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越權操作 100% 阻斷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機密洩漏率趨零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2788920" cy="22860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合規覆蓋率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Microsoft JhengHe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ISO 42001 全項覆蓋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NIST AI RMF 完整對標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OWASP AISVS 分級通過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MITRE ATLAS 紅隊驗證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005840"/>
            <a:ext cx="2788920" cy="228600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作業效率提升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C730"/>
                </a:solidFill>
                <a:latin typeface="Microsoft JhengHei"/>
              </a:defRPr>
            </a:pPr>
            <a:r>
              <a:t>↑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公文撰擬 8hr→1hr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報表產製 4hr→30min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知識檢索效率 ×10</a:t>
            </a:r>
          </a:p>
          <a:p>
            <a:pPr>
              <a:lnSpc>
                <a:spcPts val="1350"/>
              </a:lnSpc>
              <a:spcAft>
                <a:spcPts val="270"/>
              </a:spcAft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人力釋出再部署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20440"/>
            <a:ext cx="11612880" cy="301752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風險降低評估矩陣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21488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風險類別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4023360"/>
            <a:ext cx="21488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防護前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023360"/>
            <a:ext cx="21488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防護後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4023360"/>
            <a:ext cx="21488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降低幅度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023360"/>
            <a:ext cx="21488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主要控制措施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1655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資料外洩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41655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極高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441655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41655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90%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441655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Diode+DLP+PII+三落點路由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8231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Prompt Injection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478231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78231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極低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78231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478231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Guardrail+格式正規+fail-closed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4807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越權操作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514807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514807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514807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514807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Deny-First+HITL+四級沙箱+白名單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1383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模型幻覺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51383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551383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551383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70%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551383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事實驗證+引用比對+輸出護欄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87959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供應鏈攻擊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587959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587959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587959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80%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5879592"/>
            <a:ext cx="2148840" cy="347472"/>
          </a:xfrm>
          <a:prstGeom prst="rect">
            <a:avLst/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MCP自建自審+SBOM+簽章驗證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4535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影子 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624535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74C3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624535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7AE60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78040" y="624535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C730"/>
                </a:solidFill>
                <a:latin typeface="Microsoft JhengHei"/>
              </a:defRPr>
            </a:pPr>
            <a:r>
              <a:t>↓ 100%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6245352"/>
            <a:ext cx="2148840" cy="347472"/>
          </a:xfrm>
          <a:prstGeom prst="rect">
            <a:avLst/>
          </a:prstGeom>
          <a:solidFill>
            <a:srgbClr val="14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Gateway強制通道+直連封鎖+Portal管理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14  結論與下一步行動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347472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🏆 關鍵研究成果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五大原則驅動 AI 服務鏈完整架構設計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Harness 治理外框四項強制功能定義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開箱即用 vs 客製化 Harness 雙軌開發框架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1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Portal/Gateway 11 步資料流全景設計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端到端資安防護 16 項完整檢核清單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AI 國際標準四大支柱全覆蓋矩陣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7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Guardrail 五類佈設 + 處置矩陣 + fail-closed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SOC 熔斷 + 紅隊演練 + 8 欄位稽核體系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三落點路由 + 資料五步管線 + OPA/Rego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✅ 四階段 Roadmap + 年度 KPI 衡量指標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05840"/>
            <a:ext cx="5669280" cy="347472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🎯 下一步行動建議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Microsoft JhengHei"/>
              </a:defRPr>
            </a:pPr>
            <a:r>
              <a:t>▸ 即刻啟動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Control Gateway 最小可行版建置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38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資料分級 D0~D3 定案+機器判讀標籤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▸ 30 天內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首批行政庶務 Agent PoC (開箱即用 Harness)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243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稽核紀錄格式與留存政策發布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▸ 90 天內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08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AI Portal 首版上線 + 先導單位隔離驗證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101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Guardrail 五類佈設 + SOC 日誌串接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▸ 180 天內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947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DeepAgents 客製化 Harness 開發啟動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959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• ISO 42001 內部稽核 + 管理審查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709160"/>
            <a:ext cx="11612880" cy="19202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C730"/>
                </a:solidFill>
                <a:latin typeface="Microsoft JhengHei"/>
              </a:defRPr>
            </a:pPr>
            <a:r>
              <a:t>五大原則貫穿 AI 服務鏈全生命週期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12080"/>
            <a:ext cx="2011680" cy="5029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5212080"/>
            <a:ext cx="201168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12080"/>
            <a:ext cx="2011680" cy="50292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5212080"/>
            <a:ext cx="2011680" cy="502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5212080"/>
            <a:ext cx="201168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DBE1"/>
                </a:solidFill>
                <a:latin typeface="Microsoft JhengHei"/>
              </a:defRPr>
            </a:pPr>
            <a:r>
              <a:t>本報告基於 Claude Opus 4.6 (Thinking) 深度研析，整合「AI Agent Harness 整合提報版 20260906」完整內容</a:t>
            </a:r>
            <a:br/>
            <a:r>
              <a:t>涵蓋：Harness 治理外框 · Portal/Gateway 雙管控 · Guardrail 五類佈設 · 四大國際標準支柱 · SOC 熔斷 · 四階段 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補充篇：進階基礎設施與防護機制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DAEF5"/>
                </a:solidFill>
                <a:latin typeface="Microsoft JhengHei"/>
              </a:defRPr>
            </a:pPr>
            <a:r>
              <a:t>實體架構 / 護欄時序 / SBOM供應鏈 / ZTA與自動化紅隊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4663440"/>
            <a:ext cx="256032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🏗️ 硬體實體架構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K8s 容器排程 · PAM 特權管控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PQ Tunnel 後量子零信任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TEE 機密運算保護模型權重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4663440"/>
            <a:ext cx="2560320" cy="41148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🔄 護欄雙向時序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Input/Output 獨立攔截點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阻斷→替換警告 / 通過→完整回傳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Admin System Prompt 政策控制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4663440"/>
            <a:ext cx="2560320" cy="41148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📦 SBOM + MCP 授權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模型/工具 SBOM 料件清單驗證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SCA 弱掃排除已知 CVE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mTLS 短時效憑證 零信任授權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572000"/>
            <a:ext cx="2651760" cy="192024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4663440"/>
            <a:ext cx="2560320" cy="4114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🛡️ ZTA + AI 紅隊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1663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國防部 ZTA 七大支柱全對齊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AI 對抗性 LLM 自動化紅隊</a:t>
            </a:r>
          </a:p>
          <a:p>
            <a:pPr>
              <a:lnSpc>
                <a:spcPts val="15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AIEC 量化防禦指標體系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補充 01：硬體實體架構與零信任網路 (對應資安架構圖)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導入 Kubernetes (K8s) 叢集、PAM 特權帳號管理與 PQ Tunnel (NIST SP 800-207 ZTA)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42D5E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C730"/>
                </a:solidFill>
                <a:latin typeface="Microsoft JhengHei"/>
              </a:defRPr>
            </a:pPr>
            <a:r>
              <a:t>🌐 核心交換與零信任通道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Core Switch (100Gbps / 400Gbps) 高速骨幹網路 (Ethernet)</a:t>
            </a:r>
            <a:br/>
            <a:r>
              <a:t>• 導入 PQ Tunnel (後量子密碼學) 零信任網路管理平台，落實 NIST SP 800-207 (ZTA 網路支柱)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資料清洗區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單向閘道器 (Diode) #1-2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資料清洗節點 #1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負責外網資料過濾、惡意程式掃描與格式正規化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算力資源區 (K8s / TEE)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導入 Kubernetes (K8s) 架構進行運算資源排程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Liquid-Cooled AMD MI355X / NVIDIA HGX B200 節點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啟用 TEE 機密運算保護運行中模型權重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存取控制區 (PAM)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特權帳號管理節點 (PAM) #1-2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網路管理節點 #1-2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嚴格收斂並管控 K8s 與 Mgt 節點之最高維運權限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743200" cy="3840480"/>
          </a:xfrm>
          <a:prstGeom prst="roundRect">
            <a:avLst/>
          </a:prstGeom>
          <a:solidFill>
            <a:srgbClr val="1A2F55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資安監控區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0896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日誌管理節點 #1-4 (Mgt Node)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威脅情資管理節點 #1-2 (Security Mgt Node)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介接 SOC 中心與自動化紅隊演練系統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補充 - 1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補充 02：護欄運作雙向循序流程 (對應護欄循序圖)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護欄服務作為獨立攔截點，強制執行 Input/Output 雙向檢核與稽核留存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142D5E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371600" cy="73152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👤</a:t>
            </a:r>
            <a:br/>
            <a:r>
              <a:t>Actor (User)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2286000" cy="1097280"/>
          </a:xfrm>
          <a:prstGeom prst="roundRect">
            <a:avLst/>
          </a:prstGeom>
          <a:solidFill>
            <a:srgbClr val="1E3A6E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代理層 (Agent Layer)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011680"/>
            <a:ext cx="2286000" cy="1097280"/>
          </a:xfrm>
          <a:prstGeom prst="roundRect">
            <a:avLst/>
          </a:prstGeom>
          <a:solidFill>
            <a:srgbClr val="1E3A6E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LLM 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114800"/>
            <a:ext cx="3200400" cy="1371600"/>
          </a:xfrm>
          <a:prstGeom prst="roundRect">
            <a:avLst/>
          </a:prstGeom>
          <a:solidFill>
            <a:srgbClr val="E74C3C"/>
          </a:solidFill>
          <a:ln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護欄服務 (Guardrail)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4389120"/>
            <a:ext cx="1371600" cy="731520"/>
          </a:xfrm>
          <a:prstGeom prst="roundRect">
            <a:avLst/>
          </a:prstGeom>
          <a:solidFill>
            <a:srgbClr val="1A2F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🛠️</a:t>
            </a:r>
            <a:br/>
            <a:r>
              <a:t>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760720"/>
            <a:ext cx="1828800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🛢️ Audit Log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2560320"/>
            <a:ext cx="1737360" cy="137160"/>
          </a:xfrm>
          <a:prstGeom prst="rightArrow">
            <a:avLst/>
          </a:prstGeom>
          <a:solidFill>
            <a:srgbClr val="F4C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C730"/>
                </a:solidFill>
                <a:latin typeface="Microsoft JhengHei"/>
              </a:defRPr>
            </a:pPr>
            <a:r>
              <a:t>1. Request (用戶請求)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06240" y="3200400"/>
            <a:ext cx="137160" cy="822960"/>
          </a:xfrm>
          <a:prstGeom prst="down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971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1.1 輸入</a:t>
            </a:r>
          </a:p>
        </p:txBody>
      </p:sp>
      <p:sp>
        <p:nvSpPr>
          <p:cNvPr id="16" name="Up Arrow 15"/>
          <p:cNvSpPr/>
          <p:nvPr/>
        </p:nvSpPr>
        <p:spPr>
          <a:xfrm>
            <a:off x="4754880" y="3200400"/>
            <a:ext cx="137160" cy="822960"/>
          </a:xfrm>
          <a:prstGeom prst="up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1.2 回應(輸入確認)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83680" y="2286000"/>
            <a:ext cx="1920240" cy="137160"/>
          </a:xfrm>
          <a:prstGeom prst="rightArrow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1.3 輸入 (安全 Prompt)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6583680" y="2743200"/>
            <a:ext cx="1920240" cy="137160"/>
          </a:xfrm>
          <a:prstGeom prst="leftArrow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7C2A"/>
                </a:solidFill>
                <a:latin typeface="Microsoft JhengHei"/>
              </a:defRPr>
            </a:pPr>
            <a:r>
              <a:t>2.1 回傳回應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760720" y="3200400"/>
            <a:ext cx="137160" cy="822960"/>
          </a:xfrm>
          <a:prstGeom prst="down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971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2.2 輸出</a:t>
            </a:r>
          </a:p>
        </p:txBody>
      </p:sp>
      <p:sp>
        <p:nvSpPr>
          <p:cNvPr id="24" name="Up Arrow 23"/>
          <p:cNvSpPr/>
          <p:nvPr/>
        </p:nvSpPr>
        <p:spPr>
          <a:xfrm>
            <a:off x="6309360" y="3200400"/>
            <a:ext cx="137160" cy="822960"/>
          </a:xfrm>
          <a:prstGeom prst="upArrow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971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BC9C"/>
                </a:solidFill>
                <a:latin typeface="Microsoft JhengHei"/>
              </a:defRPr>
            </a:pPr>
            <a:r>
              <a:t>2.3 回應(輸出確認)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040880" y="4663440"/>
            <a:ext cx="2377440" cy="137160"/>
          </a:xfrm>
          <a:prstGeom prst="lef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Microsoft JhengHei"/>
              </a:defRPr>
            </a:pPr>
            <a:r>
              <a:t>0. 管理 System Prompt (政策碼)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166360" y="5486400"/>
            <a:ext cx="182880" cy="228600"/>
          </a:xfrm>
          <a:prstGeom prst="downArrow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DBE1"/>
                </a:solidFill>
                <a:latin typeface="Microsoft JhengHei"/>
              </a:defRPr>
            </a:pPr>
            <a:r>
              <a:t>單向稽核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補充 - 2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A2F55"/>
          </a:solidFill>
          <a:ln w="127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C730"/>
                </a:solidFill>
                <a:latin typeface="Microsoft JhengHei"/>
              </a:defRPr>
            </a:pPr>
            <a:r>
              <a:t>⚠️ 阻斷 → 代理層將回應替換為系統警告字串後回傳使用者 │ ✅ 通過 → 完整回應回傳給使用者，完成推論請求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補充 03：SBOM 供應鏈管控與 MCP 零信任授權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對齊 NIST SP 800-218A SSDF 規範，從模型到工具建立完整信任鏈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📦 SBOM (軟體料件清單) 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2E86C1"/>
                </a:solidFill>
                <a:latin typeface="Microsoft JhengHei"/>
              </a:defRPr>
            </a:pPr>
            <a:r>
              <a:t>基礎模型層 (L1)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模型權重下載後強制要求提供 SBOM。</a:t>
            </a:r>
            <a:br/>
            <a:r>
              <a:t>• 進行雜湊值 (Hash) 比對與數位簽章驗證。</a:t>
            </a:r>
            <a:br/>
            <a:r>
              <a:t>• 確認無遭竄改或植入後門方可掛載至算力區。</a:t>
            </a:r>
          </a:p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1ABC9C"/>
                </a:solidFill>
                <a:latin typeface="Microsoft JhengHei"/>
              </a:defRPr>
            </a:pPr>
            <a:r>
              <a:t>MCP 工具層 (L4)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MCP 伺服器與外掛套件上架前，必須提交原始碼與相依套件 SBOM。</a:t>
            </a:r>
            <a:br/>
            <a:r>
              <a:t>• 經過自動化弱點掃描 (SCA) 排除已知 CVE 漏洞。</a:t>
            </a:r>
            <a:br/>
            <a:r>
              <a:t>• 於 Portal 上架時由資安官進行雙重確認。</a:t>
            </a:r>
          </a:p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8E44AD"/>
                </a:solidFill>
                <a:latin typeface="Microsoft JhengHei"/>
              </a:defRPr>
            </a:pPr>
            <a:r>
              <a:t>稽核留存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SBOM 紀錄一併綁定至 8 欄位稽核日誌。</a:t>
            </a:r>
            <a:br/>
            <a:r>
              <a:t>• 落實全鏈路 Traceability (可追溯性)。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93776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🔑 MCP 工具零信任授權 (mTLS)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E74C3C"/>
                </a:solidFill>
                <a:latin typeface="Microsoft JhengHei"/>
              </a:defRPr>
            </a:pPr>
            <a:r>
              <a:t>拒絕靜態金鑰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傳統架構常將 API Key 寫死於 Agent 或環境變數中，一旦外洩即造成橫向移動威脅。</a:t>
            </a:r>
            <a:br/>
            <a:r>
              <a:t>• 本專案全面禁止 MCP 伺服器使用靜態 API Key 認證。</a:t>
            </a:r>
          </a:p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E87C2A"/>
                </a:solidFill>
                <a:latin typeface="Microsoft JhengHei"/>
              </a:defRPr>
            </a:pPr>
            <a:r>
              <a:t>短時效憑證 (Ephemeral Credentials)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Agent 呼叫外部武器介面、雷達資料庫或機敏系統時，必須向 Gateway 申請短時效 Token (例如 5 分鐘)。</a:t>
            </a:r>
            <a:br/>
            <a:r>
              <a:t>• 逾期自動失效，縮小攻擊窗口。</a:t>
            </a:r>
          </a:p>
          <a:p>
            <a:pPr>
              <a:lnSpc>
                <a:spcPts val="1950"/>
              </a:lnSpc>
              <a:spcAft>
                <a:spcPts val="390"/>
              </a:spcAft>
              <a:defRPr sz="1300" b="1">
                <a:solidFill>
                  <a:srgbClr val="1ABC9C"/>
                </a:solidFill>
                <a:latin typeface="Microsoft JhengHei"/>
              </a:defRPr>
            </a:pPr>
            <a:r>
              <a:t>mTLS 雙向認證</a:t>
            </a:r>
          </a:p>
          <a:p>
            <a:pPr>
              <a:lnSpc>
                <a:spcPts val="1650"/>
              </a:lnSpc>
              <a:spcAft>
                <a:spcPts val="330"/>
              </a:spcAft>
              <a:defRPr sz="1100" b="0">
                <a:solidFill>
                  <a:srgbClr val="D5DBE1"/>
                </a:solidFill>
                <a:latin typeface="Microsoft JhengHei"/>
              </a:defRPr>
            </a:pPr>
            <a:r>
              <a:t>• 結合 SPIFFE/SPIRE 簽發工作負載身分。</a:t>
            </a:r>
            <a:br/>
            <a:r>
              <a:t>• MCP 伺服器與 Agent 之間強制建立 mTLS 雙向加密通道。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補充 - 3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補充 04：ZTA 七大支柱映射與 AI 自動化紅隊演練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嚴格對齊國防部零信任架構，並導入動態 AIEC (AI Evaluation Criteria) 防禦指標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25603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🛡️ 國防部零信任 ZTA 七大支柱對齊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1: User (使用者)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SSO/MFA + ABAC 動態屬性授權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2: Device (裝置)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端點 MDM / 內網設備健康度檢查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3: Network (網路)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PQ Tunnel 後量子通道 + 單閘 Diode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4: App (應用程式)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Harness 治理外框 + K8s 沙箱隔離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5: Data (資料)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DISA IL 分級 + RAG 隔離 + DLP 遮罩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6: Visibility (可視化)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8 欄位留痕 + SBOM + SOC 監控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柱 7: Automation (自動化)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異常自動熔斷斷路器 (Circuit Breaker)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11247120" cy="237744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🔴 AI 驅動之自動化紅隊演練 (Automated AI Red Teaming)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BE1"/>
                </a:solidFill>
                <a:latin typeface="Microsoft JhengHei"/>
              </a:defRPr>
            </a:pPr>
            <a:r>
              <a:t>改變傳統靜態演練，引入「對抗性 LLM」自動對 Agent 進行 Prompt Injection、記憶投毒與沙箱越權測試，動態衡量系統韌性。</a:t>
            </a:r>
            <a:br/>
            <a:br/>
            <a:r>
              <a:t>【AIEC 量化防禦指標】</a:t>
            </a:r>
            <a:br/>
            <a:r>
              <a:t>▸ 提示抗注入率 (Prompt Robustness)：目標 &gt; 99.9% 攔截率</a:t>
            </a:r>
            <a:br/>
            <a:r>
              <a:t>▸ 防降密洩漏率 (Data Exfiltration Prevention)：100% 機敏資料阻斷</a:t>
            </a:r>
            <a:br/>
            <a:r>
              <a:t>▸ 沙箱與 MCP 逃逸防禦 (Sandbox Escape Resilience)：零容忍</a:t>
            </a:r>
            <a:br/>
            <a:r>
              <a:t>▸ 護欄攔截準確率 (Guardrail Precision)：每月抽樣重跑比對基準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補充 - 4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全案總結論 — 五大原則 × 四大補強 完整覆蓋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274320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F4C7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C730"/>
                </a:solidFill>
                <a:latin typeface="Microsoft JhengHei"/>
              </a:defRPr>
            </a:pPr>
            <a:r>
              <a:t>五大原則 × 四大補強 覆蓋矩陣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17320"/>
            <a:ext cx="1691640" cy="347472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1691640" cy="347472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1691640" cy="347472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169164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417320"/>
            <a:ext cx="1691640" cy="34747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K8s / PAM / PQ Tunnel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K8s GPU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IL 分級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PQ Tunnel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TEE 機密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8288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PAM 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2011680" cy="4114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護欄雙向時序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L1~L5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密級比對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Input/Output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2860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Audit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2011680" cy="411480"/>
          </a:xfrm>
          <a:prstGeom prst="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SBOM / MCP mTLS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模型 SBOM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工具依密級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mTLS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SCA 弱掃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743200"/>
            <a:ext cx="1691640" cy="411480"/>
          </a:xfrm>
          <a:prstGeom prst="rect">
            <a:avLst/>
          </a:prstGeom>
          <a:solidFill>
            <a:srgbClr val="1A2F55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料件清單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ZTA 七柱 / AI 紅隊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七柱對齊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Data 支柱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E87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Network 支柱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App 支柱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200400"/>
            <a:ext cx="1691640" cy="411480"/>
          </a:xfrm>
          <a:prstGeom prst="rect">
            <a:avLst/>
          </a:prstGeom>
          <a:solidFill>
            <a:srgbClr val="142D5E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D5DBE1"/>
                </a:solidFill>
                <a:latin typeface="Microsoft JhengHei"/>
              </a:defRPr>
            </a:pPr>
            <a:r>
              <a:t>Visibility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931920"/>
            <a:ext cx="5486400" cy="25603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🎯 對長官的三項決策建議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359"/>
              </a:spcAft>
              <a:defRPr sz="1200" b="1">
                <a:solidFill>
                  <a:srgbClr val="27AE60"/>
                </a:solidFill>
                <a:latin typeface="Microsoft JhengHei"/>
              </a:defRPr>
            </a:pPr>
            <a:r>
              <a:t>建議一：立即啟動 Gateway + PQ Tunnel 建置</a:t>
            </a:r>
          </a:p>
          <a:p>
            <a:pPr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以 Q1 完成最小可行版為目標，確保全院 AI 流量「單一閘道 + 後量子加密」雙保險上線。</a:t>
            </a:r>
          </a:p>
          <a:p>
            <a:pPr>
              <a:lnSpc>
                <a:spcPts val="780"/>
              </a:lnSpc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lnSpc>
                <a:spcPts val="1560"/>
              </a:lnSpc>
              <a:spcAft>
                <a:spcPts val="359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建議二：先導單位 PoC 雙軌並行</a:t>
            </a:r>
          </a:p>
          <a:p>
            <a:pPr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行政庶務 Agent 以開箱即用 Harness 快速落地；同步啟動武器系統 Agent 的 DeepAgents 客製化框架評估。</a:t>
            </a:r>
          </a:p>
          <a:p>
            <a:pPr>
              <a:lnSpc>
                <a:spcPts val="780"/>
              </a:lnSpc>
              <a:spcAft>
                <a:spcPts val="179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lnSpc>
                <a:spcPts val="1560"/>
              </a:lnSpc>
              <a:spcAft>
                <a:spcPts val="359"/>
              </a:spcAft>
              <a:defRPr sz="1200" b="1">
                <a:solidFill>
                  <a:srgbClr val="E87C2A"/>
                </a:solidFill>
                <a:latin typeface="Microsoft JhengHei"/>
              </a:defRPr>
            </a:pPr>
            <a:r>
              <a:t>建議三：建立 SBOM + AI 紅隊常態機制</a:t>
            </a:r>
          </a:p>
          <a:p>
            <a:pPr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將 SBOM 料件清單驗證納入 CI/CD 流程；季度執行 AI 自動化紅隊演練，以 AIEC 指標量化防禦韌性。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3931920"/>
            <a:ext cx="5943600" cy="2560320"/>
          </a:xfrm>
          <a:prstGeom prst="roundRect">
            <a:avLst/>
          </a:prstGeom>
          <a:solidFill>
            <a:srgbClr val="1A2F55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C730"/>
                </a:solidFill>
                <a:latin typeface="Microsoft JhengHei"/>
              </a:defRPr>
            </a:pPr>
            <a:r>
              <a:t>📋 全案 23 頁核心交付成果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359"/>
              </a:spcAft>
              <a:defRPr sz="1200" b="1">
                <a:solidFill>
                  <a:srgbClr val="2E86C1"/>
                </a:solidFill>
                <a:latin typeface="Microsoft JhengHei"/>
              </a:defRPr>
            </a:pPr>
            <a:r>
              <a:t>主體篇 17 頁</a:t>
            </a:r>
          </a:p>
          <a:p>
            <a:pPr>
              <a:lnSpc>
                <a:spcPts val="125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五大原則 · 六節點縱深 · Harness 雙軌</a:t>
            </a:r>
            <a:br/>
            <a:r>
              <a:t>11步資料流 · Guardrail 五類佈設</a:t>
            </a:r>
            <a:br/>
            <a:r>
              <a:t>國際標準 29 項 · SOC 熔斷</a:t>
            </a:r>
            <a:br/>
            <a:r>
              <a:t>端到端 16 項檢核 · Q1~Q4 Roadmap</a:t>
            </a:r>
            <a:br/>
            <a:r>
              <a:t>風險矩陣 · KPI · 行動建議</a:t>
            </a:r>
          </a:p>
          <a:p>
            <a:pPr>
              <a:lnSpc>
                <a:spcPts val="500"/>
              </a:lnSpc>
              <a:spcAft>
                <a:spcPts val="12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lnSpc>
                <a:spcPts val="1500"/>
              </a:lnSpc>
              <a:spcAft>
                <a:spcPts val="359"/>
              </a:spcAft>
              <a:defRPr sz="1200" b="1">
                <a:solidFill>
                  <a:srgbClr val="E87C2A"/>
                </a:solidFill>
                <a:latin typeface="Microsoft JhengHei"/>
              </a:defRPr>
            </a:pPr>
            <a:r>
              <a:t>補充篇 6 頁</a:t>
            </a:r>
          </a:p>
          <a:p>
            <a:pPr>
              <a:lnSpc>
                <a:spcPts val="1250"/>
              </a:lnSpc>
              <a:spcAft>
                <a:spcPts val="300"/>
              </a:spcAft>
              <a:defRPr sz="1000" b="0">
                <a:solidFill>
                  <a:srgbClr val="D5DBE1"/>
                </a:solidFill>
                <a:latin typeface="Microsoft JhengHei"/>
              </a:defRPr>
            </a:pPr>
            <a:r>
              <a:t>K8s/PAM/PQ Tunnel 實體架構</a:t>
            </a:r>
            <a:br/>
            <a:r>
              <a:t>護欄雙向 Input/Output 時序</a:t>
            </a:r>
            <a:br/>
            <a:r>
              <a:t>SBOM 供應鏈 + MCP mTLS 零信任</a:t>
            </a:r>
            <a:br/>
            <a:r>
              <a:t>ZTA 七大支柱 + AI 自動化紅隊</a:t>
            </a:r>
            <a:br/>
            <a:r>
              <a:t>五大原則×四大補強 覆蓋矩陣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720840"/>
            <a:ext cx="2011680" cy="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20" y="6720840"/>
            <a:ext cx="2011680" cy="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03520" y="6720840"/>
            <a:ext cx="2011680" cy="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89520" y="6720840"/>
            <a:ext cx="2011680" cy="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875520" y="6720840"/>
            <a:ext cx="2011680" cy="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C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463040" y="6537960"/>
            <a:ext cx="1645920" cy="2286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6537960"/>
            <a:ext cx="1645920" cy="2286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6537960"/>
            <a:ext cx="1645920" cy="228600"/>
          </a:xfrm>
          <a:prstGeom prst="roundRect">
            <a:avLst/>
          </a:prstGeom>
          <a:solidFill>
            <a:srgbClr val="E87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6537960"/>
            <a:ext cx="16459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6537960"/>
            <a:ext cx="16459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46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Microsoft JhengHei"/>
              </a:defRPr>
            </a:pPr>
            <a: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