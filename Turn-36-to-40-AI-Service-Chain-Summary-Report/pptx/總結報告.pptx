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284C7"/>
                </a:solidFill>
                <a:latin typeface="微軟正黑體"/>
              </a:rPr>
              <a:t>NATIONAL CHUNG-SHAN INSTITUTE OF SCIENCE &amp; TECHNOLOGY · AI AGENT HARNESS GOVERNANCE</a:t>
            </a:r>
          </a:p>
          <a:p>
            <a:pPr>
              <a:spcBef>
                <a:spcPts val="1600"/>
              </a:spcBef>
            </a:pPr>
            <a:r>
              <a:rPr sz="3600" b="1">
                <a:solidFill>
                  <a:srgbClr val="FFFFFF"/>
                </a:solidFill>
                <a:latin typeface="微軟正黑體"/>
              </a:rPr>
              <a:t>AI 服務鏈全生命週期治理與安全防護
總結研析報告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93C5FD"/>
                </a:solidFill>
                <a:latin typeface="微軟正黑體"/>
              </a:rPr>
              <a:t>基於「模型分層 · 資料分級 · 單一閘道 · 層層防護 · 全程留痕」五大原則之縱深防禦體系</a:t>
            </a:r>
          </a:p>
          <a:p>
            <a:pPr>
              <a:spcBef>
                <a:spcPts val="3800"/>
              </a:spcBef>
            </a:pPr>
            <a:r>
              <a:rPr sz="1150">
                <a:solidFill>
                  <a:srgbClr val="CBD5E1"/>
                </a:solidFill>
                <a:latin typeface="微軟正黑體"/>
              </a:rPr>
              <a:t>報告維度：Agent 開發治理 · Portal 使用者鏈路 · 縱深安全工作流 · Roadmap 期程與效益評估
提報單位：國家中山科學研究院（中科院）專案研析小組　|　中華民國 115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284C7"/>
                </a:solidFill>
                <a:latin typeface="微軟正黑體"/>
              </a:rPr>
              <a:t>STRATEGIC FOUNDATION  |  </a:t>
            </a:r>
            <a:r>
              <a:rPr sz="1000" b="1">
                <a:solidFill>
                  <a:srgbClr val="D97706"/>
                </a:solidFill>
                <a:latin typeface="微軟正黑體"/>
              </a:rPr>
              <a:t>[頂層設計方針]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B192C"/>
                </a:solidFill>
                <a:latin typeface="微軟正黑體"/>
              </a:rPr>
              <a:t>AI 服務鏈五大核心治理原則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057400" cy="493776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1783080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① 模型分層 (Model Layering)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五層縱深能力架構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L1 通用大模型：商業基礎通用認知能力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L2 領域專用模型：本院資料調校專業大腦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L3 代理協作層：任務規劃、多 Agent 協同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L4 技能工具層：嚴格定義之 OpenAPI/MCP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L5 院內知識層：向量檢索 RAG 與密閉知識庫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8648" y="1371600"/>
            <a:ext cx="20574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35808" y="1481328"/>
            <a:ext cx="1783080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② 資料分級 (Data Classification)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四級國防安全管制紅線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IL2 公開資料：非機密公開研究，可上雲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IL4 營業秘密/公務機密：公文業務，限地端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IL5 核心營業秘密：武器研發參數，專屬隔離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IL6 國家極機密：戰術飛控金鑰，實體斷網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落點紅線：嚴禁高密涉密資料跨越出境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5776" y="1371600"/>
            <a:ext cx="20574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02936" y="1481328"/>
            <a:ext cx="1783080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③ 單一閘道 (Single Gateway)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Portal 入口與 Gateway 出口雙軌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Portal 大廳：全院唯一使用者與業務入口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Control Gateway：全流量唯一存取與模型閘門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零旁路設計：禁止繞道直連外部商業模型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統一金鑰託管：API Key 與憑證全面集中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依安全等級動態路由至地端或受控環境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2904" y="1371600"/>
            <a:ext cx="2057400" cy="493776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70064" y="1481328"/>
            <a:ext cx="1783080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④ 層層防護 (Defense-in-Depth)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縱深外框與確定性處置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Diode 單向光閘：硬體層阻斷反向滲透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DLP 雙向脫敏：個資、座標、代號實時清洗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雙向 Guardrail：輸入過濾 + 輸出合規檢核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沙箱 L0~L3 隔離：容器禁聯外部網際網路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HITL 人工介入：關鍵軍工決策雙人覆核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00032" y="1371600"/>
            <a:ext cx="20574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37192" y="1481328"/>
            <a:ext cx="1783080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⑤ 全程留痕 (End-to-End Auditing)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不可篡改日誌與 SOC 聯防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全鏈路軌跡：紀錄 Token、Prompt、CoT 思維鏈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不可篡改日誌：WORM / Append-only 存證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後量子密碼 (PQC)：抵禦量子解密威脅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SOC/SIEM 監控：行為異常 10 秒內警報阻斷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對齊 ISO 42001 AIMS、NIST AI RMF 合規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284C7"/>
                </a:solidFill>
                <a:latin typeface="微軟正黑體"/>
              </a:rPr>
              <a:t>ARCHITECTURE BLUEPRINT  |  </a:t>
            </a:r>
            <a:r>
              <a:rPr sz="1000" b="1">
                <a:solidFill>
                  <a:srgbClr val="D97706"/>
                </a:solidFill>
                <a:latin typeface="微軟正黑體"/>
              </a:rPr>
              <a:t>[端到端拓撲]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B192C"/>
                </a:solidFill>
                <a:latin typeface="微軟正黑體"/>
              </a:rPr>
              <a:t>全服務鏈資料流與五層縱深防禦架構全景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3017520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【前端與單一閘道層】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統一入口、身分認證與集中流量管制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1. 院內多單位接入：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行政管理部門、各研發所/中心、戰備武器專案組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2. AI Portal 統一登入大廳：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零信任架構：身分證書 + PKI 卡片多因子驗證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動態 RBAC / ABAC 角色與最小特權指派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需求組裝：業務範本 + 語料庫選集 + 分級標籤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3. Control Gateway 門禁樞紐：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短時效憑證校驗 (OAuth2 / JWT Token 簽發)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智慧型模型路由：評估安全等級後指派模型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零旁路管制：所有請求金鑰集中保管，絕無私通直連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嚴格配額限制、熔斷防護與併發流控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371600"/>
            <a:ext cx="3840480" cy="493776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43400" y="1481328"/>
            <a:ext cx="3566160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【Harness 治理外框與防護中樞】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動態隨行保全、執行隔離與安全過濾矩陣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1. Harness 治理外框 (隨行保全機制)：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執行框架：多代理協同調度、狀態機管理、工具路由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防護框架：即時截獲代理意圖，強制安全原則覆核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動態安全沙箱 (L0~L3)：依安全等級提供實體隔離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PQC 後量子加密通道：全鏈路通訊防竊聽、防竄改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2. 雙向 Guardrail 資料護欄矩陣：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輸入護欄：提示注入、越獄詞、敏感個資、惡意腳本清洗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輸出護欄：機密洩漏比對、政治與作戰敏感詞、格式強制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確定性處置五大機制：放行 / 脫敏 / 改寫 / 攔截 / 告警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3. 人機協同 (HITL) 實時審查：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關鍵作戰行動、高敏感資料存取強制雙人授權放行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230575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481328"/>
            <a:ext cx="2956255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【五層縱深能力與實體邊界】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分層模型、工具裝備與院內嚴密隔離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1. 五層能力縱深體系：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L1 通用模型：基礎公務、開源大模型 (商用閉源/地端部署)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L2 領域模型：國防專屬調校、武器學門微調模型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L3 Agent 核心：自主任務分解、ReAct 推理、狀態記憶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L4 技能工具：受控沙箱容器執行 OpenAPI / MCP 介面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L5 院內知識庫：軍事規程向量 RAG、機密技術文件庫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2. 三重實體防禦邊界：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院內實體隔離網域 (Air-gapped Network)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Diode 單向資料安全交換光閘 (防反向滲透)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雲端專用 VPC-SC 數位圍籬 (公開業務專屬)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3. SOC 安全聯防與全程留痕：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  <a:latin typeface="微軟正黑體"/>
              </a:rPr>
              <a:t>  • SIEM 集中監控、Append-only 日誌審計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284C7"/>
                </a:solidFill>
                <a:latin typeface="微軟正黑體"/>
              </a:rPr>
              <a:t>VISUAL INFOGRAPHIC  |  </a:t>
            </a:r>
            <a:r>
              <a:rPr sz="1000" b="1">
                <a:solidFill>
                  <a:srgbClr val="D97706"/>
                </a:solidFill>
                <a:latin typeface="微軟正黑體"/>
              </a:rPr>
              <a:t>[4K 超高解析圖解]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B192C"/>
                </a:solidFill>
                <a:latin typeface="微軟正黑體"/>
              </a:rPr>
              <a:t>防護框架 Harness 縱深安全與治理全景資訊圖表</a:t>
            </a:r>
          </a:p>
        </p:txBody>
      </p:sp>
      <p:pic>
        <p:nvPicPr>
          <p:cNvPr id="3" name="Picture 2" descr="guard_harness_infographic_4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32588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284C7"/>
                </a:solidFill>
                <a:latin typeface="微軟正黑體"/>
              </a:rPr>
              <a:t>DEVELOPER GOVERNANCE  |  </a:t>
            </a:r>
            <a:r>
              <a:rPr sz="1000" b="1">
                <a:solidFill>
                  <a:srgbClr val="D97706"/>
                </a:solidFill>
                <a:latin typeface="微軟正黑體"/>
              </a:rPr>
              <a:t>[合規與研發工程]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B192C"/>
                </a:solidFill>
                <a:latin typeface="微軟正黑體"/>
              </a:rPr>
              <a:t>維度一：Agent 開發人員全生命週期流程與管控軌跡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0574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1783080" cy="3712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步驟一：需求提報與架構選型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確定業務屬性與 Harness 框架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業務分類評估：明確區隔行政庶務 vs 武器科研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框架選型：開箱即用輕量 Harness vs DeepAgents 客製化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宣告權限邊界：定義所需存取的 RAG 知識庫與工具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8648" y="1371600"/>
            <a:ext cx="20574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35808" y="1481328"/>
            <a:ext cx="1783080" cy="3712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步驟二：工具介面宣告與約束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OpenAPI / MCP 工具契約化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制定標準工具規格，明確輸入/輸出資料格式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宣告工具安全等級 (唯讀、計算、系統呼叫、硬體介面)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注入 Harness 邊界攔截器，禁止未經授權的跨域調用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5776" y="1371600"/>
            <a:ext cx="20574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02936" y="1481328"/>
            <a:ext cx="1783080" cy="3712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步驟三：Harness 靜態安全檢核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代碼弱掃、相依套件與權限審查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SAST 靜態程式碼安全性檢測、套件供應鏈漏洞掃描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敏感資訊與 Hardcoded 金鑰自動掃描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檢查是否符合 OWASP for LLM/Agents 安全規範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2904" y="1371600"/>
            <a:ext cx="20574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70064" y="1481328"/>
            <a:ext cx="1783080" cy="3712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步驟四：隔離沙箱動態測試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合成測資、抗對抗與紅隊演練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在 L1~L3 容器隔離環境執行，嚴格斷開外部網路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注入提示詞惡意樣本、越獄語句、記憶體投毒攻擊測試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測試 Agent 幻覺自我校正與不確定性邊界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00032" y="1371600"/>
            <a:ext cx="20574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37192" y="1481328"/>
            <a:ext cx="1783080" cy="3712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步驟五：評測簽核與上架發布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AISVS 驗證、評測卡生成與發布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產出標準 AI 評測報告 (準確度、安全度、解釋性)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經資安與業務雙重主管數位簽章核准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發布至 Agent Registry，Gateway 動態同步路由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596128"/>
            <a:ext cx="10454335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開發人員全生命週期管控與軌跡紀錄 (Developer Audit Trail)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GitOps 程式碼變更紀錄 · CI/CD 測試日誌不可篡改 · 簽核流程數位雜湊固化 · Registry 版本追溯</a:t>
            </a:r>
          </a:p>
          <a:p>
            <a:r>
              <a:rPr sz="950">
                <a:solidFill>
                  <a:srgbClr val="1E3A8A"/>
                </a:solidFill>
                <a:latin typeface="微軟正黑體"/>
              </a:rPr>
              <a:t>全流程將開發者身分、變更提交、靜態弱掃報告、沙箱測試環境快照、模型提示工程演變及核准簽章，統一推送至集中稽核儲存庫，實現 100% 可追溯性與可重現性。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284C7"/>
                </a:solidFill>
                <a:latin typeface="微軟正黑體"/>
              </a:rPr>
              <a:t>ARCHETYPE COMPARISON  |  </a:t>
            </a:r>
            <a:r>
              <a:rPr sz="1000" b="1">
                <a:solidFill>
                  <a:srgbClr val="D97706"/>
                </a:solidFill>
                <a:latin typeface="微軟正黑體"/>
              </a:rPr>
              <a:t>[雙軌治理決策]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B192C"/>
                </a:solidFill>
                <a:latin typeface="微軟正黑體"/>
              </a:rPr>
              <a:t>行政庶務 Agent vs. 武器系統 Agent 開發選型與防護矩陣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/>
                <a:gridCol w="4297680"/>
                <a:gridCol w="4297680"/>
              </a:tblGrid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比較維度 / 安全指標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行政庶務 Agent (Administrative)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武器系統 Agent (Weapon System)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3A8A"/>
                          </a:solidFill>
                          <a:latin typeface="微軟正黑體"/>
                        </a:rPr>
                        <a:t>業務目標與應用場景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  <a:latin typeface="微軟正黑體"/>
                        </a:rPr>
                        <a:t>公文草擬、差假審核、會議摘要、法規檢索、一般技術文件翻譯與資訊彙整。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  <a:latin typeface="微軟正黑體"/>
                        </a:rPr>
                        <a:t>射控演算法推算、雷達信號辨識、威脅評估排序、戰術路徑規劃、硬體遙測診斷。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3A8A"/>
                          </a:solidFill>
                          <a:latin typeface="微軟正黑體"/>
                        </a:rPr>
                        <a:t>Harness 框架選型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  <a:latin typeface="微軟正黑體"/>
                        </a:rPr>
                        <a:t>【開箱即用型 Harness】(如現成標準框架)
強調敏捷交付、模組化組件快速拼裝、低代碼流程編排。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  <a:latin typeface="微軟正黑體"/>
                        </a:rPr>
                        <a:t>【LangChain DeepAgents 客製化 Harness】
高嚴謹度狀態機、確定性分支控制、深層推理自我修正、嚴密邊界防護。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3A8A"/>
                          </a:solidFill>
                          <a:latin typeface="微軟正黑體"/>
                        </a:rPr>
                        <a:t>運算與沙箱隔離等級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  <a:latin typeface="微軟正黑體"/>
                        </a:rPr>
                        <a:t>L1 標準容器隔離
受控內部網路通訊，有限度存取院內非機密公文系統與檔案庫。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  <a:latin typeface="微軟正黑體"/>
                        </a:rPr>
                        <a:t>L3 實體獨立安全沙箱 / 硬體隔絕 (Air-gap)
禁止任何外部連網，密閉記憶體加密保護，硬體級防篡改環境。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3A8A"/>
                          </a:solidFill>
                          <a:latin typeface="微軟正黑體"/>
                        </a:rPr>
                        <a:t>工具 (Skills) 呼叫約束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  <a:latin typeface="微軟正黑體"/>
                        </a:rPr>
                        <a:t>通用辦公室工具集合 (Office, Email, Calendar, PDF)
採用標準 OpenAPI 唯讀查詢，寫入操作需二次確認。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  <a:latin typeface="微軟正黑體"/>
                        </a:rPr>
                        <a:t>武器專用匯流排 / 嵌入式即時遙測介面 (CAN/MIL-STD-1553)
嚴格參數範圍檢驗，超出安全閾值立即熔斷並阻絕執行。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3A8A"/>
                          </a:solidFill>
                          <a:latin typeface="微軟正黑體"/>
                        </a:rPr>
                        <a:t>人機協同 (HITL) 機制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  <a:latin typeface="微軟正黑體"/>
                        </a:rPr>
                        <a:t>事後抽查與業務覆核
允許 Agent 先行產生草稿，由公務同仁手動簽核送出。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  <a:latin typeface="微軟正黑體"/>
                        </a:rPr>
                        <a:t>關鍵節點強制事前放行 (Dual-Control)
武器控制指令或參數寫入必須經兩名合格軍官密鑰覆核方得執行。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3A8A"/>
                          </a:solidFill>
                          <a:latin typeface="微軟正黑體"/>
                        </a:rPr>
                        <a:t>容錯度與防護要求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  <a:latin typeface="微軟正黑體"/>
                        </a:rPr>
                        <a:t>中容錯度 (允許微幅語意修正)
重點在於防個資洩漏 (DLP) 與防提示注入越獄。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  <a:latin typeface="微軟正黑體"/>
                        </a:rPr>
                        <a:t>零容忍度 (Zero-Tolerance 確定性要求)
杜絕任何模型幻覺，100% 確定性約束，對齊軍事規格抗干擾與健壯性。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284C7"/>
                </a:solidFill>
                <a:latin typeface="微軟正黑體"/>
              </a:rPr>
              <a:t>USER LIFECYCLE  |  </a:t>
            </a:r>
            <a:r>
              <a:rPr sz="1000" b="1">
                <a:solidFill>
                  <a:srgbClr val="D97706"/>
                </a:solidFill>
                <a:latin typeface="微軟正黑體"/>
              </a:rPr>
              <a:t>[零信任使用者旅程]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B192C"/>
                </a:solidFill>
                <a:latin typeface="微軟正黑體"/>
              </a:rPr>
              <a:t>維度二：Agent 使用者全流程操作、動態管控與軌跡紀錄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0574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1783080" cy="3712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① 單一入口登入認證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AI Portal 身分建立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院內人員經單一 Portal 入口登入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智慧卡 / PKI 憑證多因子鑑別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動態載入個人職務與所屬研發單位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核發短時效安全存取令牌 (JWT)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8648" y="1371600"/>
            <a:ext cx="20574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35808" y="1481328"/>
            <a:ext cx="1783080" cy="3712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② 業務需求配置與組裝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任務定義與資源選用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選擇審查通過之專屬 Agent 應用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綁定對應部門知識庫與專用範本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系統自動對輸入資料標記機密等級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宣告本次操作目標與資料處理邊界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5776" y="1371600"/>
            <a:ext cx="20574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02936" y="1481328"/>
            <a:ext cx="1783080" cy="3712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③ Gateway 存取控制決策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動態授權與模型路由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Control Gateway 驗證權限與憑證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RBAC/ABAC 檢核：確認是否有權使用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路由判定：依機密等級指派運算端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阻斷未授權之旁路外聯或直連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2904" y="1371600"/>
            <a:ext cx="20574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70064" y="1481328"/>
            <a:ext cx="1783080" cy="3712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④ 雙向 Guardrail 即時過濾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輸入防護與輸出脫敏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輸入端：提示注入防禦、惡意指令攔截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輸出端：敏感個資、機密代號自動遮蔽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幻覺檢核：確定性數值驗證與邏輯校對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違規即時處置：阻斷、改寫或通報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00032" y="1371600"/>
            <a:ext cx="20574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37192" y="1481328"/>
            <a:ext cx="1783080" cy="3712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⑤ 結果交付與全鏈路留痕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確定性交付與存證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Portal 安全介面呈現受控結果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全程留存不可篡改 JSONL 稽核軌跡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紀錄：操作者、Token、Prompt、CoT、結果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異步即時推送院內 SOC 聯防監控庫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596128"/>
            <a:ext cx="10454335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使用者端動態管控防護原則 (User Governance &amp; Defense)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「零信任、最小特權、無感防護、違規秒級阻斷」</a:t>
            </a:r>
          </a:p>
          <a:p>
            <a:r>
              <a:rPr sz="950">
                <a:solidFill>
                  <a:srgbClr val="1E3A8A"/>
                </a:solidFill>
                <a:latin typeface="微軟正黑體"/>
              </a:rPr>
              <a:t>使用者從提出提示詞到取得回覆，全程受到 Control Gateway 與 Guardrail 隱形守護。嚴禁任何未授權使用者存取超越其密級的知識庫；若偵測到提示注入或刺探機密企圖，系統立即中斷連線並自動產出安全事件通報。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284C7"/>
                </a:solidFill>
                <a:latin typeface="微軟正黑體"/>
              </a:rPr>
              <a:t>SECURITY &amp; COMPLIANCE  |  </a:t>
            </a:r>
            <a:r>
              <a:rPr sz="1000" b="1">
                <a:solidFill>
                  <a:srgbClr val="D97706"/>
                </a:solidFill>
                <a:latin typeface="微軟正黑體"/>
              </a:rPr>
              <a:t>[縱深防禦鏈]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B192C"/>
                </a:solidFill>
                <a:latin typeface="微軟正黑體"/>
              </a:rPr>
              <a:t>維度三：AI 資安防護工作流程：從單閘 Diode 到 SOC 監控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2286000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1. 實體與資料防線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Diode 單向閘道 &amp; DLP 治理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Diode 單向交換光閘：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實體層單向光纖傳輸，確保高密網段單向抽取資料，杜絕反向滲透外洩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硬體級阻斷遠端回傳通道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資料治理與預處理：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訓練語料與 RAG 文件嚴格清洗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敏感字詞字典比對與向量過濾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DLP (資料外洩防護)：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身分證字號、軍事座標、機密代號自動正則偵測並去識別化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輸出資料動態隱碼脫敏 (Masking)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371600"/>
            <a:ext cx="2560320" cy="493776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481328"/>
            <a:ext cx="2286000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2. 智慧護欄防護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Guardrail 雙向處置矩陣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雙向防護處置策略：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輸入護欄：提示注入檢測、越獄詞辨識、間接注入防禦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輸出護欄：幻覺自我修正、版權檢測、合規性語意分析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確定性處置處置五大動作：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1. 放行 (Pass)：合規通過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2. 脫敏 (Mask)：敏感遮蔽後放行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3. 改寫 (Rewrite)：糾偏後輸出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4. 攔截 (Block)：違規當場阻絕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5. 告警 (Alert)：即時通報 SOC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實時決策延遲 &lt; 50ms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5603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81328"/>
            <a:ext cx="2286000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3. 國際規範驗證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ISO / NIST / OWASP / ATLAS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管理與風險標準：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ISO 42001 (AIMS)：AI 管理系統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NIST AI RMF 1.0：GOVERN, MAP, MEASURE, MANAGE 四大維度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威脅防禦與基準清單：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OWASP Top 10 for LLM (2025)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OWASP Agentic AI &amp; Skills 威脅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AISVS：AI 應用安全驗證分級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對抗攻防與紅隊測試：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MITRE ATLAS 戰術與技術矩陣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自動化對抗樣本與惡意樣本演練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371600"/>
            <a:ext cx="2636215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481328"/>
            <a:ext cx="2361895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4. SOC 聯防監控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SIEM 整合與秒級事件應變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全程留痕與存證體系：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全鏈路 Append-only 稽核日誌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後量子密碼 (PQC) 簽章防篡改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SOC / SIEM 即時監控：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即時異常存取偵測與關聯分析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違規嘗試熱圖與威脅態勢感知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• 事件自動化應變聯防 (SOAR)：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偵測威脅後 10 秒內阻斷 Token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實施沙箱即刻銷毀與網段隔離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0F172A"/>
                </a:solidFill>
                <a:latin typeface="微軟正黑體"/>
              </a:rPr>
              <a:t>  - 通報院內資安長與啟動根因研析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284C7"/>
                </a:solidFill>
                <a:latin typeface="微軟正黑體"/>
              </a:rPr>
              <a:t>DATA CLASSIFICATION  |  </a:t>
            </a:r>
            <a:r>
              <a:rPr sz="1000" b="1">
                <a:solidFill>
                  <a:srgbClr val="D97706"/>
                </a:solidFill>
                <a:latin typeface="微軟正黑體"/>
              </a:rPr>
              <a:t>[防護基準與實體圍籬]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B192C"/>
                </a:solidFill>
                <a:latin typeface="微軟正黑體"/>
              </a:rPr>
              <a:t>國防資料四級分級與落點紅線授權矩陣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94560"/>
                <a:gridCol w="2194560"/>
                <a:gridCol w="2286000"/>
                <a:gridCol w="2224735"/>
              </a:tblGrid>
              <a:tr h="96926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機密等級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業務範疇範例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模型部署位置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存取管制與防護技術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落點管制紅線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3A8A"/>
                          </a:solidFill>
                          <a:latin typeface="微軟正黑體"/>
                        </a:rPr>
                        <a:t>IL2
公開資料 (Public)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F172A"/>
                          </a:solidFill>
                          <a:latin typeface="微軟正黑體"/>
                        </a:rPr>
                        <a:t>政府公開資訊、對外學術論文、開源技術文件、一般新聞彙整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F172A"/>
                          </a:solidFill>
                          <a:latin typeface="微軟正黑體"/>
                        </a:rPr>
                        <a:t>院內私有雲 / 受控公有雲商業大模型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F172A"/>
                          </a:solidFill>
                          <a:latin typeface="微軟正黑體"/>
                        </a:rPr>
                        <a:t>標準 API 閘道管控
TLS 1.3 / PQC 傳輸加密
基礎使用計量與日誌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F172A"/>
                          </a:solidFill>
                          <a:latin typeface="微軟正黑體"/>
                        </a:rPr>
                        <a:t>可於授權受控環境下呼叫外部大模型；嚴禁夾帶任何未公開機敏資料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3A8A"/>
                          </a:solidFill>
                          <a:latin typeface="微軟正黑體"/>
                        </a:rPr>
                        <a:t>IL4
公務秘密 (Confidential)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F172A"/>
                          </a:solidFill>
                          <a:latin typeface="微軟正黑體"/>
                        </a:rPr>
                        <a:t>院內一般行政公文、差勤人事、非涉密採購規格書、內部作業規範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F172A"/>
                          </a:solidFill>
                          <a:latin typeface="微軟正黑體"/>
                        </a:rPr>
                        <a:t>院內私有雲地端開源大模型 (嚴格受控)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F172A"/>
                          </a:solidFill>
                          <a:latin typeface="微軟正黑體"/>
                        </a:rPr>
                        <a:t>Portal 帳號多因子認證
RBAC 角色權限分離
DLP 個資與機關代號即時脫敏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F172A"/>
                          </a:solidFill>
                          <a:latin typeface="微軟正黑體"/>
                        </a:rPr>
                        <a:t>絕對禁止直接外聯公有雲 Commercial LLM；限於內部專用閘道處理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3A8A"/>
                          </a:solidFill>
                          <a:latin typeface="微軟正黑體"/>
                        </a:rPr>
                        <a:t>IL5
核心營業秘密 (Secret)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F172A"/>
                          </a:solidFill>
                          <a:latin typeface="微軟正黑體"/>
                        </a:rPr>
                        <a:t>各所研發專案核心技術、武器系統軟韌體原始碼、專用硬體線路圖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F172A"/>
                          </a:solidFill>
                          <a:latin typeface="微軟正黑體"/>
                        </a:rPr>
                        <a:t>院內專屬研發獨立運算叢集 (微調領域模型)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F172A"/>
                          </a:solidFill>
                          <a:latin typeface="微軟正黑體"/>
                        </a:rPr>
                        <a:t>ABAC 動態屬性授權
L2 強化容器沙箱隔離
Diode 單向傳輸光閘過濾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F172A"/>
                          </a:solidFill>
                          <a:latin typeface="微軟正黑體"/>
                        </a:rPr>
                        <a:t>不可連通一般行政網段；嚴禁原始碼與設計檔案脫離本院實體圍籬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C2626"/>
                          </a:solidFill>
                          <a:latin typeface="微軟正黑體"/>
                        </a:rPr>
                        <a:t>IL6
國家極機密 (Top Secret)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F172A"/>
                          </a:solidFill>
                          <a:latin typeface="微軟正黑體"/>
                        </a:rPr>
                        <a:t>飛彈戰術射控演算法、雷達特徵資料庫、電子戰反制參數、加解密金鑰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F172A"/>
                          </a:solidFill>
                          <a:latin typeface="微軟正黑體"/>
                        </a:rPr>
                        <a:t>封閉式專用硬體推論主機 (專用專用硬體)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F172A"/>
                          </a:solidFill>
                          <a:latin typeface="微軟正黑體"/>
                        </a:rPr>
                        <a:t>完全實體隔離 (Air-gap)
無任何外部網路連線
雙人密鑰授權 (Dual-Control)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F172A"/>
                          </a:solidFill>
                          <a:latin typeface="微軟正黑體"/>
                        </a:rPr>
                        <a:t>絕對物理斷網；嚴禁任何形式之資料交換；執行環境關機立即擦除記憶體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284C7"/>
                </a:solidFill>
                <a:latin typeface="微軟正黑體"/>
              </a:rPr>
              <a:t>EXECUTION ROADMAP  |  </a:t>
            </a:r>
            <a:r>
              <a:rPr sz="1000" b="1">
                <a:solidFill>
                  <a:srgbClr val="D97706"/>
                </a:solidFill>
                <a:latin typeface="微軟正黑體"/>
              </a:rPr>
              <a:t>[短中長期藍圖]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B192C"/>
                </a:solidFill>
                <a:latin typeface="微軟正黑體"/>
              </a:rPr>
              <a:t>維度四：AI 服務鏈推動 Roadmap 與建置期程規劃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2286000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階段一：基線奠定與治理導入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期程：第 1 ~ 3 個月 (Q1)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建置全院 AI Portal 統一入口原型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部署 Control Gateway 流量管制與 API 金鑰集中管理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建立第一代基礎 Guardrail (提示注入與個資過濾)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導入 ISO 42001 (AIMS) 與 NIST AI RMF 治理規範框架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試點：行政庶務 Agent 開發 (開箱即用型 Harness 試運行)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371600"/>
            <a:ext cx="25603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38728" y="1481328"/>
            <a:ext cx="2286000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階段二：縱深防禦與沙箱強化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期程：第 4 ~ 6 個月 (Q2)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部署 Diode 單向光閘交換系統，接通高密/低密網段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實現 L0~L2 動態容器隔離沙箱與防逃逸檢測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整合 PQC 後量子加密通訊模組，升級鏈路安全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自動化 CI/CD 安全檢測：OWASP Top 10 for LLM/Agent 弱掃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試點：技術文件智慧檢索與分析 Agent 上線營運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71616" y="1371600"/>
            <a:ext cx="2560320" cy="493776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8776" y="1481328"/>
            <a:ext cx="2286000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階段三：武器系統 Agent 與客製深研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期程：第 7 ~ 9 個月 (Q3)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導入 LangChain DeepAgents 客製化狀態機 Harness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建立 L3 實體隔離硬體安全沙箱環境 (Air-gapped)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實現 HITL 雙人密鑰授權放行機制與硬體熔斷控制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執行 MITRE ATLAS 框架紅隊對抗實戰攻防演練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試點：武器系統軟韌體代碼分析與遙測診斷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41664" y="1371600"/>
            <a:ext cx="25603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78824" y="1481328"/>
            <a:ext cx="2286000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階段四：全院生態營運與 SOC 聯防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期程：第 10 ~ 12 個月 (Q4)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全面串聯院內 SOC / SIEM，實現秒級威脅感知與自動阻斷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完善全鏈路 Append-only 區塊鏈雜湊稽核日誌體系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建立院內 AI 評測實驗室 (對齊 ISO 17025 評測能力)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全面納管院內所有行政、研發、作戰支援 AI Agent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總結年度治理效益，推動 AI 服務鏈常態化安全營運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284C7"/>
                </a:solidFill>
                <a:latin typeface="微軟正黑體"/>
              </a:rPr>
              <a:t>VALUE &amp; IMPACT  |  </a:t>
            </a:r>
            <a:r>
              <a:rPr sz="1000" b="1">
                <a:solidFill>
                  <a:srgbClr val="D97706"/>
                </a:solidFill>
                <a:latin typeface="微軟正黑體"/>
              </a:rPr>
              <a:t>[投資回報與總結]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B192C"/>
                </a:solidFill>
                <a:latin typeface="微軟正黑體"/>
              </a:rPr>
              <a:t>AI 服務鏈建置量化效益評估與未來展望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29000" cy="16459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3154680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/>
            </a:r>
            <a:r>
              <a:rPr sz="2800" b="1">
                <a:solidFill>
                  <a:srgbClr val="1E3A8A"/>
                </a:solidFill>
                <a:latin typeface="微軟正黑體"/>
              </a:rPr>
              <a:t>100%</a:t>
            </a:r>
          </a:p>
          <a:p>
            <a:r>
              <a:rPr sz="1100" b="1">
                <a:solidFill>
                  <a:srgbClr val="0F172A"/>
                </a:solidFill>
                <a:latin typeface="微軟正黑體"/>
              </a:rPr>
              <a:t>全服務鏈呼叫留痕與可追溯率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64748B"/>
                </a:solidFill>
                <a:latin typeface="微軟正黑體"/>
              </a:rPr>
              <a:t>所有經 Portal/Gateway 呼叫之請求、Prompt、CoT 與工具調用 100% 寫入不可篡改日誌，完全符合國防稽核與 ISO 42001 標準。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9976" y="1371600"/>
            <a:ext cx="3429000" cy="16459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17136" y="1481328"/>
            <a:ext cx="3154680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/>
            </a:r>
            <a:r>
              <a:rPr sz="2800" b="1">
                <a:solidFill>
                  <a:srgbClr val="1E3A8A"/>
                </a:solidFill>
                <a:latin typeface="微軟正黑體"/>
              </a:rPr>
              <a:t>0 事件</a:t>
            </a:r>
          </a:p>
          <a:p>
            <a:r>
              <a:rPr sz="1100" b="1">
                <a:solidFill>
                  <a:srgbClr val="0F172A"/>
                </a:solidFill>
                <a:latin typeface="微軟正黑體"/>
              </a:rPr>
              <a:t>機密資料跨越紅線未授權外洩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64748B"/>
                </a:solidFill>
                <a:latin typeface="微軟正黑體"/>
              </a:rPr>
              <a:t>透過 Diode 單向光閘、DLP 雙向脫敏與資料分級授權，達成核心研發與武器機密資料出境零違規、零外洩目標。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371600"/>
            <a:ext cx="3429000" cy="16459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65592" y="1481328"/>
            <a:ext cx="3154680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/>
            </a:r>
            <a:r>
              <a:rPr sz="2800" b="1">
                <a:solidFill>
                  <a:srgbClr val="1E3A8A"/>
                </a:solidFill>
                <a:latin typeface="微軟正黑體"/>
              </a:rPr>
              <a:t>&lt; 50ms</a:t>
            </a:r>
          </a:p>
          <a:p>
            <a:r>
              <a:rPr sz="1100" b="1">
                <a:solidFill>
                  <a:srgbClr val="0F172A"/>
                </a:solidFill>
                <a:latin typeface="微軟正黑體"/>
              </a:rPr>
              <a:t>Guardrail 實時攔截決策延遲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64748B"/>
                </a:solidFill>
                <a:latin typeface="微軟正黑體"/>
              </a:rPr>
              <a:t>高性能雙向護欄架構兼顧安全性與流暢性，在毫秒級反應時間內攔截提示注入與越獄攻擊，業務無感延遲。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25780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10128"/>
            <a:ext cx="498348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一、國防研發與行政能效躍升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行政提速、研發賦能與知識傳承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行政庶務作業提效 60%：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  - 公文起草、差勤覆核、採購規範比對自動化，大幅降低例行文書行政負擔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武器科研程式開發提效 40%：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  - 透過 DeepAgents 客製化 Harness 進行代碼語意分析、架構推導與遙測數據快篩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國防知識永續傳承與即時檢索：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  - 整合院內數十年研發技術規程與論文，建立高準確度 RAG，解決資深人員交接斷層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跨所研發協同標準化：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  - 統一 OpenAPI/MCP 工具介面標準，打破各所資料孤島，加速專案技術整合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2375" y="3200400"/>
            <a:ext cx="525780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9535" y="3310128"/>
            <a:ext cx="498348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微軟正黑體"/>
              </a:rPr>
              <a:t>二、自主可控與戰略安全韌性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微軟正黑體"/>
              </a:rPr>
              <a:t>擺脫技術鎖定、合規對齊與防禦主權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實現國防 AI 核心自主可控：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  - 掌握 Harness 執行與防護雙架構原始碼，不依賴特定商業閉源模型廠商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具備動態模型插拔與韌性切換能力：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  - Gateway 支援靈活路由，戰時外部斷網可瞬間無縫切換至地端專用模型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建立國家級 AI 資安治理典範：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  - 完整對齊 ISO 42001、NIST AI RMF、OWASP 與 MITRE ATLAS，具備第三方稽核能力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• 建構平戰結合之數位防禦屏障：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  <a:latin typeface="微軟正黑體"/>
              </a:rPr>
              <a:t>  - 平時守護營業秘密與智慧財產，戰時強化作戰決策輔助抗干擾能力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