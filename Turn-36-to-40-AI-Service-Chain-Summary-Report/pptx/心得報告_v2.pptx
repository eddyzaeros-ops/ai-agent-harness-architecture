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封面。Deep Agents v0.7 共 16 章約 400KB 技術文件的深度研讀心得。以 Claude Opus 4.6 Thinking 模式進行研析，並行 4 個研究子代理同時閱讀。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目錄。12 個主題從架構哲學到國防映射。建議依關注面向選擇性深入。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三層架構。為何需要 Harness？Context Engineering 三大優勢。v0.7 三大進化。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VFS 是最具工業價值的創新。雙重防線確保上下文永不爆炸。五種可插拔 Backend。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中間件三層體系。TodoList 北極星錨點。Node-style vs Wrap-style Hook 區分。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子 Agent Context Quarantine = Token 防火牆。異質模型分層策略。非同步五大編排工具。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 漸進式披露三層懶載入。長期記憶三個作用域。核心洞見：記憶即檔案。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HITL 四種決策。五條避坑規則（每條都是實戰踩坑的血淚教訓）。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沙箱 Sandbox-as-Tool 推薦模式。檔案權限預設 ALLOW 陷阱。防護邊界極重要。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= Agent 的 USB 協議。三項能力邊界。傳輸選型。安全考量。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評分量規四方職責解耦。Fail-Closed 驗收門。Actor-Critic 閉環迴圈。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串流 v3 消除黑盒。PTC 削減 80% Token。安全警示：QuickJS 非隔離沙箱、不觸發 HITL。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動態子 Agent 三大範式。Fork Bomb 風險。架構演化最前沿方向。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四軌聯防：權限+沙箱+MCP+HITL。每軌都有明確的覆蓋範圍與不保護範圍。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章成熟度總評。Ch03 VFS 與 Ch04 中間件達「極高」。Ch13/15/16 為 Beta。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五大原則與 16 章技術的精準映射。設計哲學高度契合國防安全治理。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十大關鍵洞見。400KB 文件的精華濃縮。每一條可展開為獨立技術討論。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結論。架構哲學價值。安全治理啟示（四軌聯防）。落地策略建議（雙軌 + Gateway）。Deep Agents 是 Agent 工業化生產的成熟方法論。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F0F4F8"/>
                </a:solidFill>
                <a:latin typeface="Microsoft JhengHei"/>
              </a:defRPr>
            </a:pPr>
            <a:r>
              <a:t>Deep Agents 實戰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48CAE4"/>
                </a:solidFill>
                <a:latin typeface="Microsoft JhengHei"/>
              </a:defRPr>
            </a:pPr>
            <a:r>
              <a:t>16 章深度研讀心得報告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108960"/>
            <a:ext cx="393192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B0BCCC"/>
                </a:solidFill>
                <a:latin typeface="Microsoft JhengHei"/>
              </a:defRPr>
            </a:pPr>
            <a:r>
              <a:t>LangChain DeepAgents v0.7  ·  從架構哲學到企業級安全治理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2062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2A5F5"/>
                </a:solidFill>
                <a:latin typeface="Microsoft JhengHei"/>
              </a:defRPr>
            </a:pPr>
            <a:r>
              <a:t>Ch01 Harness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2062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2A5F5"/>
                </a:solidFill>
                <a:latin typeface="Microsoft JhengHei"/>
              </a:defRPr>
            </a:pPr>
            <a:r>
              <a:t>Ch02 快速上手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062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2A5F5"/>
                </a:solidFill>
                <a:latin typeface="Microsoft JhengHei"/>
              </a:defRPr>
            </a:pPr>
            <a:r>
              <a:t>Ch03 VFS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9" y="42062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2A5F5"/>
                </a:solidFill>
                <a:latin typeface="Microsoft JhengHei"/>
              </a:defRPr>
            </a:pPr>
            <a:r>
              <a:t>Ch04 規劃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6634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BC9C"/>
                </a:solidFill>
                <a:latin typeface="Microsoft JhengHei"/>
              </a:defRPr>
            </a:pPr>
            <a:r>
              <a:t>Ch05 子Agent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46634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BC9C"/>
                </a:solidFill>
                <a:latin typeface="Microsoft JhengHei"/>
              </a:defRPr>
            </a:pPr>
            <a:r>
              <a:t>Ch06 非同步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634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BC9C"/>
                </a:solidFill>
                <a:latin typeface="Microsoft JhengHei"/>
              </a:defRPr>
            </a:pPr>
            <a:r>
              <a:t>Ch07 Skills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79" y="46634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BC9C"/>
                </a:solidFill>
                <a:latin typeface="Microsoft JhengHei"/>
              </a:defRPr>
            </a:pPr>
            <a:r>
              <a:t>Ch08 記憶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1206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t>Ch09 HITL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51206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t>Ch10 沙箱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1206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t>Ch11 權限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79" y="51206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8C42"/>
                </a:solidFill>
                <a:latin typeface="Microsoft JhengHei"/>
              </a:defRPr>
            </a:pPr>
            <a:r>
              <a:t>Ch12 MCP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5778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BB86FC"/>
                </a:solidFill>
                <a:latin typeface="Microsoft JhengHei"/>
              </a:defRPr>
            </a:pPr>
            <a:r>
              <a:t>Ch13 量規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55778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BB86FC"/>
                </a:solidFill>
                <a:latin typeface="Microsoft JhengHei"/>
              </a:defRPr>
            </a:pPr>
            <a:r>
              <a:t>Ch14 串流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5778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BB86FC"/>
                </a:solidFill>
                <a:latin typeface="Microsoft JhengHei"/>
              </a:defRPr>
            </a:pPr>
            <a:r>
              <a:t>Ch15 直譯器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79" y="5577840"/>
            <a:ext cx="1920240" cy="347472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BB86FC"/>
                </a:solidFill>
                <a:latin typeface="Microsoft JhengHei"/>
              </a:defRPr>
            </a:pPr>
            <a:r>
              <a:t>Ch16 動態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5A6A7E"/>
                </a:solidFill>
                <a:latin typeface="Microsoft JhengHei"/>
              </a:defRPr>
            </a:pPr>
            <a:r>
              <a:t>Claude Opus 4.6 (Thinking)  ·  2026-09-13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  研讀心得目錄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0F4F8"/>
                </a:solidFill>
                <a:latin typeface="Microsoft JhengHei"/>
              </a:defRPr>
            </a:pPr>
            <a:r>
              <a:t>研讀心得目錄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6400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188720"/>
            <a:ext cx="5120640" cy="64008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42A5F5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234440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三層架構與 Context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36192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5A6A7E"/>
                </a:solidFill>
                <a:latin typeface="Microsoft JhengHei"/>
              </a:defRPr>
            </a:pPr>
            <a:r>
              <a:t>Ch01-02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39112"/>
            <a:ext cx="54864" cy="6400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2039112"/>
            <a:ext cx="5120640" cy="64008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84832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42A5F5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084832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虛擬檔案系統 (VFS)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386584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5A6A7E"/>
                </a:solidFill>
                <a:latin typeface="Microsoft JhengHei"/>
              </a:defRPr>
            </a:pPr>
            <a:r>
              <a:t>Ch03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89504"/>
            <a:ext cx="54864" cy="6400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889504"/>
            <a:ext cx="5120640" cy="64008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35224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42A5F5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935224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任務規劃與中間件體系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236976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5A6A7E"/>
                </a:solidFill>
                <a:latin typeface="Microsoft JhengHei"/>
              </a:defRPr>
            </a:pPr>
            <a:r>
              <a:t>Ch04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39896"/>
            <a:ext cx="54864" cy="6400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739896"/>
            <a:ext cx="5120640" cy="64008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85616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ABC9C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785616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子 Agent 委派與隔離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087368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5A6A7E"/>
                </a:solidFill>
                <a:latin typeface="Microsoft JhengHei"/>
              </a:defRPr>
            </a:pPr>
            <a:r>
              <a:t>Ch05-06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90288"/>
            <a:ext cx="54864" cy="6400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4590288"/>
            <a:ext cx="5120640" cy="64008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36008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ABC9C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636008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Skills + 長期記憶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937760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5A6A7E"/>
                </a:solidFill>
                <a:latin typeface="Microsoft JhengHei"/>
              </a:defRPr>
            </a:pPr>
            <a:r>
              <a:t>Ch07-08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54864" cy="6400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4360" y="5440680"/>
            <a:ext cx="5120640" cy="64008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486400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8C42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486400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HITL 人機協作安全閘門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788152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5A6A7E"/>
                </a:solidFill>
                <a:latin typeface="Microsoft JhengHei"/>
              </a:defRPr>
            </a:pPr>
            <a:r>
              <a:t>Ch09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188720"/>
            <a:ext cx="54864" cy="6400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37960" y="1188720"/>
            <a:ext cx="5120640" cy="64008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1234440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8C42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1234440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沙箱執行與檔案權限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1536192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5A6A7E"/>
                </a:solidFill>
                <a:latin typeface="Microsoft JhengHei"/>
              </a:defRPr>
            </a:pPr>
            <a:r>
              <a:t>Ch10-11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039112"/>
            <a:ext cx="54864" cy="6400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37960" y="2039112"/>
            <a:ext cx="5120640" cy="64008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2084832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8C42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2084832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MCP 標準協議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2386584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5A6A7E"/>
                </a:solidFill>
                <a:latin typeface="Microsoft JhengHei"/>
              </a:defRPr>
            </a:pPr>
            <a:r>
              <a:t>Ch12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889504"/>
            <a:ext cx="54864" cy="6400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37960" y="2889504"/>
            <a:ext cx="5120640" cy="64008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2935224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BB86FC"/>
                </a:solidFill>
                <a:latin typeface="Microsoft JhengHei"/>
              </a:defRPr>
            </a:pPr>
            <a: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2935224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評分量規品質閉環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3236976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5A6A7E"/>
                </a:solidFill>
                <a:latin typeface="Microsoft JhengHei"/>
              </a:defRPr>
            </a:pPr>
            <a:r>
              <a:t>Ch13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3739896"/>
            <a:ext cx="54864" cy="6400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37960" y="3739896"/>
            <a:ext cx="5120640" cy="64008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3785616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BB86FC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3785616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串流可觀測 + 直譯器 PTC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4087368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5A6A7E"/>
                </a:solidFill>
                <a:latin typeface="Microsoft JhengHei"/>
              </a:defRPr>
            </a:pPr>
            <a:r>
              <a:t>Ch14-15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590288"/>
            <a:ext cx="54864" cy="6400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37960" y="4590288"/>
            <a:ext cx="5120640" cy="64008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4636008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BB86FC"/>
                </a:solidFill>
                <a:latin typeface="Microsoft JhengHei"/>
              </a:defRPr>
            </a:pPr>
            <a: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4636008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動態子 Agent 元編排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0" y="4937760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5A6A7E"/>
                </a:solidFill>
                <a:latin typeface="Microsoft JhengHei"/>
              </a:defRPr>
            </a:pPr>
            <a:r>
              <a:t>Ch16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5440680"/>
            <a:ext cx="54864" cy="64008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537960" y="5440680"/>
            <a:ext cx="5120640" cy="64008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0" y="5486400"/>
            <a:ext cx="365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0" y="5486400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架構全景 · 國防映射 · 結論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5788152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5A6A7E"/>
                </a:solidFill>
                <a:latin typeface="Microsoft JhengHei"/>
              </a:defRPr>
            </a:pPr>
            <a:r>
              <a:t>綜合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01  三層架構哲學 — Runtime · Framework ·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Ch01-02｜從 Prompt Stuffing 到 Context Engineering 的範式轉移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029200" cy="11887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73152" cy="118872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463040" cy="82296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Runtime</a:t>
            </a:r>
            <a:br/>
            <a:r>
              <a:t>(LangGraph)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3716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200"/>
              </a:spcAft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持久化執行引擎 · 圖排程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斷點恢復 · 串流 · 人機協作原語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14600"/>
            <a:ext cx="5029200" cy="11887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73152" cy="11887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697480"/>
            <a:ext cx="1463040" cy="8229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Framework</a:t>
            </a:r>
            <a:br/>
            <a:r>
              <a:t>(LangChain 1.0)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974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200"/>
              </a:spcAft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標準化模型抽象 · 工具介面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Agent 循環 · 中間件支持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029200" cy="11887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73152" cy="11887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1463040" cy="82296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Harness</a:t>
            </a:r>
            <a:br/>
            <a:r>
              <a:t>(DeepAgents v0.7)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023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200"/>
              </a:spcAft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虛擬檔案系統 · 任務規劃中間件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子 Agent 調度 · 長期記憶 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188720"/>
            <a:ext cx="6126480" cy="5029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1188720"/>
            <a:ext cx="73152" cy="50292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37160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D600"/>
                </a:solidFill>
                <a:latin typeface="Microsoft JhengHei"/>
              </a:defRPr>
            </a:pPr>
            <a:r>
              <a:t>💡 核心心得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737360"/>
            <a:ext cx="557784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9202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200"/>
              </a:spcAft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為何還需要 Harness？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三巨頭產品 (Cursor, Claude Code, Manus) 共同驗證了同一套模式：</a:t>
            </a:r>
            <a:br/>
            <a:r>
              <a:t>VFS + Todo + SubAgent + Memory。</a:t>
            </a:r>
            <a:br/>
            <a:r>
              <a:t>DeepAgents 將這些共性模式沉澱為開箱即用的底座。</a:t>
            </a:r>
          </a:p>
          <a:p>
            <a:pPr>
              <a:lnSpc>
                <a:spcPts val="650"/>
              </a:lnSpc>
              <a:spcAft>
                <a:spcPts val="200"/>
              </a:spcAft>
              <a:defRPr sz="5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90"/>
              </a:lnSpc>
              <a:spcAft>
                <a:spcPts val="200"/>
              </a:spcAft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Context Engineering 三大優勢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終結上下文溢位 — 超過 20K token 自動卸載至 VFS</a:t>
            </a:r>
            <a:br/>
            <a:r>
              <a:t>• 抵禦注意力稀釋 — 降低 Prompt Injection 風險</a:t>
            </a:r>
            <a:br/>
            <a:r>
              <a:t>• 模型無關性 — 支持 100+ 模型，消除供應商鎖定</a:t>
            </a:r>
          </a:p>
          <a:p>
            <a:pPr>
              <a:lnSpc>
                <a:spcPts val="650"/>
              </a:lnSpc>
              <a:spcAft>
                <a:spcPts val="200"/>
              </a:spcAft>
              <a:defRPr sz="5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90"/>
              </a:lnSpc>
              <a:spcAft>
                <a:spcPts val="200"/>
              </a:spcAft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v0.7 三大進化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基礎 Prompt 留白 → 業務完全自主注入</a:t>
            </a:r>
            <a:br/>
            <a:r>
              <a:t>• TodoList 按需啟用 → 輕量場景省 Token</a:t>
            </a:r>
            <a:br/>
            <a:r>
              <a:t>• Backend 顯式實例 → 消除隱式工廠副作用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02  虛擬檔案系統 (VFS) — Context Engineering 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Ch03｜Deep Agents 最具工業價值的創新點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46304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188720"/>
            <a:ext cx="146304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read_file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1188720"/>
            <a:ext cx="146304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write_file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188720"/>
            <a:ext cx="146304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edit_file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188720"/>
            <a:ext cx="146304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delete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188720"/>
            <a:ext cx="146304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glob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0" y="1188720"/>
            <a:ext cx="146304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grep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20240"/>
            <a:ext cx="5486400" cy="4297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920240"/>
            <a:ext cx="64008" cy="42976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0312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D600"/>
                </a:solidFill>
                <a:latin typeface="Microsoft JhengHei"/>
              </a:defRPr>
            </a:pPr>
            <a:r>
              <a:t>雙重防線 — 上下文永不爆炸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468880"/>
            <a:ext cx="502920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1ABC9C"/>
                </a:solidFill>
                <a:latin typeface="Microsoft JhengHei"/>
              </a:defRPr>
            </a:pPr>
            <a:r>
              <a:t>防線一：大結果自動卸載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工具輸出 &gt; 20,000 tokens → 自動落盤至 VFS</a:t>
            </a:r>
            <a:br/>
            <a:r>
              <a:t>對話僅保留「檔案路徑 + 前 10 行預覽」</a:t>
            </a:r>
            <a:br/>
            <a:r>
              <a:t>Agent 後續用 read_file(offset, limit) 分頁讀取</a:t>
            </a:r>
          </a:p>
          <a:p>
            <a:pPr>
              <a:lnSpc>
                <a:spcPts val="700"/>
              </a:lnSpc>
              <a:spcAft>
                <a:spcPts val="200"/>
              </a:spcAft>
              <a:defRPr sz="5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FF8C42"/>
                </a:solidFill>
                <a:latin typeface="Microsoft JhengHei"/>
              </a:defRPr>
            </a:pPr>
            <a:r>
              <a:t>防線二：對話歷史自動摘要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上下文達模型窗口 85% → 觸發結構化摘要</a:t>
            </a:r>
            <a:br/>
            <a:r>
              <a:t>舊對話轉儲至 VFS，摘要替換歷史</a:t>
            </a:r>
            <a:br/>
            <a:r>
              <a:t>todos 作為結構化狀態始終完整保留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920240"/>
            <a:ext cx="5669280" cy="4297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920240"/>
            <a:ext cx="64008" cy="42976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10312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D600"/>
                </a:solidFill>
                <a:latin typeface="Microsoft JhengHei"/>
              </a:defRPr>
            </a:pPr>
            <a:r>
              <a:t>五種可插拔 Backend（策略模式）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468880"/>
            <a:ext cx="521208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2697480"/>
            <a:ext cx="45720" cy="4572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69748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42A5F5"/>
                </a:solidFill>
                <a:latin typeface="Microsoft JhengHei"/>
              </a:defRPr>
            </a:pPr>
            <a:r>
              <a:t>StateBackend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953512"/>
            <a:ext cx="4846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預設，存於 LangGraph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337560"/>
            <a:ext cx="45720" cy="45720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3375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ABC9C"/>
                </a:solidFill>
                <a:latin typeface="Microsoft JhengHei"/>
              </a:defRPr>
            </a:pPr>
            <a:r>
              <a:t>FilesystemBackend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593592"/>
            <a:ext cx="4846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讀寫宿主磁碟 (virtual_mode 防穿越)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977640"/>
            <a:ext cx="45720" cy="457200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97764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F5350"/>
                </a:solidFill>
                <a:latin typeface="Microsoft JhengHei"/>
              </a:defRPr>
            </a:pPr>
            <a:r>
              <a:t>LocalShellBackend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233672"/>
            <a:ext cx="4846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⚠️ 繼承 FS + execute（高風險）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617719"/>
            <a:ext cx="45720" cy="45720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617719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BB86FC"/>
                </a:solidFill>
                <a:latin typeface="Microsoft JhengHei"/>
              </a:defRPr>
            </a:pPr>
            <a:r>
              <a:t>StoreBackend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873751"/>
            <a:ext cx="4846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跨會話持久化，namespace 隔離租戶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257800"/>
            <a:ext cx="45720" cy="4572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25780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D600"/>
                </a:solidFill>
                <a:latin typeface="Microsoft JhengHei"/>
              </a:defRPr>
            </a:pPr>
            <a:r>
              <a:t>CompositeBackend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513832"/>
            <a:ext cx="4846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混合路由：前綴 → 不同 Backend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03  任務規劃與中間件三層體系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Ch04｜中間件是 Harness 治理的核心骨幹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4008" cy="25603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4754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TodoListMiddleware — 北極星錨點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1ABC9C"/>
                </a:solidFill>
                <a:latin typeface="Microsoft JhengHei"/>
              </a:defRPr>
            </a:pPr>
            <a:r>
              <a:t>三狀態機</a:t>
            </a: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48CAE4"/>
                </a:solidFill>
                <a:latin typeface="Microsoft JhengHei"/>
              </a:defRPr>
            </a:pPr>
            <a:r>
              <a:t>pending → in_progress → completed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長程任務歷史被壓縮歸檔時，todos 仍完整保留</a:t>
            </a:r>
            <a:br/>
            <a:r>
              <a:t>→ Agent 經歷「失憶」後仍掌握全局目標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FF8C42"/>
                </a:solidFill>
                <a:latin typeface="Microsoft JhengHei"/>
              </a:defRPr>
            </a:pPr>
            <a:r>
              <a:t>v0.7 改為按需啟用，簡單任務可省略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5303520" cy="24688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64008" cy="24688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4754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Node-style vs Wrap-style 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1">
                <a:solidFill>
                  <a:srgbClr val="2ECC71"/>
                </a:solidFill>
                <a:latin typeface="Microsoft JhengHei"/>
              </a:defRPr>
            </a:pPr>
            <a:r>
              <a:t>✅ Node-style（節點級）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before/after_agent · before/after_model</a:t>
            </a:r>
            <a:br/>
            <a:r>
              <a:t>圖中斷點明確 → interrupt() 的最佳位置</a:t>
            </a:r>
          </a:p>
          <a:p>
            <a:pPr>
              <a:lnSpc>
                <a:spcPts val="405"/>
              </a:lnSpc>
              <a:spcAft>
                <a:spcPts val="200"/>
              </a:spcAft>
              <a:defRPr sz="3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1">
                <a:solidFill>
                  <a:srgbClr val="EF5350"/>
                </a:solidFill>
                <a:latin typeface="Microsoft JhengHei"/>
              </a:defRPr>
            </a:pPr>
            <a:r>
              <a:t>⚠️ Wrap-style（包裹級）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wrap_model_call · wrap_tool_call</a:t>
            </a:r>
            <a:br/>
            <a:r>
              <a:t>適合重試/快取 → 嚴禁作為人工審批邊界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188720"/>
            <a:ext cx="5852160" cy="53035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188720"/>
            <a:ext cx="64008" cy="530352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8016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D600"/>
                </a:solidFill>
                <a:latin typeface="Microsoft JhengHei"/>
              </a:defRPr>
            </a:pPr>
            <a:r>
              <a:t>中間件三層全景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45920"/>
            <a:ext cx="530352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828800"/>
            <a:ext cx="5303520" cy="36576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92024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42A5F5"/>
                </a:solidFill>
                <a:latin typeface="Microsoft JhengHei"/>
              </a:defRPr>
            </a:pPr>
            <a:r>
              <a:t>第一層：框架預設（自動）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4028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▸ FilesystemMiddleware — 注入 7 個檔案工具 + 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▸ SummarizationMiddleware — 上下文壓縮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8892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▸ PatchToolCallsMiddleware — 工具呼叫修補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200400"/>
            <a:ext cx="5303520" cy="36576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29184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ABC9C"/>
                </a:solidFill>
                <a:latin typeface="Microsoft JhengHei"/>
              </a:defRPr>
            </a:pPr>
            <a:r>
              <a:t>第二層：條件啟動（參數驅動）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1188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▸ subagents= → SubAgentMiddleware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88620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▸ skills= → SkillsMiddleware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16052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▸ memory= → MemoryMiddleware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3484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▸ interrupt_on= → HumanInTheLoopMiddleware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846320"/>
            <a:ext cx="5303520" cy="36576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937760"/>
            <a:ext cx="5303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8C42"/>
                </a:solidFill>
                <a:latin typeface="Microsoft JhengHei"/>
              </a:defRPr>
            </a:pPr>
            <a:r>
              <a:t>第三層：應用選配（手動裝配）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25780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▸ TodoListMiddleware 規劃 · PIIMiddleware 脫敏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53212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▸ ToolRetryMW / ModelFallbackMW 韌性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80644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▸ ToolCallLimitMW 防死迴圈暴衝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04  子 Agent 委派 — 上下文隔離與非同步編排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Ch05-06｜Context Quarantine 是 Token 防火牆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4008" cy="25603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同步子 Agent — 上下文隔離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1">
                <a:solidFill>
                  <a:srgbClr val="1ABC9C"/>
                </a:solidFill>
                <a:latin typeface="Microsoft JhengHei"/>
              </a:defRPr>
            </a:pPr>
            <a:r>
              <a:t>父 Agent = 專案經理 · 子 Agent = 專責執行者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子 Agent 中間工具輸出完全隔離</a:t>
            </a:r>
            <a:br/>
            <a:r>
              <a:t>父 Agent 僅收到精煉摘要 → Token 防火牆</a:t>
            </a:r>
          </a:p>
          <a:p>
            <a:pPr>
              <a:lnSpc>
                <a:spcPts val="405"/>
              </a:lnSpc>
              <a:spcAft>
                <a:spcPts val="200"/>
              </a:spcAft>
              <a:defRPr sz="3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繼承語意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model/interrupt_on → 預設繼承，可覆寫</a:t>
            </a:r>
            <a:br/>
            <a:r>
              <a:t>tools/permissions → 若指定則完整替換（非合併）</a:t>
            </a:r>
            <a:br/>
            <a:r>
              <a:t>system_prompt/middleware → 永不繼承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669280" cy="25603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64008" cy="25603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28016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非同步子 Agent — 背景平行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1">
                <a:solidFill>
                  <a:srgbClr val="FF8C42"/>
                </a:solidFill>
                <a:latin typeface="Microsoft JhengHei"/>
              </a:defRPr>
            </a:pPr>
            <a:r>
              <a:t>五大編排工具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start_async_task → 啟動背景任務</a:t>
            </a:r>
            <a:br/>
            <a:r>
              <a:t>check_async_task → 查詢狀態</a:t>
            </a:r>
            <a:br/>
            <a:r>
              <a:t>update_async_task → 注入新指令</a:t>
            </a:r>
            <a:br/>
            <a:r>
              <a:t>cancel_async_task → 中止執行</a:t>
            </a:r>
            <a:br/>
            <a:r>
              <a:t>list_async_tasks → 聚合所有狀態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11430000" cy="24688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64008" cy="24688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💡 心得：異質模型分層 × 成本最佳化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• 簡單查詢 → 7B 免費模型（成本 ≈ 0）  ·  複雜推理 → 旗艦模型 (GLM-5.2 / Claude / Gemini)</a:t>
            </a: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• response_format (Pydantic Schema) → 確保下游 API 可靠消費</a:t>
            </a: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• CompiledSubAgent 可包裝任意 LangGraph DAG → 既有工作流無縫接入 Deep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05  Skills 能力包與長期記憶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Ch07-08｜漸進式披露是效率之鑰；記憶是 Agent 進化的基石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4008" cy="52120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Skills — 跨平台能力包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93776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1ABC9C"/>
                </a:solidFill>
                <a:latin typeface="Microsoft JhengHei"/>
              </a:defRPr>
            </a:pPr>
            <a:r>
              <a:t>漸進式披露（Progressive Disclosure）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L1 元資料：僅載入 name + description（~百 tokens）</a:t>
            </a:r>
            <a:br/>
            <a:r>
              <a:t>L2 指令：匹配後才載入 SKILL.md 全文</a:t>
            </a:r>
            <a:br/>
            <a:r>
              <a:t>L3 資源：scripts/references 按需讀取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42A5F5"/>
                </a:solidFill>
                <a:latin typeface="Microsoft JhengHei"/>
              </a:defRPr>
            </a:pPr>
            <a:r>
              <a:t>開放標準 Agent Skills Specification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相容 30+ 平台（Claude Code, Cursor, Codex...）</a:t>
            </a:r>
            <a:br/>
            <a:r>
              <a:t>目錄：SKILL.md + scripts/ + references/ + assets/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FF8C42"/>
                </a:solidFill>
                <a:latin typeface="Microsoft JhengHei"/>
              </a:defRPr>
            </a:pPr>
            <a:r>
              <a:t>層疊優先（Last Wins）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skills=[org/, team/, project/]</a:t>
            </a:r>
            <a:br/>
            <a:r>
              <a:t>企業基線 → 團隊 → 專案客製（後者覆寫前者）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EF5350"/>
                </a:solidFill>
                <a:latin typeface="Microsoft JhengHei"/>
              </a:defRPr>
            </a:pPr>
            <a:r>
              <a:t>安全防護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mode='deny' → 企業 SOP 不可被改寫</a:t>
            </a:r>
            <a:br/>
            <a:r>
              <a:t>mode='interrupt' → 修改需人工審批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669280" cy="52120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64008" cy="52120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長期記憶 — 跨會話持久化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645920"/>
            <a:ext cx="512064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BB86FC"/>
                </a:solidFill>
                <a:latin typeface="Microsoft JhengHei"/>
              </a:defRPr>
            </a:pPr>
            <a:r>
              <a:t>三個作用域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Agent-Scoped：共享知識庫 / AGENTS.md</a:t>
            </a:r>
            <a:br/>
            <a:r>
              <a:t>User-Scoped：個人偏好 / 專案上下文</a:t>
            </a:r>
            <a:br/>
            <a:r>
              <a:t>Org-Scoped：企業政策（唯讀）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1ABC9C"/>
                </a:solidFill>
                <a:latin typeface="Microsoft JhengHei"/>
              </a:defRPr>
            </a:pPr>
            <a:r>
              <a:t>進階能力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情節記憶：搜索歷史 Checkpoint 回想過去解法</a:t>
            </a:r>
            <a:br/>
            <a:r>
              <a:t>背景整合：Cron 觸發冷路徑去重沉澱穩定記憶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FFD600"/>
                </a:solidFill>
                <a:latin typeface="Microsoft JhengHei"/>
              </a:defRPr>
            </a:pPr>
            <a:r>
              <a:t>💡 核心洞見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48CAE4"/>
                </a:solidFill>
                <a:latin typeface="Microsoft JhengHei"/>
              </a:defRPr>
            </a:pPr>
            <a:r>
              <a:t>記憶即檔案</a:t>
            </a:r>
            <a:br/>
            <a:r>
              <a:t>用 read / edit / write_file 操作記憶</a:t>
            </a:r>
            <a:br/>
            <a:r>
              <a:t>比複雜向量 DB 查詢 Prompt 大幅降低認知負擔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06  HITL 人機協作 — 安全閘門設計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Ch09｜四種決策 + 五條避坑規則 = 企業級審批安全基石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651760" cy="11887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2ECC71"/>
                </a:solidFill>
                <a:latin typeface="Microsoft JhengHei"/>
              </a:defRPr>
            </a:pPr>
            <a:r>
              <a:t>approve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批准原始工具呼叫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188720"/>
            <a:ext cx="2651760" cy="11887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3258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1ABC9C"/>
                </a:solidFill>
                <a:latin typeface="Microsoft JhengHei"/>
              </a:defRPr>
            </a:pPr>
            <a:r>
              <a:t>edit ✏️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3736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修改參數後執行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188720"/>
            <a:ext cx="2651760" cy="11887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258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EF5350"/>
                </a:solidFill>
                <a:latin typeface="Microsoft JhengHei"/>
              </a:defRPr>
            </a:pPr>
            <a:r>
              <a:t>reject 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3736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拒絕 + 告知原因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188720"/>
            <a:ext cx="2651760" cy="11887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3258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42A5F5"/>
                </a:solidFill>
                <a:latin typeface="Microsoft JhengHei"/>
              </a:defRPr>
            </a:pPr>
            <a:r>
              <a:t>respond 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73736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直接回覆（僅互動工具）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651760"/>
            <a:ext cx="11430000" cy="38404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51760"/>
            <a:ext cx="64008" cy="38404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7432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D600"/>
                </a:solidFill>
                <a:latin typeface="Microsoft JhengHei"/>
              </a:defRPr>
            </a:pPr>
            <a:r>
              <a:t>⚠️ 底層 interrupt() 五條避坑規則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108960"/>
            <a:ext cx="1097280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291840"/>
            <a:ext cx="457200" cy="4114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364992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嚴禁裸 try...except Exception 包裹 interrupt()，會吞噬中斷異常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886200"/>
            <a:ext cx="457200" cy="4114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59352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interrupt() 之前的副作用必須設計為冪等操作（重放語意）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480560"/>
            <a:ext cx="457200" cy="4114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553712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禁止動態改變 interrupt() 呼叫順序（索引匹配機制）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74920"/>
            <a:ext cx="457200" cy="4114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148072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多分支並行中斷需基於 Interrupt.id 建立映射恢復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669280"/>
            <a:ext cx="457200" cy="4114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742432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輸入驗證應採「單次中斷 + 條件邊回環」，避免 while True 重跑堆疊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07  沙箱執行與檔案權限 — 縱深防禦雙軌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Ch10-11｜Sandbox-as-Tool 是推薦模式；權限預設 ALLOW 必須兜底 DENY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4008" cy="52120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沙箱執行 Ch10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93776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1ABC9C"/>
                </a:solidFill>
                <a:latin typeface="Microsoft JhengHei"/>
              </a:defRPr>
            </a:pPr>
            <a:r>
              <a:t>兩種模式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EF5350"/>
                </a:solidFill>
                <a:latin typeface="Microsoft JhengHei"/>
              </a:defRPr>
            </a:pPr>
            <a:r>
              <a:t>❌ Agent-in-Sandbox → API Key 在容器內 (高風險)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2ECC71"/>
                </a:solidFill>
                <a:latin typeface="Microsoft JhengHei"/>
              </a:defRPr>
            </a:pPr>
            <a:r>
              <a:t>✅ Sandbox-as-Tool → 推理留宿主，僅執行遠端呼叫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42A5F5"/>
                </a:solidFill>
                <a:latin typeface="Microsoft JhengHei"/>
              </a:defRPr>
            </a:pPr>
            <a:r>
              <a:t>雙平面設計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Agent 工具平面 → 沙箱內 (read/write/execute)</a:t>
            </a:r>
            <a:br/>
            <a:r>
              <a:t>宿主應用平面 → upload/download (SDK 通道)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EF5350"/>
                </a:solidFill>
                <a:latin typeface="Microsoft JhengHei"/>
              </a:defRPr>
            </a:pPr>
            <a:r>
              <a:t>安全邊界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✅ 保護：宿主檔案 / 環境變數 / 進程</a:t>
            </a:r>
            <a:br/>
            <a:r>
              <a:t>❌ 不防：Prompt Injection 誘導沙箱內有害動作</a:t>
            </a:r>
            <a:br/>
            <a:r>
              <a:t>❌ 不防：出站網路資料外傳（須配合斷網）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669280" cy="52120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64008" cy="52120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檔案權限 Ch11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645920"/>
            <a:ext cx="512064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1">
                <a:solidFill>
                  <a:srgbClr val="EF5350"/>
                </a:solidFill>
                <a:latin typeface="Microsoft JhengHei"/>
              </a:defRPr>
            </a:pPr>
            <a:r>
              <a:t>⚠️ 預設行為 = ALLOW！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只寫 allow /workspace/** 不是白名單</a:t>
            </a:r>
            <a:br/>
            <a:r>
              <a:t>必須以 deny /** 兜底！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1ABC9C"/>
                </a:solidFill>
                <a:latin typeface="Microsoft JhengHei"/>
              </a:defRPr>
            </a:pPr>
            <a:r>
              <a:t>正確配置順序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1. deny .env → 敏感文件保護</a:t>
            </a:r>
            <a:br/>
            <a:r>
              <a:t>2. allow /workspace/** → 工作區放行</a:t>
            </a:r>
            <a:br/>
            <a:r>
              <a:t>3. deny /** → 全域兜底拒絕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EF5350"/>
                </a:solidFill>
                <a:latin typeface="Microsoft JhengHei"/>
              </a:defRPr>
            </a:pPr>
            <a:r>
              <a:t>🔴 防護邊界（極重要）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FilesystemPermission 僅保護內建檔案工具！</a:t>
            </a:r>
            <a:br/>
            <a:r>
              <a:t>完全不保護：自訂工具、MCP、沙箱 execute</a:t>
            </a:r>
            <a:br/>
            <a:r>
              <a:t>→ 系統設計必須多軌並行防禦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1">
                <a:solidFill>
                  <a:srgbClr val="BB86FC"/>
                </a:solidFill>
                <a:latin typeface="Microsoft JhengHei"/>
              </a:defRPr>
            </a:pPr>
            <a:r>
              <a:t>mode='interrupt' → 聯動 HITL 審批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08  MCP 標準協議 — 擴展 Agent 工具生態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Ch12｜MCP 是 Agent 連接企業微服務的「USB 協議」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430000" cy="91440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48CAE4"/>
                </a:solidFill>
                <a:latin typeface="Microsoft JhengHei"/>
              </a:defRPr>
            </a:pPr>
            <a:r>
              <a:t>Deep Agents (編排) → LangChain Tool (介面) → mcp-adapters (轉換) → MultiServerMCPClient (網路) → MCP Server (業務)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3566160" cy="39319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64008" cy="39319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三項能力邊界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320040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Tools → 轉為 StructuredTool，直接可用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Resources → 需應用手動拉取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Prompts → 需手動拉取，不自動注入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377440"/>
            <a:ext cx="3566160" cy="39319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377440"/>
            <a:ext cx="64008" cy="3931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46888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傳輸協議選型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834640"/>
            <a:ext cx="320040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01752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stdio → 本地開發（⚠️ 嚴禁 print）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http (Streamable HTTP) → 生產首選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支持 Bearer Header / OAuth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377440"/>
            <a:ext cx="3566160" cy="39319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377440"/>
            <a:ext cx="64008" cy="3931920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46888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關鍵安全考量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834640"/>
            <a:ext cx="320040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01752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Token/憑證由 Client 注入，嚴禁暴露給模型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FilesystemPermission 無法攔截 MCP 工具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Session 不存入 Checkpoint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帶副作用工具須支持冪等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09  評分量規 — AI 品質自動驗收閉環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Ch13｜解耦「生成結束」與「通過驗收」是品質保證的關鍵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651760" cy="54864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Working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2651760" cy="54864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Rubric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2651760" cy="54864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Grader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188720"/>
            <a:ext cx="2651760" cy="54864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4F8"/>
                </a:solidFill>
                <a:latin typeface="Microsoft JhengHei"/>
              </a:defRPr>
            </a:pPr>
            <a:r>
              <a:t>Evidence Tool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11680"/>
            <a:ext cx="5486400" cy="4297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64008" cy="4297680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Fail-Closed 驗收門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68880"/>
            <a:ext cx="493776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060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300" b="1">
                <a:solidFill>
                  <a:srgbClr val="EF5350"/>
                </a:solidFill>
                <a:latin typeface="Microsoft JhengHei"/>
              </a:defRPr>
            </a:pPr>
            <a:r>
              <a:t>僅在 result == 'satisfied' 時放行</a:t>
            </a:r>
          </a:p>
          <a:p>
            <a:pPr>
              <a:lnSpc>
                <a:spcPts val="419"/>
              </a:lnSpc>
              <a:spcAft>
                <a:spcPts val="200"/>
              </a:spcAft>
              <a:defRPr sz="3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2ECC71"/>
                </a:solidFill>
                <a:latin typeface="Microsoft JhengHei"/>
              </a:defRPr>
            </a:pPr>
            <a:r>
              <a:t>satisfied — 全部標準通過 ✅</a:t>
            </a: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FF8C42"/>
                </a:solidFill>
                <a:latin typeface="Microsoft JhengHei"/>
              </a:defRPr>
            </a:pPr>
            <a:r>
              <a:t>needs_revision — 未達標，注入 gap 重試 🔄</a:t>
            </a: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EF5350"/>
                </a:solidFill>
                <a:latin typeface="Microsoft JhengHei"/>
              </a:defRPr>
            </a:pPr>
            <a:r>
              <a:t>max_iterations_reached — 超出預算停止 ⛔</a:t>
            </a: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EF5350"/>
                </a:solidFill>
                <a:latin typeface="Microsoft JhengHei"/>
              </a:defRPr>
            </a:pPr>
            <a:r>
              <a:t>failed / grader_error — 異常停止 🚫</a:t>
            </a:r>
          </a:p>
          <a:p>
            <a:pPr>
              <a:lnSpc>
                <a:spcPts val="419"/>
              </a:lnSpc>
              <a:spcAft>
                <a:spcPts val="200"/>
              </a:spcAft>
              <a:defRPr sz="3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539"/>
              </a:lnSpc>
              <a:spcAft>
                <a:spcPts val="200"/>
              </a:spcAft>
              <a:defRPr sz="1100" b="1">
                <a:solidFill>
                  <a:srgbClr val="FFD600"/>
                </a:solidFill>
                <a:latin typeface="Microsoft JhengHei"/>
              </a:defRPr>
            </a:pPr>
            <a:r>
              <a:t>⚠️ 單純有最終文本消息一律視為未達標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5669280" cy="4297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011680"/>
            <a:ext cx="64008" cy="42976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1031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💡 Actor-Critic 閉環迴圈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468880"/>
            <a:ext cx="512064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60604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200" b="1">
                <a:solidFill>
                  <a:srgbClr val="48CAE4"/>
                </a:solidFill>
                <a:latin typeface="Microsoft JhengHei"/>
              </a:defRPr>
            </a:pPr>
            <a:r>
              <a:t>生成 → 確定性取證 → 差距診斷 → 再生成</a:t>
            </a:r>
          </a:p>
          <a:p>
            <a:pPr>
              <a:lnSpc>
                <a:spcPts val="60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Working Model 與 Grader Model 可異質配比</a:t>
            </a:r>
            <a:br/>
            <a:r>
              <a:t>  （工作用程式碼大模型，裁判用推理模型）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取證工具僅供 Grader 使用，嚴格隔離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生產須將 RubricEvaluation 接入離線評測</a:t>
            </a:r>
            <a:br/>
            <a:r>
              <a:t>  統計首輪通過率與修訂成本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10  串流可觀測性與直譯器 PTC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Ch14-15｜消除黑盒轉圈 + 削減 80% Token 消耗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4008" cy="52120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Streaming v3 Typed Projection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93776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42A5F5"/>
                </a:solidFill>
                <a:latin typeface="Microsoft JhengHei"/>
              </a:defRPr>
            </a:pPr>
            <a:r>
              <a:t>五大根級投影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stream.messages — 主 Agent 消息</a:t>
            </a:r>
            <a:br/>
            <a:r>
              <a:t>stream.tool_calls — 工具呼叫增量</a:t>
            </a:r>
            <a:br/>
            <a:r>
              <a:t>stream.subagents — 子 Agent 句柄</a:t>
            </a:r>
            <a:br/>
            <a:r>
              <a:t>stream.values — 狀態快照</a:t>
            </a:r>
            <a:br/>
            <a:r>
              <a:t>stream.output — 最終輸出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FF8C42"/>
                </a:solidFill>
                <a:latin typeface="Microsoft JhengHei"/>
              </a:defRPr>
            </a:pPr>
            <a:r>
              <a:t>工具呼叫三態判定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not completed → running</a:t>
            </a:r>
            <a:br/>
            <a:r>
              <a:t>error is not None → failed</a:t>
            </a:r>
            <a:br/>
            <a:r>
              <a:t>completed &amp;&amp; no error → completed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1ABC9C"/>
                </a:solidFill>
                <a:latin typeface="Microsoft JhengHei"/>
              </a:defRPr>
            </a:pPr>
            <a:r>
              <a:t>並發消費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asyncio.gather() 或 interleave()</a:t>
            </a:r>
            <a:br/>
            <a:r>
              <a:t>避免串行導致時序顛倒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669280" cy="52120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64008" cy="52120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Interpreters — PTC 效率革命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645920"/>
            <a:ext cx="5120640" cy="9144"/>
          </a:xfrm>
          <a:prstGeom prst="rect">
            <a:avLst/>
          </a:prstGeom>
          <a:solidFill>
            <a:srgbClr val="5A6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FF8C42"/>
                </a:solidFill>
                <a:latin typeface="Microsoft JhengHei"/>
              </a:defRPr>
            </a:pPr>
            <a:r>
              <a:t>普通 vs PTC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普通：80 筆 = 80 輪 LLM 往返 → 上下文爆炸</a:t>
            </a:r>
            <a:br/>
            <a:r>
              <a:t>PTC：一次 eval(JS) → Promise.all 並發</a:t>
            </a:r>
            <a:br/>
            <a:r>
              <a:t>→ 記憶體過濾 → 僅返回聚合摘要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1ABC9C"/>
                </a:solidFill>
                <a:latin typeface="Microsoft JhengHei"/>
              </a:defRPr>
            </a:pPr>
            <a:r>
              <a:t>三種狀態模式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call — 每次 eval 銷毀（最隔離）</a:t>
            </a:r>
            <a:br/>
            <a:r>
              <a:t>turn — 同回合共享變數</a:t>
            </a:r>
            <a:br/>
            <a:r>
              <a:t>thread — Snapshot 跨輪持久化</a:t>
            </a:r>
          </a:p>
          <a:p>
            <a:pPr>
              <a:lnSpc>
                <a:spcPts val="540"/>
              </a:lnSpc>
              <a:spcAft>
                <a:spcPts val="200"/>
              </a:spcAft>
              <a:defRPr sz="4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EF5350"/>
                </a:solidFill>
                <a:latin typeface="Microsoft JhengHei"/>
              </a:defRPr>
            </a:pPr>
            <a:r>
              <a:t>🔴 安全警示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QuickJS 非記憶體隔離沙箱</a:t>
            </a:r>
            <a:br/>
            <a:r>
              <a:t>• PTC 不觸發 HITL 審批！</a:t>
            </a:r>
            <a:br/>
            <a:r>
              <a:t>  高危操作嚴禁加入白名單</a:t>
            </a:r>
            <a:br/>
            <a:r>
              <a:t>• 四道防線：timeout / memory_limit</a:t>
            </a:r>
            <a:br/>
            <a:r>
              <a:t>  / max_ptc_calls / max_result_chars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11  動態子 Agent — 用程式碼編排多角色協作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Ch16｜LLM 充當工作流架構師，動態生成編排腳本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566160" cy="2011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4008" cy="20116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3200400" cy="36576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分類後分流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Classifier 打標</a:t>
            </a:r>
            <a:br/>
            <a:r>
              <a:t>→ 按映射表路由</a:t>
            </a:r>
            <a:br/>
            <a:r>
              <a:t>→ 專責 Agent 處理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566160" cy="2011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64008" cy="20116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325880"/>
            <a:ext cx="3200400" cy="3657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並行扇出 + 對抗複核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2880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Promise.all 並發審查</a:t>
            </a:r>
            <a:br/>
            <a:r>
              <a:t>→ 去重合併候選</a:t>
            </a:r>
            <a:br/>
            <a:r>
              <a:t>→ Verifier 獨立證偽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566160" cy="20116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64008" cy="20116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325880"/>
            <a:ext cx="3200400" cy="36576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迭代收斂搜索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循環搜索直到無新增</a:t>
            </a:r>
            <a:br/>
            <a:r>
              <a:t>→ 增量去重</a:t>
            </a:r>
            <a:br/>
            <a:r>
              <a:t>→ 硬性安全輪次上限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74720"/>
            <a:ext cx="5486400" cy="29260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64008" cy="2926080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🔴 安全關鍵考量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EF5350"/>
                </a:solidFill>
                <a:latin typeface="Microsoft JhengHei"/>
              </a:defRPr>
            </a:pPr>
            <a:r>
              <a:t>Agent Fork Bomb 風險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max_ptc_calls 僅限 tools.* 呼叫</a:t>
            </a:r>
            <a:br/>
            <a:r>
              <a:t>不限制 task() 啟動數量！</a:t>
            </a:r>
            <a:br/>
            <a:r>
              <a:t>防禦：Prompt 邊界 + timeout + Token 配額</a:t>
            </a:r>
          </a:p>
          <a:p>
            <a:pPr>
              <a:lnSpc>
                <a:spcPts val="405"/>
              </a:lnSpc>
              <a:spcAft>
                <a:spcPts val="200"/>
              </a:spcAft>
              <a:defRPr sz="3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FF8C42"/>
                </a:solidFill>
                <a:latin typeface="Microsoft JhengHei"/>
              </a:defRPr>
            </a:pPr>
            <a:r>
              <a:t>無級聯審批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動態代碼中批量子 Agent 預設無 HITL</a:t>
            </a:r>
            <a:br/>
            <a:r>
              <a:t>外部寫入必須維持強管控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74720"/>
            <a:ext cx="5669280" cy="29260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474720"/>
            <a:ext cx="64008" cy="292608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56616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D600"/>
                </a:solidFill>
                <a:latin typeface="Microsoft JhengHei"/>
              </a:defRPr>
            </a:pPr>
            <a:r>
              <a:t>💡 架構演化最前沿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0233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2ECC71"/>
                </a:solidFill>
                <a:latin typeface="Microsoft JhengHei"/>
              </a:defRPr>
            </a:pPr>
            <a:r>
              <a:t>融合「程式碼確定性」與「LLM 推理靈活性」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• 從 Prompt 猜測 → 程式碼確定性編排</a:t>
            </a:r>
            <a:br/>
            <a:r>
              <a:t>• 100% 輸入覆蓋，杜絕遺漏</a:t>
            </a:r>
            <a:br/>
            <a:r>
              <a:t>• 對模型要求極高（需精通非同步 JS）</a:t>
            </a:r>
            <a:br/>
            <a:r>
              <a:t>• 必須集成 LangSmith 捕獲父子 Span 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12  企業級縱深防禦 — 四軌聯防體系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綜合心得｜單一機制無法覆蓋所有攻擊面，必須多軌並行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743200" cy="52120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FilesystemPermission</a:t>
            </a:r>
            <a:br/>
            <a:r>
              <a:t>Ch11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ECC71"/>
                </a:solidFill>
                <a:latin typeface="Microsoft JhengHei"/>
              </a:defRPr>
            </a:pPr>
            <a:r>
              <a:t>覆蓋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虛擬檔案路徑控制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read/write 操作攔截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F5350"/>
                </a:solidFill>
                <a:latin typeface="Microsoft JhengHei"/>
              </a:defRPr>
            </a:pPr>
            <a:r>
              <a:t>不保護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❌ 不保護 MCP 工具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❌ 不保護沙箱 execute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❌ 不保護自訂工具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188720"/>
            <a:ext cx="2743200" cy="52120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188720"/>
            <a:ext cx="2743200" cy="54864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2801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Sandbox</a:t>
            </a:r>
            <a:br/>
            <a:r>
              <a:t>Ch10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192024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ECC71"/>
                </a:solidFill>
                <a:latin typeface="Microsoft JhengHei"/>
              </a:defRPr>
            </a:pPr>
            <a:r>
              <a:t>覆蓋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19456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不可信程式碼隔離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宿主進程防護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雙平面設計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20624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F5350"/>
                </a:solidFill>
                <a:latin typeface="Microsoft JhengHei"/>
              </a:defRPr>
            </a:pPr>
            <a:r>
              <a:t>不保護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48056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❌ 不防 Prompt Injection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❌ 不防網路外傳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❌ 不防沙箱內有害操作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188720"/>
            <a:ext cx="2743200" cy="52120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188720"/>
            <a:ext cx="2743200" cy="54864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2801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MCP + Interceptor</a:t>
            </a:r>
            <a:br/>
            <a:r>
              <a:t>Ch12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92024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ECC71"/>
                </a:solidFill>
                <a:latin typeface="Microsoft JhengHei"/>
              </a:defRPr>
            </a:pPr>
            <a:r>
              <a:t>覆蓋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19456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企業微服務安全接入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憑證注入 + ACL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工具命名前綴防衝突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0624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F5350"/>
                </a:solidFill>
                <a:latin typeface="Microsoft JhengHei"/>
              </a:defRPr>
            </a:pPr>
            <a:r>
              <a:t>不保護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8056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❌ Session 不存 Checkpoint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❌ 須自身實現冪等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❌ stdio 有進程權限風險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1188720"/>
            <a:ext cx="2743200" cy="521208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1188720"/>
            <a:ext cx="2743200" cy="548640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12801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HITL</a:t>
            </a:r>
            <a:br/>
            <a:r>
              <a:t>Ch09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192024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ECC71"/>
                </a:solidFill>
                <a:latin typeface="Microsoft JhengHei"/>
              </a:defRPr>
            </a:pPr>
            <a:r>
              <a:t>覆蓋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19456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終極人工決策閘門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跨工具/路徑/流程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✅ 審批可跨天恢復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20624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F5350"/>
                </a:solidFill>
                <a:latin typeface="Microsoft JhengHei"/>
              </a:defRPr>
            </a:pPr>
            <a:r>
              <a:t>不保護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48056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❌ 需 Checkpointer 持久化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❌ PTC 呼叫不觸發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 b="0">
                <a:solidFill>
                  <a:srgbClr val="B0BCCC"/>
                </a:solidFill>
                <a:latin typeface="Microsoft JhengHei"/>
              </a:defRPr>
            </a:pPr>
            <a:r>
              <a:t>❌ 動態子 Agent 無級聯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13  16 章成熟度與完備性總評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64008" cy="10972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Ch01 Harness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371600" cy="36576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188720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188720"/>
            <a:ext cx="64008" cy="10972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32588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Ch02 快速上手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691640"/>
            <a:ext cx="1371600" cy="36576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188720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188720"/>
            <a:ext cx="64008" cy="10972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Ch03 VFS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691640"/>
            <a:ext cx="1371600" cy="36576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極高 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188720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188720"/>
            <a:ext cx="64008" cy="10972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32588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Ch04 規劃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1691640"/>
            <a:ext cx="1371600" cy="36576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極高 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468880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468880"/>
            <a:ext cx="64008" cy="10972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60604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Ch05 子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971800"/>
            <a:ext cx="1371600" cy="3657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生產就緒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2468880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2468880"/>
            <a:ext cx="64008" cy="10972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260604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Ch06 非同步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2971800"/>
            <a:ext cx="1371600" cy="3657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Preview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468880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468880"/>
            <a:ext cx="64008" cy="10972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60604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Ch07 Skills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971800"/>
            <a:ext cx="1371600" cy="3657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2468880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2468880"/>
            <a:ext cx="64008" cy="10972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260604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Ch08 記憶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18320" y="2971800"/>
            <a:ext cx="1371600" cy="36576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749040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749040"/>
            <a:ext cx="64008" cy="10972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88620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Ch09 HITL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251960"/>
            <a:ext cx="1371600" cy="36576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3280" y="3749040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83280" y="3749040"/>
            <a:ext cx="64008" cy="10972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60" y="388620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Ch10 沙箱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66160" y="4251960"/>
            <a:ext cx="1371600" cy="36576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工業級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3749040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3749040"/>
            <a:ext cx="64008" cy="10972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388620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Ch11 權限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4251960"/>
            <a:ext cx="1371600" cy="36576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成熟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35440" y="3749040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235440" y="3749040"/>
            <a:ext cx="64008" cy="10972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18320" y="388620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Ch12 MCP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18320" y="4251960"/>
            <a:ext cx="1371600" cy="36576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029199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5029199"/>
            <a:ext cx="64008" cy="10972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166359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Ch13 量規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5532119"/>
            <a:ext cx="1371600" cy="36576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Beta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83280" y="5029199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83280" y="5029199"/>
            <a:ext cx="64008" cy="10972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60" y="5166359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Ch14 串流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66160" y="5532119"/>
            <a:ext cx="1371600" cy="36576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生產就緒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09360" y="5029199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09360" y="5029199"/>
            <a:ext cx="64008" cy="10972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5166359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Ch15 直譯器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92240" y="5532119"/>
            <a:ext cx="1371600" cy="36576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Beta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35440" y="5029199"/>
            <a:ext cx="2743200" cy="10972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5440" y="5029199"/>
            <a:ext cx="64008" cy="10972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18320" y="5166359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Ch16 動態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18320" y="5532119"/>
            <a:ext cx="1371600" cy="36576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4F8"/>
                </a:solidFill>
                <a:latin typeface="Microsoft JhengHei"/>
              </a:defRPr>
            </a:pPr>
            <a:r>
              <a:t>Beta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14  Deep Agents × 國防 AI 服務鏈映射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將 16 章技術能力映射至五大原則與六節點縱深防禦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148840" cy="5029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148840" cy="50292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0F4F8"/>
                </a:solidFill>
                <a:latin typeface="Microsoft JhengHei"/>
              </a:defRPr>
            </a:pPr>
            <a:r>
              <a:t>模型分層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18745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Ch01 三層堆疊 → L1~L5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Ch05 異質模型分層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→ 成本最佳化路由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188720"/>
            <a:ext cx="2148840" cy="5029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188720"/>
            <a:ext cx="2148840" cy="5029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28016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0F4F8"/>
                </a:solidFill>
                <a:latin typeface="Microsoft JhengHei"/>
              </a:defRPr>
            </a:pPr>
            <a:r>
              <a:t>資料分級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874519"/>
            <a:ext cx="18745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Ch03 VFS 路徑隔離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Ch11 Permission 分級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→ Backend 路由控管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188720"/>
            <a:ext cx="2148840" cy="5029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188720"/>
            <a:ext cx="2148840" cy="502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28016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0F4F8"/>
                </a:solidFill>
                <a:latin typeface="Microsoft JhengHei"/>
              </a:defRPr>
            </a:pPr>
            <a:r>
              <a:t>單一閘道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874519"/>
            <a:ext cx="18745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Ch12 MCP 統一聚合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Ch04 中間件管道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→ Gateway 入口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59" y="1188720"/>
            <a:ext cx="2148840" cy="5029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59" y="1188720"/>
            <a:ext cx="2148840" cy="50292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128016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0F4F8"/>
                </a:solidFill>
                <a:latin typeface="Microsoft JhengHei"/>
              </a:defRPr>
            </a:pPr>
            <a:r>
              <a:t>層層防護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1874519"/>
            <a:ext cx="18745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Ch09 HITL + Ch10 沙箱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Ch11 權限 + Ch13 量規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→ fail-closed 閘門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1188720"/>
            <a:ext cx="2148840" cy="502920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1188720"/>
            <a:ext cx="2148840" cy="50292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28016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0F4F8"/>
                </a:solidFill>
                <a:latin typeface="Microsoft JhengHei"/>
              </a:defRPr>
            </a:pPr>
            <a:r>
              <a:t>全程留痕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1874519"/>
            <a:ext cx="18745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Ch08 記憶持久化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Ch14 串流可觀測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000" b="0">
                <a:solidFill>
                  <a:srgbClr val="B0BCCC"/>
                </a:solidFill>
                <a:latin typeface="Microsoft JhengHei"/>
              </a:defRPr>
            </a:pPr>
            <a:r>
              <a:t>→ LangSmith 追蹤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54864" cy="6784848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0F4F8"/>
                </a:solidFill>
                <a:latin typeface="Microsoft JhengHei"/>
              </a:defRPr>
            </a:pPr>
            <a:r>
              <a:t>15  十大關鍵洞見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CCC"/>
                </a:solidFill>
                <a:latin typeface="Microsoft JhengHei"/>
              </a:defRPr>
            </a:pPr>
            <a:r>
              <a:t>400KB · 16 章技術文件的精華濃縮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486400" cy="868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4008" cy="8686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502920" cy="50292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173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Context Engineering 是 Agent 成敗的分水嶺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5486400" cy="868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64008" cy="8686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502920" cy="50292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6888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Harness 是「裝配齊全的工坊」，非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5486400" cy="868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64008" cy="8686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50292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52044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中間件三層體系實現全面非業務功能解耦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43399"/>
            <a:ext cx="5486400" cy="868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43399"/>
            <a:ext cx="64008" cy="8686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526279"/>
            <a:ext cx="50292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571999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Context Quarantine 是 Token 防火牆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94960"/>
            <a:ext cx="5486400" cy="868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394960"/>
            <a:ext cx="64008" cy="8686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577840"/>
            <a:ext cx="502920" cy="5029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62356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Skills 三層懶載入避免上下文飽和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188720"/>
            <a:ext cx="5486400" cy="868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188720"/>
            <a:ext cx="64008" cy="8686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1371600"/>
            <a:ext cx="502920" cy="50292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14173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記憶即檔案 — 簡潔而強大的介面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240280"/>
            <a:ext cx="5486400" cy="868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2240280"/>
            <a:ext cx="64008" cy="8686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2423160"/>
            <a:ext cx="502920" cy="50292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46888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HITL 五條規則是血淚教訓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291840"/>
            <a:ext cx="5486400" cy="868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291840"/>
            <a:ext cx="64008" cy="868680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0" y="3474720"/>
            <a:ext cx="502920" cy="50292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52044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FilesystemPermission 預設 ALLOW 是陷阱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343399"/>
            <a:ext cx="5486400" cy="868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343399"/>
            <a:ext cx="64008" cy="868680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0" y="4526279"/>
            <a:ext cx="502920" cy="502920"/>
          </a:xfrm>
          <a:prstGeom prst="round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571999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PTC 削減 80% Token 但繞過 HITL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5394960"/>
            <a:ext cx="5486400" cy="868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5394960"/>
            <a:ext cx="64008" cy="8686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0800" y="5577840"/>
            <a:ext cx="502920" cy="5029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8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62356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0F4F8"/>
                </a:solidFill>
                <a:latin typeface="Microsoft JhengHei"/>
              </a:defRPr>
            </a:pPr>
            <a:r>
              <a:t>動態子 Agent — 最前沿但最危險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73152" cy="676656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0F4F8"/>
                </a:solidFill>
                <a:latin typeface="Microsoft JhengHei"/>
              </a:defRPr>
            </a:pPr>
            <a:r>
              <a:t>結論 — Deep Agents 是國防 AI Agent 客製化 Harness 的最佳底座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1430000" cy="5303520"/>
          </a:xfrm>
          <a:prstGeom prst="roundRect">
            <a:avLst/>
          </a:prstGeom>
          <a:solidFill>
            <a:srgbClr val="121A2E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" cy="53035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FFD600"/>
                </a:solidFill>
                <a:latin typeface="Microsoft JhengHei"/>
              </a:defRPr>
            </a:pPr>
            <a:r>
              <a:t>一、架構哲學的價值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Deep Agents v0.7 將 Agent 工業落地的共性模式沉澱為開箱即用的底座。</a:t>
            </a:r>
            <a:br/>
            <a:r>
              <a:t>三層架構 (Runtime → Framework → Harness) 精準對應我們</a:t>
            </a:r>
            <a:br/>
            <a:r>
              <a:t>國防 AI 服務鏈的 L1 基礎模型 → L3 Agent → L4 Skill 的模型分層原則。</a:t>
            </a:r>
          </a:p>
          <a:p>
            <a:pPr>
              <a:lnSpc>
                <a:spcPts val="650"/>
              </a:lnSpc>
              <a:spcAft>
                <a:spcPts val="200"/>
              </a:spcAft>
              <a:defRPr sz="5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FFD600"/>
                </a:solidFill>
                <a:latin typeface="Microsoft JhengHei"/>
              </a:defRPr>
            </a:pPr>
            <a:r>
              <a:t>二、安全治理的啟示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16 章反覆強調：沒有單一銀彈。</a:t>
            </a:r>
            <a:br/>
            <a:r>
              <a:t>FilesystemPermission 不保護 MCP、沙箱不防 Prompt Injection、</a:t>
            </a:r>
            <a:br/>
            <a:r>
              <a:t>PTC 繞過 HITL、動態子 Agent 無 max_task_calls。</a:t>
            </a:r>
            <a:br/>
            <a:r>
              <a:t>唯有四軌聯防才能構建縱深防禦 — 與我們「層層防護」原則完全一致。</a:t>
            </a:r>
          </a:p>
          <a:p>
            <a:pPr>
              <a:lnSpc>
                <a:spcPts val="650"/>
              </a:lnSpc>
              <a:spcAft>
                <a:spcPts val="200"/>
              </a:spcAft>
              <a:defRPr sz="5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FFD600"/>
                </a:solidFill>
                <a:latin typeface="Microsoft JhengHei"/>
              </a:defRPr>
            </a:pPr>
            <a:r>
              <a:t>三、落地策略建議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B0BCCC"/>
                </a:solidFill>
                <a:latin typeface="Microsoft JhengHei"/>
              </a:defRPr>
            </a:pPr>
            <a:r>
              <a:t>• 行政庶務 Agent → 開箱即用 Harness (Claude Code / Codex / AGY 2.0)</a:t>
            </a:r>
            <a:br/>
            <a:r>
              <a:t>• 武器系統 Agent → Deep Agents 客製化底座 + 四級沙箱 + 多層 HITL + SBOM</a:t>
            </a:r>
            <a:br/>
            <a:r>
              <a:t>• 統一經 AI Gateway (中間件管道) 接入 → 單一閘道 + 全程留痕</a:t>
            </a:r>
            <a:br/>
            <a:r>
              <a:t>• Skills 開放規範確保跨平台共享；長期記憶 Store 實現知識持續進化</a:t>
            </a:r>
          </a:p>
          <a:p>
            <a:pPr>
              <a:lnSpc>
                <a:spcPts val="650"/>
              </a:lnSpc>
              <a:spcAft>
                <a:spcPts val="200"/>
              </a:spcAft>
              <a:defRPr sz="500" b="0">
                <a:solidFill>
                  <a:srgbClr val="F0F4F8"/>
                </a:solidFill>
                <a:latin typeface="Microsoft JhengHei"/>
              </a:defRPr>
            </a:pPr>
          </a:p>
          <a:p>
            <a:pPr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48CAE4"/>
                </a:solidFill>
                <a:latin typeface="Microsoft JhengHei"/>
              </a:defRPr>
            </a:pPr>
            <a:r>
              <a:t>Deep Agents 不只是一個框架，而是 Agent 工業化生產的成熟方法論。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6537960"/>
            <a:ext cx="1645920" cy="22860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模型分層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6537960"/>
            <a:ext cx="1645920" cy="2286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資料分級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6537960"/>
            <a:ext cx="1645920" cy="2286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單一閘道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6537960"/>
            <a:ext cx="1645920" cy="22860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層層防護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6537960"/>
            <a:ext cx="1645920" cy="2286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0F4F8"/>
                </a:solidFill>
                <a:latin typeface="Microsoft JhengHei"/>
              </a:defRPr>
            </a:pPr>
            <a:r>
              <a:t>全程留痕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5A6A7E"/>
                </a:solidFill>
                <a:latin typeface="Microsoft JhengHe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