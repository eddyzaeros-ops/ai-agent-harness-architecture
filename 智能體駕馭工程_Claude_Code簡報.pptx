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036015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  <a:latin typeface="Microsoft JhengHei"/>
                <a:rFonts ea="Microsoft JhengHei"/>
              </a:rPr>
              <a:t>智能體駕馭工程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200400"/>
            <a:ext cx="103601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>
                <a:solidFill>
                  <a:srgbClr val="94A3B8"/>
                </a:solidFill>
                <a:latin typeface="Microsoft JhengHei"/>
                <a:rFonts ea="Microsoft JhengHei"/>
              </a:rPr>
              <a:t>Claude Code 六層架構與五大核心機制 深度研究簡報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943600"/>
            <a:ext cx="103601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>
                <a:solidFill>
                  <a:srgbClr val="64748B"/>
                </a:solidFill>
                <a:latin typeface="Microsoft JhengHei"/>
                <a:rFonts ea="Microsoft JhengHei"/>
              </a:rPr>
              <a:t>基於論文：和達 等 《智能體駕馭工程》通信技術 2026 | 結合 2026 年最新文獻研析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B2A4A"/>
                </a:solidFill>
                <a:latin typeface="Microsoft JhengHei"/>
                <a:rFonts ea="Microsoft JhengHei"/>
              </a:rPr>
              <a:t>研究大綱與核心問題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058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0E7C86"/>
                </a:solidFill>
                <a:latin typeface="Microsoft JhengHei"/>
                <a:rFonts ea="Microsoft JhengHei"/>
              </a:rPr>
              <a:t>從源碼洩露到駕馭工程全景解析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828800"/>
            <a:ext cx="10698480" cy="54864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E8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828800"/>
            <a:ext cx="118872" cy="548640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9202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B2A4A"/>
                </a:solidFill>
                <a:latin typeface="Microsoft JhengHei"/>
                <a:rFonts ea="Microsoft JhengHei"/>
              </a:rPr>
              <a:t>01 研究背景 - 2026年3月 Claude Code 源碼洩露事件始末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560320"/>
            <a:ext cx="10698480" cy="54864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E8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2560320"/>
            <a:ext cx="118872" cy="548640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6517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B2A4A"/>
                </a:solidFill>
                <a:latin typeface="Microsoft JhengHei"/>
                <a:rFonts ea="Microsoft JhengHei"/>
              </a:rPr>
              <a:t>02 駕馭工程定義 - Agent = LLM + Harness 核心公式與三階段範式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291840"/>
            <a:ext cx="10698480" cy="54864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E8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31520" y="3291840"/>
            <a:ext cx="118872" cy="548640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33832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B2A4A"/>
                </a:solidFill>
                <a:latin typeface="Microsoft JhengHei"/>
                <a:rFonts ea="Microsoft JhengHei"/>
              </a:rPr>
              <a:t>03 六層架構 - 從使用者介面到基礎設施的完整視圖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023360"/>
            <a:ext cx="10698480" cy="54864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E8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31520" y="4023360"/>
            <a:ext cx="118872" cy="548640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4114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B2A4A"/>
                </a:solidFill>
                <a:latin typeface="Microsoft JhengHei"/>
                <a:rFonts ea="Microsoft JhengHei"/>
              </a:rPr>
              <a:t>04 五大核心機制 - 提示詞動態載入、資訊熵治理、鉤子、回環、權限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4754880"/>
            <a:ext cx="10698480" cy="54864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E8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31520" y="4754880"/>
            <a:ext cx="118872" cy="548640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48463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B2A4A"/>
                </a:solidFill>
                <a:latin typeface="Microsoft JhengHei"/>
                <a:rFonts ea="Microsoft JhengHei"/>
              </a:rPr>
              <a:t>05 最新文獻融合 - 2026年全球重量級研究與實踐啟示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5486400"/>
            <a:ext cx="10698480" cy="54864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E8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1520" y="5486400"/>
            <a:ext cx="118872" cy="548640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05840" y="55778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B2A4A"/>
                </a:solidFill>
                <a:latin typeface="Microsoft JhengHei"/>
                <a:rFonts ea="Microsoft JhengHei"/>
              </a:rPr>
              <a:t>06 未來展望 - Big Model vs Big Harness、群智方向、框架演化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0" y="6217920"/>
            <a:ext cx="914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Microsoft JhengHei"/>
                <a:rFonts ea="Microsoft JhengHe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B2A4A"/>
                </a:solidFill>
                <a:latin typeface="Microsoft JhengHei"/>
                <a:rFonts ea="Microsoft JhengHei"/>
              </a:rPr>
              <a:t>駕馭工程的定義與核心公式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058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0E7C86"/>
                </a:solidFill>
                <a:latin typeface="Microsoft JhengHei"/>
                <a:rFonts ea="Microsoft JhengHei"/>
              </a:rPr>
              <a:t>Harness Engineering — 智能體的作業系統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346704" y="1828800"/>
            <a:ext cx="5486400" cy="91440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0E7C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346704" y="2103120"/>
            <a:ext cx="5486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1B2A4A"/>
                </a:solidFill>
                <a:latin typeface="Microsoft JhengHei"/>
                <a:rFonts ea="Microsoft JhengHei"/>
              </a:rPr>
              <a:t>Agent = LLM + Harness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200400"/>
            <a:ext cx="5120640" cy="228600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E8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3200400"/>
            <a:ext cx="118872" cy="2286000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3291840"/>
            <a:ext cx="47548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b="1" sz="1500">
                <a:solidFill>
                  <a:srgbClr val="1B2A4A"/>
                </a:solidFill>
              </a:defRPr>
            </a:pPr>
            <a:r>
              <a:rPr sz="1100">
                <a:solidFill>
                  <a:srgbClr val="3A4A63"/>
                </a:solidFill>
                <a:latin typeface="Microsoft JhengHei"/>
                <a:rFonts ea="Microsoft JhengHei"/>
              </a:rPr>
              <a:t>LLM（大型語言模型）
- 純粹的「大腦」— 推理、理解、生成
- ❌ 無法執行程式碼 / 存取檔案 / 記住跨會話
- 佔程式碼僅 1.6% 的 AI 決策邏輯
- 類比：引擎 / 烈馬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3200400"/>
            <a:ext cx="5120640" cy="228600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E8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09360" y="3200400"/>
            <a:ext cx="118872" cy="2286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3291840"/>
            <a:ext cx="47548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b="1" sz="1500">
                <a:solidFill>
                  <a:srgbClr val="1B2A4A"/>
                </a:solidFill>
              </a:defRPr>
            </a:pPr>
            <a:r>
              <a:rPr sz="1100">
                <a:solidFill>
                  <a:srgbClr val="3A4A63"/>
                </a:solidFill>
                <a:latin typeface="Microsoft JhengHei"/>
                <a:rFonts ea="Microsoft JhengHei"/>
              </a:rPr>
              <a:t>Harness（駕馭層）
- 智能體的「作業系統」— 確定性基礎設施
- 佔程式碼 98.4% 的管控基礎設施
- 行為確定性 · 任務可靠性 · 安全可控性
- 類比：底盤+方向盤+安全系統 / 韁繩+馬鞍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035040"/>
            <a:ext cx="12191695" cy="457200"/>
          </a:xfrm>
          <a:prstGeom prst="rect">
            <a:avLst/>
          </a:prstGeom>
          <a:solidFill>
            <a:srgbClr val="E7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61722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>
                <a:solidFill>
                  <a:srgbClr val="0E7C86"/>
                </a:solidFill>
                <a:latin typeface="Microsoft JhengHei"/>
                <a:rFonts ea="Microsoft JhengHei"/>
              </a:rPr>
              <a:t>實證：Jimenez 等人僅優化 Harness 層即將 SWE-bench 解決率從 12% 提升至 76%；Bölük 證實 15 種不同 LLM 皆獲一致性能提升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0" y="6217920"/>
            <a:ext cx="914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Microsoft JhengHei"/>
                <a:rFonts ea="Microsoft JhengHe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B2A4A"/>
                </a:solidFill>
                <a:latin typeface="Microsoft JhengHei"/>
                <a:rFonts ea="Microsoft JhengHei"/>
              </a:rPr>
              <a:t>工程範式的三階段演進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058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0E7C86"/>
                </a:solidFill>
                <a:latin typeface="Microsoft JhengHei"/>
                <a:rFonts ea="Microsoft JhengHei"/>
              </a:rPr>
              <a:t>Prompt Engineering → Context Engineering → Harness Engineering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011680"/>
            <a:ext cx="3383280" cy="347472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E8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2011680"/>
            <a:ext cx="118872" cy="3474720"/>
          </a:xfrm>
          <a:prstGeom prst="rect">
            <a:avLst/>
          </a:prstGeom>
          <a:solidFill>
            <a:srgbClr val="C889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19456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B2A4A"/>
                </a:solidFill>
                <a:latin typeface="Microsoft JhengHei"/>
                <a:rFonts ea="Microsoft JhengHei"/>
              </a:rPr>
              <a:t>提示詞工程 2023-2024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743200"/>
            <a:ext cx="301752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3A4A63"/>
                </a:solidFill>
                <a:latin typeface="Microsoft JhengHei"/>
                <a:rFonts ea="Microsoft JhengHei"/>
              </a:rPr>
              <a:t>核心技術: Few-shot, CoT, Role-playing
局限性: 依賴模型能力，難以處理複雜多步任務。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2011680"/>
            <a:ext cx="3383280" cy="347472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E8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89120" y="2011680"/>
            <a:ext cx="118872" cy="3474720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63440" y="219456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B2A4A"/>
                </a:solidFill>
                <a:latin typeface="Microsoft JhengHei"/>
                <a:rFonts ea="Microsoft JhengHei"/>
              </a:rPr>
              <a:t>上下文工程 2025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2743200"/>
            <a:ext cx="301752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3A4A63"/>
                </a:solidFill>
                <a:latin typeface="Microsoft JhengHei"/>
                <a:rFonts ea="Microsoft JhengHei"/>
              </a:rPr>
              <a:t>核心技術: RAG, 向量資料庫, 上下文壓縮
局限性: 僅解決「知識」問題，未解決「行動」與「控制」問題。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20" y="2011680"/>
            <a:ext cx="3383280" cy="347472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E8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46720" y="2011680"/>
            <a:ext cx="118872" cy="347472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21040" y="219456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B2A4A"/>
                </a:solidFill>
                <a:latin typeface="Microsoft JhengHei"/>
                <a:rFonts ea="Microsoft JhengHei"/>
              </a:rPr>
              <a:t>駕馭工程 2026–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0" y="2743200"/>
            <a:ext cx="301752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3A4A63"/>
                </a:solidFill>
                <a:latin typeface="Microsoft JhengHei"/>
                <a:rFonts ea="Microsoft JhengHei"/>
              </a:rPr>
              <a:t>核心理念: 結合確定性系統與概率模型
研究方向: 工具掛載, 權限管控, 狀態機回環, 系統級防護。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035040"/>
            <a:ext cx="12191695" cy="457200"/>
          </a:xfrm>
          <a:prstGeom prst="rect">
            <a:avLst/>
          </a:prstGeom>
          <a:solidFill>
            <a:srgbClr val="E7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61722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>
                <a:solidFill>
                  <a:srgbClr val="0E7C86"/>
                </a:solidFill>
                <a:latin typeface="Microsoft JhengHei"/>
                <a:rFonts ea="Microsoft JhengHei"/>
              </a:rPr>
              <a:t>駕馭工程核心理念 — 「人在環路上掌舵，智在環路中操控」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0" y="6217920"/>
            <a:ext cx="914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Microsoft JhengHei"/>
                <a:rFonts ea="Microsoft JhengHe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B2A4A"/>
                </a:solidFill>
                <a:latin typeface="Microsoft JhengHei"/>
                <a:rFonts ea="Microsoft JhengHei"/>
              </a:rPr>
              <a:t>Claude Code 六層架構總覽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058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0E7C86"/>
                </a:solidFill>
                <a:latin typeface="Microsoft JhengHei"/>
                <a:rFonts ea="Microsoft JhengHei"/>
              </a:rPr>
              <a:t>TypeScript 開發 | 1,900+ 源檔案 | 51.2 萬行 | 40+ 工具 | 98.4% Harness 基礎設施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10698480" cy="64008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E8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645920"/>
            <a:ext cx="118872" cy="64008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8288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3B82F6"/>
                </a:solidFill>
                <a:latin typeface="Microsoft JhengHei"/>
                <a:rFonts ea="Microsoft JhengHei"/>
              </a:rPr>
              <a:t>Layer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68880" y="182880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B2A4A"/>
                </a:solidFill>
                <a:latin typeface="Microsoft JhengHei"/>
                <a:rFonts ea="Microsoft JhengHei"/>
              </a:rPr>
              <a:t>使用者介面層 UI Layer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0" y="18288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3A4A63"/>
                </a:solidFill>
                <a:latin typeface="Microsoft JhengHei"/>
                <a:rFonts ea="Microsoft JhengHei"/>
              </a:rPr>
              <a:t>終端互動·IDE橋接·無頭模式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377440"/>
            <a:ext cx="10698480" cy="64008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E8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" y="2377440"/>
            <a:ext cx="118872" cy="64008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256032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5A623"/>
                </a:solidFill>
                <a:latin typeface="Microsoft JhengHei"/>
                <a:rFonts ea="Microsoft JhengHei"/>
              </a:rPr>
              <a:t>Layer 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0" y="256032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B2A4A"/>
                </a:solidFill>
                <a:latin typeface="Microsoft JhengHei"/>
                <a:rFonts ea="Microsoft JhengHei"/>
              </a:rPr>
              <a:t>編排層 Orchestration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0" y="256032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3A4A63"/>
                </a:solidFill>
                <a:latin typeface="Microsoft JhengHei"/>
                <a:rFonts ea="Microsoft JhengHei"/>
              </a:rPr>
              <a:t>主迴圈·流式傳輸·模型路由·錯誤恢復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3108960"/>
            <a:ext cx="10698480" cy="64008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E8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31520" y="3108960"/>
            <a:ext cx="118872" cy="64008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329184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8B5CF6"/>
                </a:solidFill>
                <a:latin typeface="Microsoft JhengHei"/>
                <a:rFonts ea="Microsoft JhengHei"/>
              </a:rPr>
              <a:t>Layer 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468880" y="329184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B2A4A"/>
                </a:solidFill>
                <a:latin typeface="Microsoft JhengHei"/>
                <a:rFonts ea="Microsoft JhengHei"/>
              </a:rPr>
              <a:t>智能層 Intelligence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0" y="329184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3A4A63"/>
                </a:solidFill>
                <a:latin typeface="Microsoft JhengHei"/>
                <a:rFonts ea="Microsoft JhengHei"/>
              </a:rPr>
              <a:t>提示詞組裝·記憶系統·上下文壓縮·技能管理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3840480"/>
            <a:ext cx="10698480" cy="64008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E8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1520" y="3840480"/>
            <a:ext cx="118872" cy="64008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7280" y="402336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0B981"/>
                </a:solidFill>
                <a:latin typeface="Microsoft JhengHei"/>
                <a:rFonts ea="Microsoft JhengHei"/>
              </a:rPr>
              <a:t>Layer 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68880" y="402336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B2A4A"/>
                </a:solidFill>
                <a:latin typeface="Microsoft JhengHei"/>
                <a:rFonts ea="Microsoft JhengHei"/>
              </a:rPr>
              <a:t>能力層 Capability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0" y="402336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3A4A63"/>
                </a:solidFill>
                <a:latin typeface="Microsoft JhengHei"/>
                <a:rFonts ea="Microsoft JhengHei"/>
              </a:rPr>
              <a:t>40+工具模組·子智能體·MCP整合·動態工具搜索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1520" y="4572000"/>
            <a:ext cx="10698480" cy="64008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E8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31520" y="4572000"/>
            <a:ext cx="118872" cy="64008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97280" y="475488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E74C3C"/>
                </a:solidFill>
                <a:latin typeface="Microsoft JhengHei"/>
                <a:rFonts ea="Microsoft JhengHei"/>
              </a:rPr>
              <a:t>Layer 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468880" y="475488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B2A4A"/>
                </a:solidFill>
                <a:latin typeface="Microsoft JhengHei"/>
                <a:rFonts ea="Microsoft JhengHei"/>
              </a:rPr>
              <a:t>安全治理層 Security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43600" y="47548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3A4A63"/>
                </a:solidFill>
                <a:latin typeface="Microsoft JhengHei"/>
                <a:rFonts ea="Microsoft JhengHei"/>
              </a:rPr>
              <a:t>三級權限·YOLO分類器·命令黑名單·沙箱隔離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31520" y="5303520"/>
            <a:ext cx="10698480" cy="64008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E8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31520" y="5303520"/>
            <a:ext cx="118872" cy="64008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97280" y="54864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64748B"/>
                </a:solidFill>
                <a:latin typeface="Microsoft JhengHei"/>
                <a:rFonts ea="Microsoft JhengHei"/>
              </a:rPr>
              <a:t>Layer 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468880" y="548640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B2A4A"/>
                </a:solidFill>
                <a:latin typeface="Microsoft JhengHei"/>
                <a:rFonts ea="Microsoft JhengHei"/>
              </a:rPr>
              <a:t>基礎設施層 Infrastructure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43600" y="54864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3A4A63"/>
                </a:solidFill>
                <a:latin typeface="Microsoft JhengHei"/>
                <a:rFonts ea="Microsoft JhengHei"/>
              </a:rPr>
              <a:t>會話持久化·遠端會話·鑑權·Token計費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972800" y="6217920"/>
            <a:ext cx="914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Microsoft JhengHei"/>
                <a:rFonts ea="Microsoft JhengHe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B2A4A"/>
                </a:solidFill>
                <a:latin typeface="Microsoft JhengHei"/>
                <a:rFonts ea="Microsoft JhengHei"/>
              </a:rPr>
              <a:t>機制一：提示詞動態載入機制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058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0E7C86"/>
                </a:solidFill>
                <a:latin typeface="Microsoft JhengHei"/>
                <a:rFonts ea="Microsoft JhengHei"/>
              </a:rPr>
              <a:t>Progressive Disclosure — 資訊按需獲取、分層展開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828800"/>
            <a:ext cx="5486400" cy="54864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E8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828800"/>
            <a:ext cx="118872" cy="54864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96596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B2A4A"/>
                </a:solidFill>
                <a:latin typeface="Microsoft JhengHei"/>
                <a:rFonts ea="Microsoft JhengHei"/>
              </a:rPr>
              <a:t>System: 角色定義與核心規範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468880"/>
            <a:ext cx="5486400" cy="54864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E8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2468880"/>
            <a:ext cx="118872" cy="54864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260604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B2A4A"/>
                </a:solidFill>
                <a:latin typeface="Microsoft JhengHei"/>
                <a:rFonts ea="Microsoft JhengHei"/>
              </a:rPr>
              <a:t>Mode: 任務模式 (Architect/Coder/Reviewer)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108960"/>
            <a:ext cx="5486400" cy="54864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E8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31520" y="3108960"/>
            <a:ext cx="118872" cy="54864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324612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B2A4A"/>
                </a:solidFill>
                <a:latin typeface="Microsoft JhengHei"/>
                <a:rFonts ea="Microsoft JhengHei"/>
              </a:rPr>
              <a:t>Tools: 可用工具定義與Schema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749039"/>
            <a:ext cx="5486400" cy="54864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E8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31520" y="3749039"/>
            <a:ext cx="118872" cy="54864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3886199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B2A4A"/>
                </a:solidFill>
                <a:latin typeface="Microsoft JhengHei"/>
                <a:rFonts ea="Microsoft JhengHei"/>
              </a:rPr>
              <a:t>Project: 專案級上下文 (架構, 規範)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4389120"/>
            <a:ext cx="5486400" cy="54864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E8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31520" y="4389120"/>
            <a:ext cx="118872" cy="54864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7280" y="45262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B2A4A"/>
                </a:solidFill>
                <a:latin typeface="Microsoft JhengHei"/>
                <a:rFonts ea="Microsoft JhengHei"/>
              </a:rPr>
              <a:t>Git: 版本控制狀態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5029200"/>
            <a:ext cx="5486400" cy="54864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E8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1520" y="5029200"/>
            <a:ext cx="118872" cy="54864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7280" y="516636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B2A4A"/>
                </a:solidFill>
                <a:latin typeface="Microsoft JhengHei"/>
                <a:rFonts ea="Microsoft JhengHei"/>
              </a:rPr>
              <a:t>History: 對話歷史與行動日誌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675120" y="1828800"/>
            <a:ext cx="4754880" cy="3749039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E8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675120" y="1828800"/>
            <a:ext cx="118872" cy="3749039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949440" y="201168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B2A4A"/>
                </a:solidFill>
                <a:latin typeface="Microsoft JhengHei"/>
                <a:rFonts ea="Microsoft JhengHei"/>
              </a:rPr>
              <a:t>核心邏輯 — 漸進式揭露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49440" y="2560320"/>
            <a:ext cx="43891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3A4A63"/>
                </a:solidFill>
                <a:latin typeface="Microsoft JhengHei"/>
                <a:rFonts ea="Microsoft JhengHei"/>
              </a:rPr>
              <a:t>- 避免一次性塞入過多資訊導致模型注意力渙散 (Lost in the Middle)。
- 根據任務狀態與需要動態載入。
- 保證 Token 使用效率。
- 源碼顯示：按順序嚴格組裝，動態計算剩餘 Token 決定載入深度。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72800" y="6217920"/>
            <a:ext cx="914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Microsoft JhengHei"/>
                <a:rFonts ea="Microsoft JhengHe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B2A4A"/>
                </a:solidFill>
                <a:latin typeface="Microsoft JhengHei"/>
                <a:rFonts ea="Microsoft JhengHei"/>
              </a:rPr>
              <a:t>機制二：資訊熵治理 — 三級記憶架構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058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0E7C86"/>
                </a:solidFill>
                <a:latin typeface="Microsoft JhengHei"/>
                <a:rFonts ea="Microsoft JhengHei"/>
              </a:rPr>
              <a:t>解決上下文熵增挑戰 — 索引→主題→歸檔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828800"/>
            <a:ext cx="5029200" cy="91440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E8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828800"/>
            <a:ext cx="118872" cy="91440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920240"/>
            <a:ext cx="4572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3A4A63"/>
                </a:solidFill>
                <a:latin typeface="Microsoft JhengHei"/>
                <a:rFonts ea="Microsoft JhengHei"/>
              </a:rPr>
              <a:t>1級常駐層 memory.md
核心索引、高頻使用的全域狀態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926080"/>
            <a:ext cx="5029200" cy="91440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E8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2926080"/>
            <a:ext cx="118872" cy="9144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4572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3A4A63"/>
                </a:solidFill>
                <a:latin typeface="Microsoft JhengHei"/>
                <a:rFonts ea="Microsoft JhengHei"/>
              </a:rPr>
              <a:t>2級按需層 Topic Files
特定任務/模組的詳細紀錄，按需檢索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023360"/>
            <a:ext cx="5029200" cy="91440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E8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31520" y="4023360"/>
            <a:ext cx="118872" cy="91440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4114800"/>
            <a:ext cx="4572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3A4A63"/>
                </a:solidFill>
                <a:latin typeface="Microsoft JhengHei"/>
                <a:rFonts ea="Microsoft JhengHei"/>
              </a:rPr>
              <a:t>3級冷備層 Archive
已完成任務日誌，極少載入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1828800"/>
            <a:ext cx="5212080" cy="310896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E8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17920" y="1828800"/>
            <a:ext cx="118872" cy="31089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92240" y="201168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B2A4A"/>
                </a:solidFill>
                <a:latin typeface="Microsoft JhengHei"/>
                <a:rFonts ea="Microsoft JhengHei"/>
              </a:rPr>
              <a:t>五級壓縮機制與最新發現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2468880"/>
            <a:ext cx="47548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3A4A63"/>
                </a:solidFill>
                <a:latin typeface="Microsoft JhengHei"/>
                <a:rFonts ea="Microsoft JhengHei"/>
              </a:rPr>
              <a:t>- L1 裁剪: 移除冗餘標籤
- L2 微壓縮: 刪減非關鍵對話
- L3 折疊: 程式碼區塊折疊
- L4 自動壓縮: 呼叫模型總結
- L5 響應式: 動態丟棄舊日誌
洩露源碼顯示：壓縮閾值在83.5%上下文使用率觸發 | 保留約33K tokens系統緩衝區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035040"/>
            <a:ext cx="12191695" cy="457200"/>
          </a:xfrm>
          <a:prstGeom prst="rect">
            <a:avLst/>
          </a:prstGeom>
          <a:solidFill>
            <a:srgbClr val="E7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61722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>
                <a:solidFill>
                  <a:srgbClr val="0E7C86"/>
                </a:solidFill>
                <a:latin typeface="Microsoft JhengHei"/>
                <a:rFonts ea="Microsoft JhengHei"/>
              </a:rPr>
              <a:t>實測節省60%+ Token | 完成率提升4倍+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0" y="6217920"/>
            <a:ext cx="914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Microsoft JhengHei"/>
                <a:rFonts ea="Microsoft JhengHe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B2A4A"/>
                </a:solidFill>
                <a:latin typeface="Microsoft JhengHei"/>
                <a:rFonts ea="Microsoft JhengHei"/>
              </a:rPr>
              <a:t>機制三：流程確定性管控 — 鉤子機制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058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0E7C86"/>
                </a:solidFill>
                <a:latin typeface="Microsoft JhengHei"/>
                <a:rFonts ea="Microsoft JhengHei"/>
              </a:rPr>
              <a:t>Deterministic Control Layer — 30+ 生命週期事件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828800"/>
            <a:ext cx="5029200" cy="54864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E8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828800"/>
            <a:ext cx="118872" cy="54864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9659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B2A4A"/>
                </a:solidFill>
                <a:latin typeface="Microsoft JhengHei"/>
                <a:rFonts ea="Microsoft JhengHei"/>
              </a:rPr>
              <a:t> 提示詞鉤子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560320"/>
            <a:ext cx="5029200" cy="54864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E8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2560320"/>
            <a:ext cx="118872" cy="54864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26974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B2A4A"/>
                </a:solidFill>
                <a:latin typeface="Microsoft JhengHei"/>
                <a:rFonts ea="Microsoft JhengHei"/>
              </a:rPr>
              <a:t> 前置鉤子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291840"/>
            <a:ext cx="5029200" cy="54864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E8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31520" y="3291840"/>
            <a:ext cx="118872" cy="54864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34290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B2A4A"/>
                </a:solidFill>
                <a:latin typeface="Microsoft JhengHei"/>
                <a:rFonts ea="Microsoft JhengHei"/>
              </a:rPr>
              <a:t> 後置鉤子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023360"/>
            <a:ext cx="5029200" cy="54864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E8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31520" y="4023360"/>
            <a:ext cx="118872" cy="54864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41605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B2A4A"/>
                </a:solidFill>
                <a:latin typeface="Microsoft JhengHei"/>
                <a:rFonts ea="Microsoft JhengHei"/>
              </a:rPr>
              <a:t> 環路狀態鉤子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4754880"/>
            <a:ext cx="5029200" cy="54864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E8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31520" y="4754880"/>
            <a:ext cx="118872" cy="54864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7280" y="48920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B2A4A"/>
                </a:solidFill>
                <a:latin typeface="Microsoft JhengHei"/>
                <a:rFonts ea="Microsoft JhengHei"/>
              </a:rPr>
              <a:t> 任務狀態鉤子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17920" y="1828800"/>
            <a:ext cx="5212080" cy="347472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E8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17920" y="1828800"/>
            <a:ext cx="118872" cy="3474720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92240" y="201168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B2A4A"/>
                </a:solidFill>
                <a:latin typeface="Microsoft JhengHei"/>
                <a:rFonts ea="Microsoft JhengHei"/>
              </a:rPr>
              <a:t>有鉤子 vs 無鉤子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2560320"/>
            <a:ext cx="475488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3A4A63"/>
                </a:solidFill>
                <a:latin typeface="Microsoft JhengHei"/>
                <a:rFonts ea="Microsoft JhengHei"/>
              </a:rPr>
              <a:t>無鉤子：
黑盒執行，難以介入、難以進行安全檢查。
有鉤子：
- 洩露源碼顯示超過30個lifecycle events (PreToolUse, PostEdit, Stop, SessionStart等)。
- 支援 Command Hooks(Shell) / Agent Hooks(模型評估) / Security Hooks(治理)。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2800" y="6217920"/>
            <a:ext cx="914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Microsoft JhengHei"/>
                <a:rFonts ea="Microsoft JhengHe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B2A4A"/>
                </a:solidFill>
                <a:latin typeface="Microsoft JhengHei"/>
                <a:rFonts ea="Microsoft JhengHei"/>
              </a:rPr>
              <a:t>機制四：任務回環機制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058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0E7C86"/>
                </a:solidFill>
                <a:latin typeface="Microsoft JhengHei"/>
                <a:rFonts ea="Microsoft JhengHei"/>
              </a:rPr>
              <a:t>Think → Act → Observe → Repeat | 核心邏輯僅約50行程式碼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371600" y="2011680"/>
            <a:ext cx="1828800" cy="1371600"/>
          </a:xfrm>
          <a:prstGeom prst="roundRect">
            <a:avLst/>
          </a:prstGeom>
          <a:solidFill>
            <a:srgbClr val="E7F1F2"/>
          </a:solidFill>
          <a:ln>
            <a:solidFill>
              <a:srgbClr val="0E7C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1B2A4A"/>
                </a:solidFill>
                <a:latin typeface="Microsoft JhengHei"/>
              </a:defRPr>
            </a:pPr>
            <a:r>
              <a:t>Think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749039" y="2011680"/>
            <a:ext cx="1828800" cy="1371600"/>
          </a:xfrm>
          <a:prstGeom prst="roundRect">
            <a:avLst/>
          </a:prstGeom>
          <a:solidFill>
            <a:srgbClr val="E7F1F2"/>
          </a:solidFill>
          <a:ln>
            <a:solidFill>
              <a:srgbClr val="0E7C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1B2A4A"/>
                </a:solidFill>
                <a:latin typeface="Microsoft JhengHei"/>
              </a:defRPr>
            </a:pPr>
            <a:r>
              <a:t>Act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2011680"/>
            <a:ext cx="1828800" cy="1371600"/>
          </a:xfrm>
          <a:prstGeom prst="roundRect">
            <a:avLst/>
          </a:prstGeom>
          <a:solidFill>
            <a:srgbClr val="E7F1F2"/>
          </a:solidFill>
          <a:ln>
            <a:solidFill>
              <a:srgbClr val="0E7C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1B2A4A"/>
                </a:solidFill>
                <a:latin typeface="Microsoft JhengHei"/>
              </a:defRPr>
            </a:pPr>
            <a:r>
              <a:t>Observe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503920" y="2011680"/>
            <a:ext cx="1828800" cy="1371600"/>
          </a:xfrm>
          <a:prstGeom prst="roundRect">
            <a:avLst/>
          </a:prstGeom>
          <a:solidFill>
            <a:srgbClr val="E7F1F2"/>
          </a:solidFill>
          <a:ln>
            <a:solidFill>
              <a:srgbClr val="0E7C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1B2A4A"/>
                </a:solidFill>
                <a:latin typeface="Microsoft JhengHei"/>
              </a:defRPr>
            </a:pPr>
            <a:r>
              <a:t>Repeat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840480"/>
            <a:ext cx="5120640" cy="182880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E8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3840480"/>
            <a:ext cx="118872" cy="18288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4023360"/>
            <a:ext cx="47548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3A4A63"/>
                </a:solidFill>
                <a:latin typeface="Microsoft JhengHei"/>
                <a:rFonts ea="Microsoft JhengHei"/>
              </a:rPr>
              <a:t>哲學對比：
「將智能全部交給大模型，將確定性留給框架」
對比 LangChain 等框架的複雜編排路線，Claude Code 採用極簡主迴圈，依賴模型自身的推理能力進行狀態流轉。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60" y="3840480"/>
            <a:ext cx="5120640" cy="182880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E8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09360" y="3840480"/>
            <a:ext cx="118872" cy="18288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0" y="4023360"/>
            <a:ext cx="47548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3A4A63"/>
                </a:solidFill>
                <a:latin typeface="Microsoft JhengHei"/>
                <a:rFonts ea="Microsoft JhengHei"/>
              </a:rPr>
              <a:t>新研究與迴圈模式：
- ReAct: 思考與行動交替
- Plan-Execute: 規劃後執行
- Reflexion: 執行後反思修正
- Tree-of-Thoughts: 多路徑探索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0" y="6217920"/>
            <a:ext cx="914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Microsoft JhengHei"/>
                <a:rFonts ea="Microsoft JhengHe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B2A4A"/>
                </a:solidFill>
                <a:latin typeface="Microsoft JhengHei"/>
                <a:rFonts ea="Microsoft JhengHei"/>
              </a:rPr>
              <a:t>機制五：工具系統與權限管控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058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0E7C86"/>
                </a:solidFill>
                <a:latin typeface="Microsoft JhengHei"/>
                <a:rFonts ea="Microsoft JhengHei"/>
              </a:rPr>
              <a:t>Permission-Gated Tooling — 19~40+ 工具模組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828800"/>
            <a:ext cx="5943600" cy="91440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E8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828800"/>
            <a:ext cx="118872" cy="9144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965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B2A4A"/>
                </a:solidFill>
                <a:latin typeface="Microsoft JhengHei"/>
                <a:rFonts ea="Microsoft JhengHei"/>
              </a:rPr>
              <a:t>低風險 (自動執行)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2860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3A4A63"/>
                </a:solidFill>
                <a:latin typeface="Microsoft JhengHei"/>
                <a:rFonts ea="Microsoft JhengHei"/>
              </a:rPr>
              <a:t>檔案讀取、資料夾列表、搜尋、狀態查詢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926080"/>
            <a:ext cx="5943600" cy="91440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E8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2926080"/>
            <a:ext cx="118872" cy="91440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306324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B2A4A"/>
                </a:solidFill>
                <a:latin typeface="Microsoft JhengHei"/>
                <a:rFonts ea="Microsoft JhengHei"/>
              </a:rPr>
              <a:t>中風險 (條件執行)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3832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3A4A63"/>
                </a:solidFill>
                <a:latin typeface="Microsoft JhengHei"/>
                <a:rFonts ea="Microsoft JhengHei"/>
              </a:rPr>
              <a:t>檔案修改、Git提交、本機測試執行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4023360"/>
            <a:ext cx="5943600" cy="91440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E8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31520" y="4023360"/>
            <a:ext cx="118872" cy="91440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7280" y="41605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B2A4A"/>
                </a:solidFill>
                <a:latin typeface="Microsoft JhengHei"/>
                <a:rFonts ea="Microsoft JhengHei"/>
              </a:rPr>
              <a:t>高風險 (人工確認)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4805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3A4A63"/>
                </a:solidFill>
                <a:latin typeface="Microsoft JhengHei"/>
                <a:rFonts ea="Microsoft JhengHei"/>
              </a:rPr>
              <a:t>系統命令執行、刪除操作、外部網路訪問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0" y="1828800"/>
            <a:ext cx="4297680" cy="310896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E8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132320" y="1828800"/>
            <a:ext cx="118872" cy="31089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06640" y="2011680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B2A4A"/>
                </a:solidFill>
                <a:latin typeface="Microsoft JhengHei"/>
                <a:rFonts ea="Microsoft JhengHei"/>
              </a:rPr>
              <a:t>額外防護與設計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06640" y="2560320"/>
            <a:ext cx="38404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3A4A63"/>
                </a:solidFill>
                <a:latin typeface="Microsoft JhengHei"/>
                <a:rFonts ea="Microsoft JhengHei"/>
              </a:rPr>
              <a:t>- 命令黑名單 (rm -rf 等)
- YOLO分類器 (防止提示詞注入)
- 非常規 RAG 設計
- 源碼顯示：~19 核心權限門控工具
- 支援 MCP (Model Context Protocol)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035040"/>
            <a:ext cx="12191695" cy="457200"/>
          </a:xfrm>
          <a:prstGeom prst="rect">
            <a:avLst/>
          </a:prstGeom>
          <a:solidFill>
            <a:srgbClr val="E7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61722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B3372B"/>
                </a:solidFill>
                <a:latin typeface="Microsoft JhengHei"/>
                <a:rFonts ea="Microsoft JhengHei"/>
              </a:rPr>
              <a:t>警告：若繞過門控機制可能導致系統被惡意指令接管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0" y="6217920"/>
            <a:ext cx="914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Microsoft JhengHei"/>
                <a:rFonts ea="Microsoft JhengHe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B2A4A"/>
                </a:solidFill>
                <a:latin typeface="Microsoft JhengHei"/>
                <a:rFonts ea="Microsoft JhengHei"/>
              </a:rPr>
              <a:t>2026年最新文獻與業界研究融合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058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0E7C86"/>
                </a:solidFill>
                <a:latin typeface="Microsoft JhengHei"/>
                <a:rFonts ea="Microsoft JhengHei"/>
              </a:rPr>
              <a:t>Architectural Design Decisions in AI Agent Harnesses (Hu Wei, 2026)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120640" cy="182880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E8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645920"/>
            <a:ext cx="118872" cy="18288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82880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B2A4A"/>
                </a:solidFill>
                <a:latin typeface="Microsoft JhengHei"/>
                <a:rFonts ea="Microsoft JhengHei"/>
              </a:rPr>
              <a:t>五大架構設計維度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194560"/>
            <a:ext cx="47548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3A4A63"/>
                </a:solidFill>
                <a:latin typeface="Microsoft JhengHei"/>
                <a:rFonts ea="Microsoft JhengHei"/>
              </a:rPr>
              <a:t>子智能體架構、上下文管理、工具系統、安全機制、編排層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645920"/>
            <a:ext cx="5120640" cy="182880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E8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309360" y="1645920"/>
            <a:ext cx="118872" cy="182880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0" y="182880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B2A4A"/>
                </a:solidFill>
                <a:latin typeface="Microsoft JhengHei"/>
                <a:rFonts ea="Microsoft JhengHei"/>
              </a:rPr>
              <a:t>典型架構模式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0" y="2194560"/>
            <a:ext cx="47548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3A4A63"/>
                </a:solidFill>
                <a:latin typeface="Microsoft JhengHei"/>
                <a:rFonts ea="Microsoft JhengHei"/>
              </a:rPr>
              <a:t>ReAct, Plan-Execute, Reflexion, Tree-of-Thoughts, Multi-Agent Orchestration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657600"/>
            <a:ext cx="5120640" cy="182880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E8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31520" y="3657600"/>
            <a:ext cx="118872" cy="18288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384048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B2A4A"/>
                </a:solidFill>
                <a:latin typeface="Microsoft JhengHei"/>
                <a:rFonts ea="Microsoft JhengHei"/>
              </a:rPr>
              <a:t>2026年框架生態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4206240"/>
            <a:ext cx="47548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3A4A63"/>
                </a:solidFill>
                <a:latin typeface="Microsoft JhengHei"/>
                <a:rFonts ea="Microsoft JhengHei"/>
              </a:rPr>
              <a:t>LangGraph(stateful), CrewAI(role-based)
AutoGen(research), Google ADK, AWS Multi-Agent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3657600"/>
            <a:ext cx="5120640" cy="182880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E8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309360" y="3657600"/>
            <a:ext cx="118872" cy="18288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0" y="384048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B2A4A"/>
                </a:solidFill>
                <a:latin typeface="Microsoft JhengHei"/>
                <a:rFonts ea="Microsoft JhengHei"/>
              </a:rPr>
              <a:t>生產部署實踐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0" y="4206240"/>
            <a:ext cx="47548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3A4A63"/>
                </a:solidFill>
                <a:latin typeface="Microsoft JhengHei"/>
                <a:rFonts ea="Microsoft JhengHei"/>
              </a:rPr>
              <a:t>可觀測性、治理安全、沙箱隔離、HITL、性能工程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0" y="6217920"/>
            <a:ext cx="914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Microsoft JhengHei"/>
                <a:rFonts ea="Microsoft JhengHe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B2A4A"/>
                </a:solidFill>
                <a:latin typeface="Microsoft JhengHei"/>
                <a:rFonts ea="Microsoft JhengHei"/>
              </a:rPr>
              <a:t>從集群到群智：Agent Swarm 的演化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058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0E7C86"/>
                </a:solidFill>
                <a:latin typeface="Microsoft JhengHei"/>
                <a:rFonts ea="Microsoft JhengHei"/>
              </a:rPr>
              <a:t>2026年多智能體編排的新興模式與生產部署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B2A4A"/>
                </a:solidFill>
                <a:latin typeface="Microsoft JhengHei"/>
                <a:rFonts ea="Microsoft JhengHei"/>
              </a:rPr>
              <a:t>對比：集群 vs 蜂群/群智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194560"/>
            <a:ext cx="2560320" cy="137160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E8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2194560"/>
            <a:ext cx="118872" cy="13716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7744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B2A4A"/>
                </a:solidFill>
                <a:latin typeface="Microsoft JhengHei"/>
                <a:rFonts ea="Microsoft JhengHei"/>
              </a:rPr>
              <a:t>Orchestrator-Worker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743200"/>
            <a:ext cx="21945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>
                <a:solidFill>
                  <a:srgbClr val="3A4A63"/>
                </a:solidFill>
                <a:latin typeface="Microsoft JhengHei"/>
                <a:rFonts ea="Microsoft JhengHei"/>
              </a:rPr>
              <a:t>主從架構，集中排程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74720" y="2194560"/>
            <a:ext cx="2560320" cy="137160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E8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474720" y="2194560"/>
            <a:ext cx="118872" cy="13716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749040" y="237744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B2A4A"/>
                </a:solidFill>
                <a:latin typeface="Microsoft JhengHei"/>
                <a:rFonts ea="Microsoft JhengHei"/>
              </a:rPr>
              <a:t>Pipeline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49040" y="2743200"/>
            <a:ext cx="21945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>
                <a:solidFill>
                  <a:srgbClr val="3A4A63"/>
                </a:solidFill>
                <a:latin typeface="Microsoft JhengHei"/>
                <a:rFonts ea="Microsoft JhengHei"/>
              </a:rPr>
              <a:t>流水線式，接力完成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2194560"/>
            <a:ext cx="2560320" cy="137160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E8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17920" y="2194560"/>
            <a:ext cx="118872" cy="13716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92240" y="237744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B2A4A"/>
                </a:solidFill>
                <a:latin typeface="Microsoft JhengHei"/>
                <a:rFonts ea="Microsoft JhengHei"/>
              </a:rPr>
              <a:t>Peer Debate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2743200"/>
            <a:ext cx="21945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>
                <a:solidFill>
                  <a:srgbClr val="3A4A63"/>
                </a:solidFill>
                <a:latin typeface="Microsoft JhengHei"/>
                <a:rFonts ea="Microsoft JhengHei"/>
              </a:rPr>
              <a:t>同儕辯論，交叉驗證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961120" y="2194560"/>
            <a:ext cx="2560320" cy="137160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E8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961120" y="2194560"/>
            <a:ext cx="118872" cy="13716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35440" y="237744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B2A4A"/>
                </a:solidFill>
                <a:latin typeface="Microsoft JhengHei"/>
                <a:rFonts ea="Microsoft JhengHei"/>
              </a:rPr>
              <a:t>Specialist Routing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35440" y="2743200"/>
            <a:ext cx="21945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>
                <a:solidFill>
                  <a:srgbClr val="3A4A63"/>
                </a:solidFill>
                <a:latin typeface="Microsoft JhengHei"/>
                <a:rFonts ea="Microsoft JhengHei"/>
              </a:rPr>
              <a:t>專家路由，動態分派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3840480"/>
            <a:ext cx="10698480" cy="164592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E8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31520" y="3840480"/>
            <a:ext cx="118872" cy="164592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" y="40233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B2A4A"/>
                </a:solidFill>
                <a:latin typeface="Microsoft JhengHei"/>
                <a:rFonts ea="Microsoft JhengHei"/>
              </a:rPr>
              <a:t>2026 挑戰與 Governance-first Mandate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" y="43891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3A4A63"/>
                </a:solidFill>
                <a:latin typeface="Microsoft JhengHei"/>
                <a:rFonts ea="Microsoft JhengHei"/>
              </a:rPr>
              <a:t>協調失敗, 機器速度安全, 部署複雜性
治理優先 (Governance-first)：群智系統必須在設計初期即嵌入安全與審計機制。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72800" y="6217920"/>
            <a:ext cx="914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Microsoft JhengHei"/>
                <a:rFonts ea="Microsoft JhengHe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B2A4A"/>
                </a:solidFill>
                <a:latin typeface="Microsoft JhengHei"/>
                <a:rFonts ea="Microsoft JhengHei"/>
              </a:rPr>
              <a:t>未來展望與戰略思考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10698480" cy="128016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E8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18872" cy="12801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55448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B2A4A"/>
                </a:solidFill>
                <a:latin typeface="Microsoft JhengHei"/>
                <a:rFonts ea="Microsoft JhengHei"/>
              </a:rPr>
              <a:t>Big Model vs Big Harness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0" y="155448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3A4A63"/>
                </a:solidFill>
                <a:latin typeface="Microsoft JhengHei"/>
                <a:rFonts ea="Microsoft JhengHei"/>
              </a:rPr>
              <a:t>隨模型能力提升，Harness 可能變薄，但「關鍵路徑」的安全與確定性要求會讓 Harness 向底層下沉，成為標準化基礎設施。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834640"/>
            <a:ext cx="10698480" cy="128016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E8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2834640"/>
            <a:ext cx="118872" cy="1280160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B2A4A"/>
                </a:solidFill>
                <a:latin typeface="Microsoft JhengHei"/>
                <a:rFonts ea="Microsoft JhengHei"/>
              </a:rPr>
              <a:t>Agent Swarm群智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0" y="301752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3A4A63"/>
                </a:solidFill>
                <a:latin typeface="Microsoft JhengHei"/>
                <a:rFonts ea="Microsoft JhengHei"/>
              </a:rPr>
              <a:t>從單一 Agent 走向多體協同。如何設計高效的通訊協議與去中心化治理機制，將是 2027 年的重點。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297680"/>
            <a:ext cx="10698480" cy="128016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E8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4297680"/>
            <a:ext cx="118872" cy="1280160"/>
          </a:xfrm>
          <a:prstGeom prst="rect">
            <a:avLst/>
          </a:prstGeom>
          <a:solidFill>
            <a:srgbClr val="C889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448056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B2A4A"/>
                </a:solidFill>
                <a:latin typeface="Microsoft JhengHei"/>
                <a:rFonts ea="Microsoft JhengHei"/>
              </a:rPr>
              <a:t>腳手架變薄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0" y="448056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3A4A63"/>
                </a:solidFill>
                <a:latin typeface="Microsoft JhengHei"/>
                <a:rFonts ea="Microsoft JhengHei"/>
              </a:rPr>
              <a:t>模型自帶越來越多原生工具調用能力 (如原生 JSON 模式、原生搜尋)，應用層的腳手架將更加專注於業務邏輯與流程編排。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0" y="6217920"/>
            <a:ext cx="914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Microsoft JhengHei"/>
                <a:rFonts ea="Microsoft JhengHe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Microsoft JhengHei"/>
                <a:rFonts ea="Microsoft JhengHei"/>
              </a:rPr>
              <a:t>核心結論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10698480" cy="91440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6002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Microsoft JhengHei"/>
                <a:rFonts ea="Microsoft JhengHei"/>
              </a:rPr>
              <a:t>1. Harness 是核心：模型的智力需要強大的確定性系統來約束與放大。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468880"/>
            <a:ext cx="10698480" cy="91440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6974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Microsoft JhengHei"/>
                <a:rFonts ea="Microsoft JhengHei"/>
              </a:rPr>
              <a:t>2. 架構即安全：防護機制必須深度融入架構設計 (YOLO, 權限門控)。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566160"/>
            <a:ext cx="10698480" cy="91440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37947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Microsoft JhengHei"/>
                <a:rFonts ea="Microsoft JhengHei"/>
              </a:rPr>
              <a:t>3. 資源管理：透過記憶分級與上下文壓縮，有效降低熵增與成本。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4864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94A3B8"/>
                </a:solidFill>
                <a:latin typeface="Microsoft JhengHei"/>
                <a:rFonts ea="Microsoft JhengHei"/>
              </a:rPr>
              <a:t>「最頂尖的 AI 應用，往往擁有最厚實的工程底座。」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217920"/>
            <a:ext cx="914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Microsoft JhengHei"/>
                <a:rFonts ea="Microsoft JhengHe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B2A4A"/>
                </a:solidFill>
                <a:latin typeface="Microsoft JhengHei"/>
                <a:rFonts ea="Microsoft JhengHei"/>
              </a:rPr>
              <a:t>參考文獻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10698480" cy="411480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E8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18872" cy="411480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645920"/>
            <a:ext cx="10058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3A4A63"/>
                </a:solidFill>
                <a:latin typeface="Microsoft JhengHei"/>
                <a:rFonts ea="Microsoft JhengHei"/>
              </a:rPr>
              <a:t>[1] 和達 等 (2026). 《智能體駕馭工程》. 通信技術期刊.
[2] Jimenez, C., et al. (2024). SWE-bench: Can Language Models Resolve Real-World GitHub Issues?
[3] Bölük, B., et al. (2025). Harnessing LLMs for Deterministic Execution.
[4] Hu, Wei. (2026). Architectural Design Decisions in AI Agent Harnesses.
[5] Anthropic. (2026). Claude Code Architecture (Leaked Source Code Analysis).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217920"/>
            <a:ext cx="914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Microsoft JhengHei"/>
                <a:rFonts ea="Microsoft JhengHei"/>
              </a:rPr>
              <a:t>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