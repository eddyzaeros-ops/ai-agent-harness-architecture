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0="http://schemas.openxmlformats.org/wordprocessingml/2006/main" sz="3600" b="1" ns0:eastAsia="Microsoft JhengHei">
                <a:solidFill>
                  <a:srgbClr val="FFFFFF"/>
                </a:solidFill>
                <a:latin typeface="Microsoft JhengHei"/>
                <a:rFonts ea="Microsoft JhengHei"/>
              </a:rPr>
              <a:t>智能體駕馭工程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="http://schemas.openxmlformats.org/wordprocessingml/2006/main" sz="2000" ns1:eastAsia="Microsoft JhengHei">
                <a:solidFill>
                  <a:srgbClr val="94A3B8"/>
                </a:solidFill>
                <a:latin typeface="Microsoft JhengHei"/>
                <a:rFonts ea="Microsoft JhengHei"/>
              </a:rPr>
              <a:t>Claude Code 六層架構與五大核心機制 深度研究簡報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="http://schemas.openxmlformats.org/wordprocessingml/2006/main" sz="1400" ns2:eastAsia="Microsoft JhengHei">
                <a:solidFill>
                  <a:srgbClr val="64748B"/>
                </a:solidFill>
                <a:latin typeface="Microsoft JhengHei"/>
                <a:rFonts ea="Microsoft JhengHei"/>
              </a:rPr>
              <a:t>基於論文：和達 等 《智能體駕馭工程》通信技術 2026 | 結合 2026 年最新文獻研析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000" b="1" ns0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研究大綱與核心問題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ns1:eastAsia="Microsoft JhengHei">
                <a:solidFill>
                  <a:srgbClr val="0E7C86"/>
                </a:solidFill>
                <a:latin typeface="Microsoft JhengHei"/>
                <a:rFonts ea="Microsoft JhengHei"/>
              </a:rPr>
              <a:t>從源碼洩露到駕馭工程全景解析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18872" cy="5486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ns2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01 研究背景 - 2026年3月 Claude Code 源碼洩露事件始末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69848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18872" cy="5486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400" b="1" ns3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02 駕馭工程定義 - Agent = LLM + Harness 核心公式與三階段範式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69848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91840"/>
            <a:ext cx="118872" cy="5486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400" b="1" ns4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03 六層架構 - 從使用者介面到基礎設施的完整視圖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1069848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118872" cy="5486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400" b="1" ns5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04 五大核心機制 - 提示詞動態載入、資訊熵治理、鉤子、回環、權限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1069848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18872" cy="5486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400" b="1" ns6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05 最新文獻融合 - 2026年全球重量級研究與實踐啟示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69848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486400"/>
            <a:ext cx="118872" cy="5486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400" b="1" ns7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06 未來展望 - Big Model vs Big Harness、群智方向、框架演化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wordprocessingml/2006/main" sz="1400" ns8:eastAsia="Microsoft JhengHei">
                <a:solidFill>
                  <a:srgbClr val="6B7280"/>
                </a:solidFill>
                <a:latin typeface="Microsoft JhengHei"/>
                <a:rFonts ea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JhengHei"/>
                <a:rFonts a:ea="Microsoft JhengHei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371600"/>
            <a:ext cx="73152" cy="50292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000" b="1" ns0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駕馭工程的定義與核心公式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ns1:eastAsia="Microsoft JhengHei">
                <a:solidFill>
                  <a:srgbClr val="0E7C86"/>
                </a:solidFill>
                <a:latin typeface="Microsoft JhengHei"/>
                <a:rFonts ea="Microsoft JhengHei"/>
              </a:rPr>
              <a:t>Harness Engineering — 智能體的作業系統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46704" y="1828800"/>
            <a:ext cx="5486400" cy="9144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46704" y="21031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="http://schemas.openxmlformats.org/wordprocessingml/2006/main" sz="2600" b="1" ns2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Agent = LLM + Harness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120640" cy="2286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118872" cy="2286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1500">
                <a:solidFill>
                  <a:srgbClr val="1B2A4A"/>
                </a:solidFill>
              </a:defRPr>
            </a:pPr>
            <a:r>
              <a:rPr xmlns:ns3="http://schemas.openxmlformats.org/wordprocessingml/2006/main" sz="1400" ns3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LLM（大型語言模型）
- 純粹的「大腦」— 推理、理解、生成
- ❌ 無法執行程式碼 / 存取檔案 / 記住跨會話
- 佔程式碼僅 1.6% 的 AI 決策邏輯
- 類比：引擎 / 烈馬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00400"/>
            <a:ext cx="5120640" cy="2286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3200400"/>
            <a:ext cx="118872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2918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1500">
                <a:solidFill>
                  <a:srgbClr val="1B2A4A"/>
                </a:solidFill>
              </a:defRPr>
            </a:pPr>
            <a:r>
              <a:rPr xmlns:ns4="http://schemas.openxmlformats.org/wordprocessingml/2006/main" sz="1400" ns4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Harness（駕馭層）
- 智能體的「作業系統」— 確定性基礎設施
- 佔程式碼 98.4% 的管控基礎設施
- 行為確定性 · 任務可靠性 · 安全可控性
- 類比：底盤+方向盤+安全系統 / 韁繩+馬鞍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E7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5="http://schemas.openxmlformats.org/wordprocessingml/2006/main" sz="1400" b="1" ns5:eastAsia="Microsoft JhengHei">
                <a:solidFill>
                  <a:srgbClr val="0E7C86"/>
                </a:solidFill>
                <a:latin typeface="Microsoft JhengHei"/>
                <a:rFonts ea="Microsoft JhengHei"/>
              </a:rPr>
              <a:t>實證：Jimenez 等人僅優化 Harness 層即將 SWE-bench 解決率從 12% 提升至 76%；Bölük 證實 15 種不同 LLM 皆獲一致性能提升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6="http://schemas.openxmlformats.org/wordprocessingml/2006/main" sz="1400" ns6:eastAsia="Microsoft JhengHei">
                <a:solidFill>
                  <a:srgbClr val="6B7280"/>
                </a:solidFill>
                <a:latin typeface="Microsoft JhengHei"/>
                <a:rFonts ea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JhengHei"/>
                <a:rFonts a:ea="Microsoft JhengHe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371600"/>
            <a:ext cx="73152" cy="5029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1247120" cy="502920"/>
          </a:xfrm>
          <a:prstGeom prst="roundRect">
            <a:avLst/>
          </a:prstGeom>
          <a:solidFill>
            <a:srgbClr val="E7F1F2"/>
          </a:solidFill>
          <a:ln w="9525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7="http://schemas.openxmlformats.org/wordprocessingml/2006/main" sz="1400" b="1" ns7:eastAsia="Microsoft JhengHei">
                <a:solidFill>
                  <a:srgbClr val="0E7C86"/>
                </a:solidFill>
                <a:latin typeface="Microsoft JhengHei"/>
                <a:rFonts a:ea="Microsoft JhengHei"/>
              </a:rPr>
              <a:t>實證：Jimenez 等人僅優化 Harness 層即將 SWE-bench 解決率從 12% 提升至 76%；Bölük 證實 15 種不同 LLM 皆獲一致性能提升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000" b="1" ns0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工程範式的三階段演進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ns1:eastAsia="Microsoft JhengHei">
                <a:solidFill>
                  <a:srgbClr val="0E7C86"/>
                </a:solidFill>
                <a:latin typeface="Microsoft JhengHei"/>
                <a:rFonts ea="Microsoft JhengHei"/>
              </a:rPr>
              <a:t>Prompt Engineering → Context Engineering → Harness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4747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18872" cy="3474720"/>
          </a:xfrm>
          <a:prstGeom prst="rect">
            <a:avLst/>
          </a:prstGeom>
          <a:solidFill>
            <a:srgbClr val="C88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ns2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提示詞工程 2023-2024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400" ns3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核心技術: Few-shot, CoT, Role-playing
局限性: 依賴模型能力，難以處理複雜多步任務。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34747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2011680"/>
            <a:ext cx="118872" cy="34747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400" b="1" ns4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上下文工程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400" ns5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核心技術: RAG, 向量資料庫, 上下文壓縮
局限性: 僅解決「知識」問題，未解決「行動」與「控制」問題。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383280" cy="34747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011680"/>
            <a:ext cx="118872" cy="3474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400" b="1" ns6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駕馭工程 2026–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400" ns7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核心理念: 結合確定性系統與概率模型
研究方向: 工具掛載, 權限管控, 狀態機回環, 系統級防護。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E7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8="http://schemas.openxmlformats.org/wordprocessingml/2006/main" sz="1400" b="1" ns8:eastAsia="Microsoft JhengHei">
                <a:solidFill>
                  <a:srgbClr val="0E7C86"/>
                </a:solidFill>
                <a:latin typeface="Microsoft JhengHei"/>
                <a:rFonts ea="Microsoft JhengHei"/>
              </a:rPr>
              <a:t>駕馭工程核心理念 — 「人在環路上掌舵，智在環路中操控」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9="http://schemas.openxmlformats.org/wordprocessingml/2006/main" sz="1400" ns9:eastAsia="Microsoft JhengHei">
                <a:solidFill>
                  <a:srgbClr val="6B7280"/>
                </a:solidFill>
                <a:latin typeface="Microsoft JhengHei"/>
                <a:rFonts ea="Microsoft Jheng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JhengHei"/>
                <a:rFonts a:ea="Microsoft JhengHe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371600"/>
            <a:ext cx="73152" cy="5029200"/>
          </a:xfrm>
          <a:prstGeom prst="rect">
            <a:avLst/>
          </a:prstGeom>
          <a:solidFill>
            <a:srgbClr val="C88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000" b="1" ns0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Claude Code 六層架構總覽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ns1:eastAsia="Microsoft JhengHei">
                <a:solidFill>
                  <a:srgbClr val="0E7C86"/>
                </a:solidFill>
                <a:latin typeface="Microsoft JhengHei"/>
                <a:rFonts ea="Microsoft JhengHei"/>
              </a:rPr>
              <a:t>TypeScript 開發 | 1,900+ 源檔案 | 51.2 萬行 | 40+ 工具 | 98.4% Harness 基礎設施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640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1887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ns2:eastAsia="Microsoft JhengHei">
                <a:solidFill>
                  <a:srgbClr val="3B82F6"/>
                </a:solidFill>
                <a:latin typeface="Microsoft JhengHei"/>
                <a:rFonts ea="Microsoft JhengHei"/>
              </a:rPr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400" b="1" ns3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使用者介面層 UI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400" ns4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終端互動·IDE橋接·無頭模式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698480" cy="640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6400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400" b="1" ns5:eastAsia="Microsoft JhengHei">
                <a:solidFill>
                  <a:srgbClr val="F5A623"/>
                </a:solidFill>
                <a:latin typeface="Microsoft JhengHei"/>
                <a:rFonts ea="Microsoft JhengHei"/>
              </a:rPr>
              <a:t>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400" b="1" ns6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編排層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400" ns7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主迴圈·流式傳輸·模型路由·錯誤恢復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10698480" cy="640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108960"/>
            <a:ext cx="11887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400" b="1" ns8:eastAsia="Microsoft JhengHei">
                <a:solidFill>
                  <a:srgbClr val="8B5CF6"/>
                </a:solidFill>
                <a:latin typeface="Microsoft JhengHei"/>
                <a:rFonts ea="Microsoft JhengHei"/>
              </a:rPr>
              <a:t>Layer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1400" b="1" ns9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智能層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0="http://schemas.openxmlformats.org/wordprocessingml/2006/main" sz="1400" ns10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提示詞組裝·記憶系統·上下文壓縮·技能管理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10698480" cy="640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840480"/>
            <a:ext cx="11887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023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1="http://schemas.openxmlformats.org/wordprocessingml/2006/main" sz="1400" b="1" ns11:eastAsia="Microsoft JhengHei">
                <a:solidFill>
                  <a:srgbClr val="10B981"/>
                </a:solidFill>
                <a:latin typeface="Microsoft JhengHei"/>
                <a:rFonts ea="Microsoft JhengHei"/>
              </a:rPr>
              <a:t>Layer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2="http://schemas.openxmlformats.org/wordprocessingml/2006/main" sz="1400" b="1" ns12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能力層 Capability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3="http://schemas.openxmlformats.org/wordprocessingml/2006/main" sz="1400" ns13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40+工具模組·子智能體·MCP整合·動態工具搜索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72000"/>
            <a:ext cx="10698480" cy="640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572000"/>
            <a:ext cx="118872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754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4="http://schemas.openxmlformats.org/wordprocessingml/2006/main" sz="1400" b="1" ns14:eastAsia="Microsoft JhengHei">
                <a:solidFill>
                  <a:srgbClr val="E74C3C"/>
                </a:solidFill>
                <a:latin typeface="Microsoft JhengHei"/>
                <a:rFonts ea="Microsoft JhengHei"/>
              </a:rPr>
              <a:t>Layer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5="http://schemas.openxmlformats.org/wordprocessingml/2006/main" sz="1400" b="1" ns15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安全治理層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6="http://schemas.openxmlformats.org/wordprocessingml/2006/main" sz="1400" ns16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三級權限·YOLO分類器·命令黑名單·沙箱隔離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03520"/>
            <a:ext cx="10698480" cy="640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303520"/>
            <a:ext cx="118872" cy="6400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7="http://schemas.openxmlformats.org/wordprocessingml/2006/main" sz="1400" b="1" ns17:eastAsia="Microsoft JhengHei">
                <a:solidFill>
                  <a:srgbClr val="64748B"/>
                </a:solidFill>
                <a:latin typeface="Microsoft JhengHei"/>
                <a:rFonts ea="Microsoft JhengHei"/>
              </a:rPr>
              <a:t>Layer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8="http://schemas.openxmlformats.org/wordprocessingml/2006/main" sz="1400" b="1" ns18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基礎設施層 Infrastructure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9="http://schemas.openxmlformats.org/wordprocessingml/2006/main" sz="1400" ns19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會話持久化·遠端會話·鑑權·Token計費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20="http://schemas.openxmlformats.org/wordprocessingml/2006/main" sz="1400" ns20:eastAsia="Microsoft JhengHei">
                <a:solidFill>
                  <a:srgbClr val="6B7280"/>
                </a:solidFill>
                <a:latin typeface="Microsoft JhengHei"/>
                <a:rFonts ea="Microsoft Jheng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JhengHei"/>
                <a:rFonts a:ea="Microsoft JhengHei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1371600"/>
            <a:ext cx="73152" cy="50292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" y="5943600"/>
            <a:ext cx="11247120" cy="502920"/>
          </a:xfrm>
          <a:prstGeom prst="roundRect">
            <a:avLst/>
          </a:prstGeom>
          <a:solidFill>
            <a:srgbClr val="E7F1F2"/>
          </a:solidFill>
          <a:ln w="9525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21="http://schemas.openxmlformats.org/wordprocessingml/2006/main" sz="1400" b="1" ns21:eastAsia="Microsoft JhengHei">
                <a:solidFill>
                  <a:srgbClr val="0E7C86"/>
                </a:solidFill>
                <a:latin typeface="Microsoft JhengHei"/>
                <a:rFonts a:ea="Microsoft JhengHei"/>
              </a:rPr>
              <a:t>TypeScript 開發 | 1,900+ 源檔案 | 51.2 萬行程式碼 | 40+ 工具模組 | 僅 1.6% 為 AI 決策邏輯，98.4% 為 Harness 基礎設施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000" b="1" ns0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機制一：提示詞動態載入機制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ns1:eastAsia="Microsoft JhengHei">
                <a:solidFill>
                  <a:srgbClr val="0E7C86"/>
                </a:solidFill>
                <a:latin typeface="Microsoft JhengHei"/>
                <a:rFonts ea="Microsoft JhengHei"/>
              </a:rPr>
              <a:t>Progressive Disclosure — 資訊按需獲取、分層展開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48640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18872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ns2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System: 角色定義與核心規範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548640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118872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400" b="1" ns3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Mode: 任務模式 (Architect/Coder/Reviewer)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48640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118872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400" b="1" ns4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Tools: 可用工具定義與Schema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548640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118872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8861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400" b="1" ns5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Project: 專案級上下文 (架構, 規範)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548640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389120"/>
            <a:ext cx="118872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400" b="1" ns6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Git: 版本控制狀態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548640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029200"/>
            <a:ext cx="118872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166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400" b="1" ns7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History: 對話歷史與行動日誌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1828800"/>
            <a:ext cx="4754880" cy="3749039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0" y="1828800"/>
            <a:ext cx="118872" cy="3749039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400" b="1" ns8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核心邏輯 — 漸進式揭露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5603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1400" ns9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- 避免一次性塞入過多資訊導致模型注意力渙散 (Lost in the Middle)。
- 根據任務狀態與需要動態載入。
- 保證 Token 使用效率。
- 源碼顯示：按順序嚴格組裝，動態計算剩餘 Token 決定載入深度。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0="http://schemas.openxmlformats.org/wordprocessingml/2006/main" sz="1400" ns10:eastAsia="Microsoft JhengHei">
                <a:solidFill>
                  <a:srgbClr val="6B7280"/>
                </a:solidFill>
                <a:latin typeface="Microsoft JhengHei"/>
                <a:rFonts ea="Microsoft JhengHe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JhengHei"/>
                <a:rFonts a:ea="Microsoft JhengHei"/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1371600"/>
            <a:ext cx="73152" cy="5029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000" b="1" ns0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機制二：資訊熵治理 — 三級記憶架構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ns1:eastAsia="Microsoft JhengHei">
                <a:solidFill>
                  <a:srgbClr val="0E7C86"/>
                </a:solidFill>
                <a:latin typeface="Microsoft JhengHei"/>
                <a:rFonts ea="Microsoft JhengHei"/>
              </a:rPr>
              <a:t>解決上下文熵增挑戰 — 索引→主題→歸檔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9144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18872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ns2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1級常駐層 memory.md
核心索引、高頻使用的全域狀態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029200" cy="9144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118872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400" ns3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2級按需層 Topic Files
特定任務/模組的詳細紀錄，按需檢索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029200" cy="9144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118872" cy="914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400" ns4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3級冷備層 Archive
已完成任務日誌，極少載入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212080" cy="31089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118872" cy="3108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400" b="1" ns5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五級壓縮機制與最新發現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688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400" ns6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- L1 裁剪: 移除冗餘標籤
- L2 微壓縮: 刪減非關鍵對話
- L3 折疊: 程式碼區塊折疊
- L4 自動壓縮: 呼叫模型總結
- L5 響應式: 動態丟棄舊日誌
洩露源碼顯示：壓縮閾值在83.5%上下文使用率觸發 | 保留約33K tokens系統緩衝區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E7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7="http://schemas.openxmlformats.org/wordprocessingml/2006/main" sz="1400" b="1" ns7:eastAsia="Microsoft JhengHei">
                <a:solidFill>
                  <a:srgbClr val="0E7C86"/>
                </a:solidFill>
                <a:latin typeface="Microsoft JhengHei"/>
                <a:rFonts ea="Microsoft JhengHei"/>
              </a:rPr>
              <a:t>實測節省60%+ Token | 完成率提升4倍+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wordprocessingml/2006/main" sz="1400" ns8:eastAsia="Microsoft JhengHei">
                <a:solidFill>
                  <a:srgbClr val="6B7280"/>
                </a:solidFill>
                <a:latin typeface="Microsoft JhengHei"/>
                <a:rFonts ea="Microsoft JhengHe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JhengHei"/>
                <a:rFonts a:ea="Microsoft JhengHei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371600"/>
            <a:ext cx="73152" cy="502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5943600"/>
            <a:ext cx="11247120" cy="502920"/>
          </a:xfrm>
          <a:prstGeom prst="roundRect">
            <a:avLst/>
          </a:prstGeom>
          <a:solidFill>
            <a:srgbClr val="E7F1F2"/>
          </a:solidFill>
          <a:ln w="9525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9="http://schemas.openxmlformats.org/wordprocessingml/2006/main" sz="1400" b="1" ns9:eastAsia="Microsoft JhengHei">
                <a:solidFill>
                  <a:srgbClr val="0E7C86"/>
                </a:solidFill>
                <a:latin typeface="Microsoft JhengHei"/>
                <a:rFonts a:ea="Microsoft JhengHei"/>
              </a:rPr>
              <a:t>實測數據：節省 60%+ Token 消耗 | 任務完成率提升 4 倍以上 | 壓縮閾值 83.5% | 系統緩衝區 ~33K tokens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000" b="1" ns0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機制三：流程確定性管控 — 鉤子機制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ns1:eastAsia="Microsoft JhengHei">
                <a:solidFill>
                  <a:srgbClr val="0E7C86"/>
                </a:solidFill>
                <a:latin typeface="Microsoft JhengHei"/>
                <a:rFonts ea="Microsoft JhengHei"/>
              </a:rPr>
              <a:t>Deterministic Control Layer — 30+ 生命週期事件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18872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ns2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 提示詞鉤子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02920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18872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400" b="1" ns3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 前置鉤子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02920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91840"/>
            <a:ext cx="118872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400" b="1" ns4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 後置鉤子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02920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118872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400" b="1" ns5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 環路狀態鉤子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502920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18872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400" b="1" ns6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 任務狀態鉤子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5212080" cy="34747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118872" cy="34747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400" b="1" ns7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有鉤子 vs 無鉤子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56032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400" ns8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無鉤子：
黑盒執行，難以介入、難以進行安全檢查。
有鉤子：
- 洩露源碼顯示超過30個lifecycle events (PreToolUse, PostEdit, Stop, SessionStart等)。
- 支援 Command Hooks(Shell) / Agent Hooks(模型評估) / Security Hooks(治理)。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9="http://schemas.openxmlformats.org/wordprocessingml/2006/main" sz="1400" ns9:eastAsia="Microsoft JhengHei">
                <a:solidFill>
                  <a:srgbClr val="6B7280"/>
                </a:solidFill>
                <a:latin typeface="Microsoft JhengHei"/>
                <a:rFonts ea="Microsoft JhengHei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JhengHei"/>
                <a:rFonts a:ea="Microsoft JhengHei"/>
              </a:rP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1371600"/>
            <a:ext cx="73152" cy="5029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000" b="1" ns0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機制四：任務回環機制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ns1:eastAsia="Microsoft JhengHei">
                <a:solidFill>
                  <a:srgbClr val="0E7C86"/>
                </a:solidFill>
                <a:latin typeface="Microsoft JhengHei"/>
                <a:rFonts ea="Microsoft JhengHei"/>
              </a:rPr>
              <a:t>Think → Act → Observe → Repeat | 核心邏輯僅約50行程式碼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1828800" cy="1371600"/>
          </a:xfrm>
          <a:prstGeom prst="roundRect">
            <a:avLst/>
          </a:prstGeom>
          <a:solidFill>
            <a:srgbClr val="E7F1F2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2A4A"/>
                </a:solidFill>
                <a:latin typeface="Microsoft JhengHei"/>
              </a:defRPr>
            </a:pPr>
            <a:r>
              <a:rPr xmlns:ns2="http://schemas.openxmlformats.org/wordprocessingml/2006/main" sz="1800" ns2:eastAsia="Microsoft JhengHei">
                <a:solidFill>
                  <a:srgbClr val="FFFFFF"/>
                </a:solidFill>
                <a:latin typeface="Microsoft JhengHei"/>
                <a:rFonts a:ea="Microsoft JhengHei"/>
              </a:rPr>
              <a:t>Think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2011680"/>
            <a:ext cx="1828800" cy="1371600"/>
          </a:xfrm>
          <a:prstGeom prst="roundRect">
            <a:avLst/>
          </a:prstGeom>
          <a:solidFill>
            <a:srgbClr val="E7F1F2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2A4A"/>
                </a:solidFill>
                <a:latin typeface="Microsoft JhengHei"/>
              </a:defRPr>
            </a:pPr>
            <a:r>
              <a:rPr xmlns:ns3="http://schemas.openxmlformats.org/wordprocessingml/2006/main" sz="1800" ns3:eastAsia="Microsoft JhengHei">
                <a:solidFill>
                  <a:srgbClr val="FFFFFF"/>
                </a:solidFill>
                <a:latin typeface="Microsoft JhengHei"/>
                <a:rFonts a:ea="Microsoft JhengHei"/>
              </a:rPr>
              <a:t>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1828800" cy="1371600"/>
          </a:xfrm>
          <a:prstGeom prst="roundRect">
            <a:avLst/>
          </a:prstGeom>
          <a:solidFill>
            <a:srgbClr val="E7F1F2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2A4A"/>
                </a:solidFill>
                <a:latin typeface="Microsoft JhengHei"/>
              </a:defRPr>
            </a:pPr>
            <a:r>
              <a:rPr xmlns:ns4="http://schemas.openxmlformats.org/wordprocessingml/2006/main" sz="1800" ns4:eastAsia="Microsoft JhengHei">
                <a:solidFill>
                  <a:srgbClr val="FFFFFF"/>
                </a:solidFill>
                <a:latin typeface="Microsoft JhengHei"/>
                <a:rFonts a:ea="Microsoft JhengHei"/>
              </a:rPr>
              <a:t>Observe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2011680"/>
            <a:ext cx="1828800" cy="1371600"/>
          </a:xfrm>
          <a:prstGeom prst="roundRect">
            <a:avLst/>
          </a:prstGeom>
          <a:solidFill>
            <a:srgbClr val="E7F1F2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2A4A"/>
                </a:solidFill>
                <a:latin typeface="Microsoft JhengHei"/>
              </a:defRPr>
            </a:pPr>
            <a:r>
              <a:rPr xmlns:ns5="http://schemas.openxmlformats.org/wordprocessingml/2006/main" sz="1800" ns5:eastAsia="Microsoft JhengHei">
                <a:solidFill>
                  <a:srgbClr val="FFFFFF"/>
                </a:solidFill>
                <a:latin typeface="Microsoft JhengHei"/>
                <a:rFonts a:ea="Microsoft JhengHei"/>
              </a:rPr>
              <a:t>Repeat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18288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118872" cy="1828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400" ns6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哲學對比：
「將智能全部交給大模型，將確定性留給框架」
對比 LangChain 等框架的複雜編排路線，Claude Code 採用極簡主迴圈，依賴模型自身的推理能力進行狀態流轉。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840480"/>
            <a:ext cx="5120640" cy="18288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3840480"/>
            <a:ext cx="118872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400" ns7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新研究與迴圈模式：
- ReAct: 思考與行動交替
- Plan-Execute: 規劃後執行
- Reflexion: 執行後反思修正
- Tree-of-Thoughts: 多路徑探索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wordprocessingml/2006/main" sz="1400" ns8:eastAsia="Microsoft JhengHei">
                <a:solidFill>
                  <a:srgbClr val="6B7280"/>
                </a:solidFill>
                <a:latin typeface="Microsoft JhengHei"/>
                <a:rFonts ea="Microsoft JhengHe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JhengHei"/>
                <a:rFonts a:ea="Microsoft JhengHei"/>
              </a:rPr>
              <a:t>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371600"/>
            <a:ext cx="73152" cy="5029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1247120" cy="502920"/>
          </a:xfrm>
          <a:prstGeom prst="roundRect">
            <a:avLst/>
          </a:prstGeom>
          <a:solidFill>
            <a:srgbClr val="E7F1F2"/>
          </a:solidFill>
          <a:ln w="9525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9="http://schemas.openxmlformats.org/wordprocessingml/2006/main" sz="1400" b="1" ns9:eastAsia="Microsoft JhengHei">
                <a:solidFill>
                  <a:srgbClr val="0E7C86"/>
                </a:solidFill>
                <a:latin typeface="Microsoft JhengHei"/>
                <a:rFonts a:ea="Microsoft JhengHei"/>
              </a:rPr>
              <a:t>設計哲學：「將智能全部交給大模型，將確定性留給框架」— 腳手架應隨大模型能力提升而變薄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000" b="1" ns0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機制五：工具系統與權限管控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ns1:eastAsia="Microsoft JhengHei">
                <a:solidFill>
                  <a:srgbClr val="0E7C86"/>
                </a:solidFill>
                <a:latin typeface="Microsoft JhengHei"/>
                <a:rFonts ea="Microsoft JhengHei"/>
              </a:rPr>
              <a:t>Permission-Gated Tooling — 19~40+ 工具模組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943600" cy="9144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1887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ns2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低風險 (自動執行)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400" ns3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檔案讀取、資料夾列表、搜尋、狀態查詢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5943600" cy="9144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118872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400" b="1" ns4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中風險 (條件執行)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400" ns5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檔案修改、Git提交、本機測試執行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943600" cy="9144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118872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400" b="1" ns6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高風險 (人工確認)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400" ns7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系統命令執行、刪除操作、外部網路訪問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1828800"/>
            <a:ext cx="4297680" cy="31089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1828800"/>
            <a:ext cx="118872" cy="3108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400" b="1" ns8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額外防護與設計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56032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1400" ns9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- 命令黑名單 (rm -rf 等)
- YOLO分類器 (防止提示詞注入)
- 非常規 RAG 設計
- 源碼顯示：~19 核心權限門控工具
- 支援 MCP (Model Context Protocol)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E7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0="http://schemas.openxmlformats.org/wordprocessingml/2006/main" sz="1400" b="1" ns10:eastAsia="Microsoft JhengHei">
                <a:solidFill>
                  <a:srgbClr val="B3372B"/>
                </a:solidFill>
                <a:latin typeface="Microsoft JhengHei"/>
                <a:rFonts ea="Microsoft JhengHei"/>
              </a:rPr>
              <a:t>警告：若繞過門控機制可能導致系統被惡意指令接管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1="http://schemas.openxmlformats.org/wordprocessingml/2006/main" sz="1400" ns11:eastAsia="Microsoft JhengHei">
                <a:solidFill>
                  <a:srgbClr val="6B7280"/>
                </a:solidFill>
                <a:latin typeface="Microsoft JhengHei"/>
                <a:rFonts ea="Microsoft JhengHe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JhengHei"/>
                <a:rFonts a:ea="Microsoft JhengHei"/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371600"/>
            <a:ext cx="73152" cy="502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000" b="1" ns0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2026年最新文獻與業界研究融合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ns1:eastAsia="Microsoft JhengHei">
                <a:solidFill>
                  <a:srgbClr val="0E7C86"/>
                </a:solidFill>
                <a:latin typeface="Microsoft JhengHei"/>
                <a:rFonts ea="Microsoft JhengHei"/>
              </a:rPr>
              <a:t>Architectural Design Decisions in AI Agent Harnesses (Hu Wei, 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8288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18872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ns2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五大架構設計維度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400" ns3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子智能體架構、上下文管理、工具系統、安全機制、編排層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18288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118872" cy="1828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400" b="1" ns4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典型架構模式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400" ns5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ReAct, Plan-Execute, Reflexion, Tree-of-Thoughts, Multi-Agent Orchestration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5120640" cy="18288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118872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400" b="1" ns6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2026年框架生態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400" ns7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LangGraph(stateful), CrewAI(role-based)
AutoGen(research), Google ADK, AWS Multi-Agent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657600"/>
            <a:ext cx="5120640" cy="18288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657600"/>
            <a:ext cx="11887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400" b="1" ns8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生產部署實踐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062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1400" ns9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可觀測性、治理安全、沙箱隔離、HITL、性能工程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0="http://schemas.openxmlformats.org/wordprocessingml/2006/main" sz="1400" ns10:eastAsia="Microsoft JhengHei">
                <a:solidFill>
                  <a:srgbClr val="6B7280"/>
                </a:solidFill>
                <a:latin typeface="Microsoft JhengHei"/>
                <a:rFonts ea="Microsoft JhengHei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JhengHei"/>
                <a:rFonts a:ea="Microsoft JhengHei"/>
              </a:rPr>
              <a:t>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371600"/>
            <a:ext cx="73152" cy="50292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000" b="1" ns0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從集群到群智：Agent Swarm 的演化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ns1:eastAsia="Microsoft JhengHei">
                <a:solidFill>
                  <a:srgbClr val="0E7C86"/>
                </a:solidFill>
                <a:latin typeface="Microsoft JhengHei"/>
                <a:rFonts ea="Microsoft JhengHei"/>
              </a:rPr>
              <a:t>2026年多智能體編排的新興模式與生產部署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ns2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對比：集群 vs 蜂群/群智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56032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18872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400" b="1" ns3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Orchestrator-Worker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400" ns4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主從架構，集中排程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194560"/>
            <a:ext cx="256032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2194560"/>
            <a:ext cx="118872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400" b="1" ns5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400" ns6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流水線式，接力完成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94560"/>
            <a:ext cx="256032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194560"/>
            <a:ext cx="118872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400" b="1" ns7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Peer Debate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400" ns8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同儕辯論，交叉驗證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194560"/>
            <a:ext cx="256032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2194560"/>
            <a:ext cx="118872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1400" b="1" ns9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Specialist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0="http://schemas.openxmlformats.org/wordprocessingml/2006/main" sz="1400" ns10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專家路由，動態分派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10698480" cy="16459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840480"/>
            <a:ext cx="118872" cy="1645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1="http://schemas.openxmlformats.org/wordprocessingml/2006/main" sz="1400" b="1" ns11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2026 挑戰與 Governance-first Mandate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2="http://schemas.openxmlformats.org/wordprocessingml/2006/main" sz="1400" ns12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協調失敗, 機器速度安全, 部署複雜性
治理優先 (Governance-first)：群智系統必須在設計初期即嵌入安全與審計機制。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3="http://schemas.openxmlformats.org/wordprocessingml/2006/main" sz="1400" ns13:eastAsia="Microsoft JhengHei">
                <a:solidFill>
                  <a:srgbClr val="6B7280"/>
                </a:solidFill>
                <a:latin typeface="Microsoft JhengHei"/>
                <a:rFonts ea="Microsoft JhengHei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JhengHei"/>
                <a:rFonts a:ea="Microsoft JhengHei"/>
              </a:rPr>
              <a:t>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1371600"/>
            <a:ext cx="73152" cy="5029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000" b="1" ns0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未來展望與戰略思考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2801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18872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500" b="1" ns1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Big Model vs Big Harness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554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ns2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隨模型能力提升，Harness 可能變薄，但「關鍵路徑」的安全與確定性要求會讓 Harness 向底層下沉，成為標準化基礎設施。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698480" cy="12801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118872" cy="12801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500" b="1" ns3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Agent Swarm群智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0175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400" ns4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從單一 Agent 走向多體協同。如何設計高效的通訊協議與去中心化治理機制，將是 2027 年的重點。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698480" cy="12801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97680"/>
            <a:ext cx="118872" cy="1280160"/>
          </a:xfrm>
          <a:prstGeom prst="rect">
            <a:avLst/>
          </a:prstGeom>
          <a:solidFill>
            <a:srgbClr val="C88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500" b="1" ns5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腳手架變薄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4805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400" ns6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模型自帶越來越多原生工具調用能力 (如原生 JSON 模式、原生搜尋)，應用層的腳手架將更加專注於業務邏輯與流程編排。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7="http://schemas.openxmlformats.org/wordprocessingml/2006/main" sz="1400" ns7:eastAsia="Microsoft JhengHei">
                <a:solidFill>
                  <a:srgbClr val="6B7280"/>
                </a:solidFill>
                <a:latin typeface="Microsoft JhengHei"/>
                <a:rFonts ea="Microsoft JhengHei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JhengHei"/>
                <a:rFonts a:ea="Microsoft JhengHei"/>
              </a:rPr>
              <a:t>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371600"/>
            <a:ext cx="73152" cy="5029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000" b="1" ns0:eastAsia="Microsoft JhengHei">
                <a:solidFill>
                  <a:srgbClr val="FFFFFF"/>
                </a:solidFill>
                <a:latin typeface="Microsoft JhengHei"/>
                <a:rFonts ea="Microsoft JhengHei"/>
              </a:rPr>
              <a:t>核心結論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b="1" ns1:eastAsia="Microsoft JhengHei">
                <a:solidFill>
                  <a:srgbClr val="FFFFFF"/>
                </a:solidFill>
                <a:latin typeface="Microsoft JhengHei"/>
                <a:rFonts ea="Microsoft JhengHei"/>
              </a:rPr>
              <a:t>1. Harness 是核心：模型的智力需要強大的確定性系統來約束與放大。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6984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97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ns2:eastAsia="Microsoft JhengHei">
                <a:solidFill>
                  <a:srgbClr val="FFFFFF"/>
                </a:solidFill>
                <a:latin typeface="Microsoft JhengHei"/>
                <a:rFonts ea="Microsoft JhengHei"/>
              </a:rPr>
              <a:t>2. 架構即安全：防護機制必須深度融入架構設計 (YOLO, 權限門控)。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6984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794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400" b="1" ns3:eastAsia="Microsoft JhengHei">
                <a:solidFill>
                  <a:srgbClr val="FFFFFF"/>
                </a:solidFill>
                <a:latin typeface="Microsoft JhengHei"/>
                <a:rFonts ea="Microsoft JhengHei"/>
              </a:rPr>
              <a:t>3. 資源管理：透過記憶分級與上下文壓縮，有效降低熵增與成本。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1800" b="1" ns4:eastAsia="Microsoft JhengHei">
                <a:solidFill>
                  <a:srgbClr val="94A3B8"/>
                </a:solidFill>
                <a:latin typeface="Microsoft JhengHei"/>
                <a:rFonts ea="Microsoft JhengHei"/>
              </a:rPr>
              <a:t>「最頂尖的 AI 應用，往往擁有最厚實的工程底座。」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5="http://schemas.openxmlformats.org/wordprocessingml/2006/main" sz="1400" ns5:eastAsia="Microsoft JhengHei">
                <a:solidFill>
                  <a:srgbClr val="6B7280"/>
                </a:solidFill>
                <a:latin typeface="Microsoft JhengHei"/>
                <a:rFonts ea="Microsoft JhengHe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JhengHei"/>
                <a:rFonts a:ea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000" b="1" ns0:eastAsia="Microsoft JhengHei">
                <a:solidFill>
                  <a:srgbClr val="1B2A4A"/>
                </a:solidFill>
                <a:latin typeface="Microsoft JhengHei"/>
                <a:rFonts ea="Microsoft JhengHei"/>
              </a:rPr>
              <a:t>參考文獻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1148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18872" cy="4114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ns1:eastAsia="Microsoft JhengHei">
                <a:solidFill>
                  <a:srgbClr val="3A4A63"/>
                </a:solidFill>
                <a:latin typeface="Microsoft JhengHei"/>
                <a:rFonts ea="Microsoft JhengHei"/>
              </a:rPr>
              <a:t>[1] 和達 等 (2026). 《智能體駕馭工程》. 通信技術期刊.
[2] Jimenez, C., et al. (2024). SWE-bench: Can Language Models Resolve Real-World GitHub Issues?
[3] Bölük, B., et al. (2025). Harnessing LLMs for Deterministic Execution.
[4] Hu, Wei. (2026). Architectural Design Decisions in AI Agent Harnesses.
[5] Anthropic. (2026). Claude Code Architecture (Leaked Source Code Analysis).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2="http://schemas.openxmlformats.org/wordprocessingml/2006/main" sz="1400" ns2:eastAsia="Microsoft JhengHei">
                <a:solidFill>
                  <a:srgbClr val="6B7280"/>
                </a:solidFill>
                <a:latin typeface="Microsoft JhengHei"/>
                <a:rFonts ea="Microsoft Jheng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JhengHei"/>
                <a:rFonts a:ea="Microsoft JhengHe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