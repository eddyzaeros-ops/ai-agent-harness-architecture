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09" r:id="rId2"/>
    <p:sldId id="310" r:id="rId3"/>
    <p:sldId id="257" r:id="rId4"/>
    <p:sldId id="256" r:id="rId5"/>
    <p:sldId id="311" r:id="rId6"/>
    <p:sldId id="312" r:id="rId7"/>
    <p:sldId id="259" r:id="rId8"/>
    <p:sldId id="258" r:id="rId9"/>
    <p:sldId id="307" r:id="rId10"/>
    <p:sldId id="261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598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院長指導四項重點與既有五層架構之對映：① 閘道對映 L1，為內外網唯一交換點；② 內網資料治理對映 L5；③ SLM 管控對映 L2；④ Harness 治理框架對映 L3／L4，並向 L1／L2／L5 延伸驗證。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四項指導之落實管控與查核點。紅線：DISA 4 以上禁雲端與共用向量庫、DISA 6 禁 Agent 自動執行。所有閘道、SLM 與 Agent 紀錄皆納入稽核軌跡，作為 ISO 42001 內部稽核之證據來源。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董事會常問：為何不全用最強的雲端模型？答：資料主權與合約風險；以密級路由取得能力與風險的平衡。T1–T3 地端可至機密級，T4 僅限機密級以下且逐案核准。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Agent Gateway 是內外網之間唯一的資料交換出口，任何繞道直連皆視為違規。閘道依身分授權、內容檢核、惡意樣態掃描、格式正規化、稽核留存五道關卡序列處理。入向與出向採不對稱管制：入向經資料二極體單向寫入並先落地隔離區；出向則以機敏與管制級資料不得離開內網為紅線，僅開放經 HITL 核可之統計摘要。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內網資料治理採四階管線：清洗去除可執行內容與個資、檢核阻擋投毒與竄改、分級標記並隨生命週期繼承、最後由存取控制以部門租戶最小權限落實。四級分級之關鍵在於 L3 僅限部門專屬容器內模型，L4 完全不得進入模型上下文。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DSLM 的使用紀錄以不可否認性為設計目標，八項欄位缺一不可，其中 RAG 引用片段的分級與 HITL 核可事由是稽核時最常被追問的兩項。監控面聚焦越權與跨級引用等四類指標並介接 SOC；紀錄以僅可附加方式留存，模型與索引保留三個已驗證版本以支援即時復原。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Harness 是橫向治理外框，不隸屬於任一防禦層，而是包覆整個 Agent 執行迴圈。四道控制點分別對應規劃、工具呼叫、執行與輸出四個階段：前置准入管技能與工具的合法性，參數校驗管授權範圍，HITL 閘門以 interrupt() 停等高衝擊動作，輸出過濾則做最後一次 DLP 與級別檢查。任一控制點命中即中止並復原至前一已驗證狀態。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本頁說明零信任執行環境的三支柱。Docker 容器化隔離落實部門即租戶的實體邊界，專屬 Agent 與 RAG 知識庫互不共用運算資源；Sandbox 作為惡意指令緩衝區，所有程式碼執行與外部工具呼叫強制於沙盒內完成；Harness 為標準化 CI/CD 安全管線，上線前須通過資安掃描與紅隊測試</a:t>
            </a:r>
            <a:r>
              <a:rPr lang="en-US"/>
              <a:t>。三者共同座落於</a:t>
            </a:r>
            <a:r>
              <a:rPr lang="zh-TW" altLang="en-US"/>
              <a:t>實體隔離</a:t>
            </a:r>
            <a:r>
              <a:rPr lang="en-US"/>
              <a:t>的實體基礎設施之上</a:t>
            </a:r>
            <a:r>
              <a:rPr lang="en-US" dirty="0"/>
              <a:t>，構成 L1～L5 縱深防禦架構的底層支撐。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一句話定位：Harness 掛在 L3、主要打 L4。Agent 的實際破壞力來自它能呼叫什麼，而工具呼叫全部發生在 L4，因此把決策點收斂到這一條必經路徑上，就等於把損害上限握在手裡。對 L1／L2 與 L5 則是間接作用——模型呼叫與檢索呼叫同樣要經過 Harness 發出，護欄與 ACL 過濾在此一併套用。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四項重點</a:t>
            </a:r>
            <a:r>
              <a:rPr lang="en-US" sz="30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× 五層縱深防禦架構對映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閘道內外網檢核 · 內網資料清洗與分級 · SLM 使用紀錄與監控 · Agent Harness 治理框架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7452360" cy="859536"/>
          </a:xfrm>
          <a:prstGeom prst="roundRect">
            <a:avLst>
              <a:gd name="adj" fmla="val 4255"/>
            </a:avLst>
          </a:prstGeom>
          <a:solidFill>
            <a:srgbClr val="F3F6FA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755648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7556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16642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通用大型語言模型層　Foundation LLMs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1956816"/>
            <a:ext cx="6446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全部推論請求收斂至 AI Agent Gateway 單一出口；輸入輸出雙向語意審查，阻擋提示注入與越獄，並施加配額與速率控制。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532888"/>
            <a:ext cx="7452360" cy="859536"/>
          </a:xfrm>
          <a:prstGeom prst="roundRect">
            <a:avLst>
              <a:gd name="adj" fmla="val 4255"/>
            </a:avLst>
          </a:prstGeom>
          <a:solidFill>
            <a:srgbClr val="EDF2F8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715768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2715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26243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領域專屬語言模型層　Domain Specific Models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353312" y="2916936"/>
            <a:ext cx="6446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SLM 依訓練語料密級標定；逐次調用留存使用紀錄，並以 RBAC 確保僅同級（含）以上授權部門得以調用。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493008"/>
            <a:ext cx="7452360" cy="859536"/>
          </a:xfrm>
          <a:prstGeom prst="roundRect">
            <a:avLst>
              <a:gd name="adj" fmla="val 4255"/>
            </a:avLst>
          </a:prstGeom>
          <a:solidFill>
            <a:srgbClr val="F3F6FA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675888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36758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53312" y="358444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代理人執行層　AI Agents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353312" y="3877056"/>
            <a:ext cx="6446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 Agent 記憶體物理隔離；跨部門請求一律由 Orchestrator 中介審查，全程受 Harness 治理外框拘束。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453128"/>
            <a:ext cx="7452360" cy="859536"/>
          </a:xfrm>
          <a:prstGeom prst="roundRect">
            <a:avLst>
              <a:gd name="adj" fmla="val 4255"/>
            </a:avLst>
          </a:prstGeom>
          <a:solidFill>
            <a:srgbClr val="EDF2F8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4636008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" y="4636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353312" y="454456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技能與工具層　Agent Skills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353312" y="4837176"/>
            <a:ext cx="6446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工具與 API 呼叫遵循最小權限原則（PoLP），強制於受限沙箱內執行，未列白名單之工具一律拒絕。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413248"/>
            <a:ext cx="7452360" cy="859536"/>
          </a:xfrm>
          <a:prstGeom prst="roundRect">
            <a:avLst>
              <a:gd name="adj" fmla="val 4255"/>
            </a:avLst>
          </a:prstGeom>
          <a:solidFill>
            <a:srgbClr val="F3F6FA"/>
          </a:solidFill>
          <a:ln w="9525">
            <a:solidFill>
              <a:srgbClr val="D3DC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5596128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" y="55961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L5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353312" y="550468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領域知識層　Domain Knowledge / RAG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1353312" y="5797296"/>
            <a:ext cx="6446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入庫前資料清洗與安全檢核；四級密級標籤隨資料流動，向量庫依部門與密級分庫並導入 DLP。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275320" y="1572768"/>
            <a:ext cx="3383280" cy="4700016"/>
          </a:xfrm>
          <a:prstGeom prst="roundRect">
            <a:avLst>
              <a:gd name="adj" fmla="val 811"/>
            </a:avLst>
          </a:prstGeom>
          <a:solidFill>
            <a:srgbClr val="F0F7F8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85632" y="175564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四項重點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485632" y="2194560"/>
            <a:ext cx="296265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CD4D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50224" y="2331720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50224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052560" y="23134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Gateway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424160" y="231343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對映 L1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8650224" y="26700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內外網資料交換安全檢核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485632" y="3218688"/>
            <a:ext cx="296265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CD4D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50224" y="3355848"/>
            <a:ext cx="310896" cy="31089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650224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9052560" y="33375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內網資料治理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0424160" y="3337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對映 L5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8650224" y="36941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清洗、安全檢核、分級制度與存取控制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485632" y="4242816"/>
            <a:ext cx="296265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CD4D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50224" y="4379976"/>
            <a:ext cx="310896" cy="310896"/>
          </a:xfrm>
          <a:prstGeom prst="ellipse">
            <a:avLst/>
          </a:prstGeom>
          <a:solidFill>
            <a:srgbClr val="C8891B"/>
          </a:solidFill>
          <a:ln w="12700">
            <a:solidFill>
              <a:srgbClr val="C8891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650224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9052560" y="43616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SLM 管控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10424160" y="43616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對映 L2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8650224" y="47183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使用紀錄、安全監控、資料分級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485632" y="5266944"/>
            <a:ext cx="296265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CD4D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50224" y="5404104"/>
            <a:ext cx="310896" cy="310896"/>
          </a:xfrm>
          <a:prstGeom prst="ellipse">
            <a:avLst/>
          </a:prstGeom>
          <a:solidFill>
            <a:srgbClr val="B3372B"/>
          </a:solidFill>
          <a:ln w="12700">
            <a:solidFill>
              <a:srgbClr val="B3372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650224" y="5404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9052560" y="53858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Harness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10424160" y="53858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對映 L3／L4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8650224" y="57424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治理框架：白名單、HITL、護欄、稽核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1115568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四項重點之落實管控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85816" cy="2286000"/>
          </a:xfrm>
          <a:prstGeom prst="roundRect">
            <a:avLst>
              <a:gd name="adj" fmla="val 1200"/>
            </a:avLst>
          </a:prstGeom>
          <a:solidFill>
            <a:srgbClr val="EFF6F7"/>
          </a:solidFill>
          <a:ln w="13970">
            <a:solidFill>
              <a:srgbClr val="0E7C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64208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627632"/>
            <a:ext cx="4562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Gateway：內外網資料交換安全檢核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221992"/>
            <a:ext cx="100584" cy="1005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210312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單一出口原則：內外網推論與工具呼叫僅得經閘道，禁止繞道與直連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2624328"/>
            <a:ext cx="100584" cy="1005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24128" y="2505456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出向檢核：密級標籤比對、DLP 與 PII 遮罩，違規請求於閘道端直接拒絕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026664"/>
            <a:ext cx="100584" cy="1005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2907792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入向檢核：外部回應先經惡意內容與間接提示注入過濾，方得進入內網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429000"/>
            <a:ext cx="100584" cy="1005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4128" y="3310128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模型路由：T1–T3 地端可至機密級；T4 公有雲僅限機密級以下且逐案核准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54496" y="1481328"/>
            <a:ext cx="5385816" cy="2286000"/>
          </a:xfrm>
          <a:prstGeom prst="roundRect">
            <a:avLst>
              <a:gd name="adj" fmla="val 1200"/>
            </a:avLst>
          </a:prstGeom>
          <a:solidFill>
            <a:srgbClr val="F1F4F9"/>
          </a:solidFill>
          <a:ln w="1397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55664" y="1664208"/>
            <a:ext cx="329184" cy="32918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55664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1627632"/>
            <a:ext cx="4562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內網資料清洗、安全檢核、分級制度與存取控制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28816" y="2221992"/>
            <a:ext cx="100584" cy="10058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9984" y="210312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入庫前清洗：去識別化、格式正規化，剔除巨集、外連與嵌入式指令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28816" y="2624328"/>
            <a:ext cx="100584" cy="10058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9984" y="2505456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分級制度：DISA</a:t>
            </a: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IL 1／2／4／6 四級標籤，隨原始檔與向量片段一併流動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28816" y="3026664"/>
            <a:ext cx="100584" cy="10058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29984" y="2907792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存取控制：RBAC 結合 ABAC；向量庫與資料庫依部門及密級分庫，禁止共用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28816" y="3429000"/>
            <a:ext cx="100584" cy="10058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29984" y="3310128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紅線：核心營業秘密（DISA 4）以上禁用雲端模型與共用向量庫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950208"/>
            <a:ext cx="5385816" cy="2286000"/>
          </a:xfrm>
          <a:prstGeom prst="roundRect">
            <a:avLst>
              <a:gd name="adj" fmla="val 1200"/>
            </a:avLst>
          </a:prstGeom>
          <a:solidFill>
            <a:srgbClr val="FCF6EA"/>
          </a:solidFill>
          <a:ln w="13970">
            <a:solidFill>
              <a:srgbClr val="C8891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4133088"/>
            <a:ext cx="329184" cy="329184"/>
          </a:xfrm>
          <a:prstGeom prst="ellipse">
            <a:avLst/>
          </a:prstGeom>
          <a:solidFill>
            <a:srgbClr val="C8891B"/>
          </a:solidFill>
          <a:ln w="12700">
            <a:solidFill>
              <a:srgbClr val="C8891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70432" y="4096512"/>
            <a:ext cx="4562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SLM 使用紀錄、安全監控與資料分級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2960" y="4690872"/>
            <a:ext cx="100584" cy="100584"/>
          </a:xfrm>
          <a:prstGeom prst="ellipse">
            <a:avLst/>
          </a:prstGeom>
          <a:solidFill>
            <a:srgbClr val="C8891B"/>
          </a:solidFill>
          <a:ln w="12700">
            <a:solidFill>
              <a:srgbClr val="C8891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24128" y="457200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逐次留存：使用者、部門、密級、提示、輸出、Token 數與回應時間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2960" y="5093208"/>
            <a:ext cx="100584" cy="100584"/>
          </a:xfrm>
          <a:prstGeom prst="ellipse">
            <a:avLst/>
          </a:prstGeom>
          <a:solidFill>
            <a:srgbClr val="C8891B"/>
          </a:solidFill>
          <a:ln w="12700">
            <a:solidFill>
              <a:srgbClr val="C8891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4128" y="4974336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安全監控：異常查詢頻率、跨密級試探、越權模型調用即時告警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22960" y="5495544"/>
            <a:ext cx="100584" cy="100584"/>
          </a:xfrm>
          <a:prstGeom prst="ellipse">
            <a:avLst/>
          </a:prstGeom>
          <a:solidFill>
            <a:srgbClr val="C8891B"/>
          </a:solidFill>
          <a:ln w="12700">
            <a:solidFill>
              <a:srgbClr val="C8891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24128" y="5376672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資料分級：SLM 依訓練語料密級標定，僅同級（含）以上人員得以調用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2960" y="5897880"/>
            <a:ext cx="100584" cy="100584"/>
          </a:xfrm>
          <a:prstGeom prst="ellipse">
            <a:avLst/>
          </a:prstGeom>
          <a:solidFill>
            <a:srgbClr val="C8891B"/>
          </a:solidFill>
          <a:ln w="12700">
            <a:solidFill>
              <a:srgbClr val="C8891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4128" y="5779008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稽核保全：日誌以 WORM 方式保存，供 ISO 42001 與資安事件調查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54496" y="3950208"/>
            <a:ext cx="5385816" cy="2286000"/>
          </a:xfrm>
          <a:prstGeom prst="roundRect">
            <a:avLst>
              <a:gd name="adj" fmla="val 1200"/>
            </a:avLst>
          </a:prstGeom>
          <a:solidFill>
            <a:srgbClr val="FAF0EE"/>
          </a:solidFill>
          <a:ln w="13970">
            <a:solidFill>
              <a:srgbClr val="B3372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55664" y="4133088"/>
            <a:ext cx="329184" cy="329184"/>
          </a:xfrm>
          <a:prstGeom prst="ellipse">
            <a:avLst/>
          </a:prstGeom>
          <a:solidFill>
            <a:srgbClr val="B3372B"/>
          </a:solidFill>
          <a:ln w="12700">
            <a:solidFill>
              <a:srgbClr val="B3372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55664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876288" y="4096512"/>
            <a:ext cx="4562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Harness 治理框架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28816" y="4690872"/>
            <a:ext cx="100584" cy="100584"/>
          </a:xfrm>
          <a:prstGeom prst="ellipse">
            <a:avLst/>
          </a:prstGeom>
          <a:solidFill>
            <a:srgbClr val="B3372B"/>
          </a:solidFill>
          <a:ln w="12700">
            <a:solidFill>
              <a:srgbClr val="B3372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729984" y="457200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工具白名單與參數綱要驗證，未列名之工具與函式一律拒絕執行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528816" y="5093208"/>
            <a:ext cx="100584" cy="100584"/>
          </a:xfrm>
          <a:prstGeom prst="ellipse">
            <a:avLst/>
          </a:prstGeom>
          <a:solidFill>
            <a:srgbClr val="B3372B"/>
          </a:solidFill>
          <a:ln w="12700">
            <a:solidFill>
              <a:srgbClr val="B3372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729984" y="4974336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HITL 中斷閘：高後果動作強制人工核可後方得續行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528816" y="5495544"/>
            <a:ext cx="100584" cy="100584"/>
          </a:xfrm>
          <a:prstGeom prst="ellipse">
            <a:avLst/>
          </a:prstGeom>
          <a:solidFill>
            <a:srgbClr val="B3372B"/>
          </a:solidFill>
          <a:ln w="12700">
            <a:solidFill>
              <a:srgbClr val="B3372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729984" y="5376672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四類護欄：輸入、輸出、工具、資料，逐層均具對應驗證 harness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528816" y="5897880"/>
            <a:ext cx="100584" cy="100584"/>
          </a:xfrm>
          <a:prstGeom prst="ellipse">
            <a:avLst/>
          </a:prstGeom>
          <a:solidFill>
            <a:srgbClr val="B3372B"/>
          </a:solidFill>
          <a:ln w="12700">
            <a:solidFill>
              <a:srgbClr val="B3372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729984" y="5779008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與時間上限，逾限自動終止並執行狀態復原，稽核輸出全數留存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1115568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模型分層部署與資料密級管控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多模型並行、統一由模型閘道出口；依資料密級決定可用模型、向量庫與 Agent 自動執行權限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資料密級 × 可用資源對照矩陣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64993"/>
              </p:ext>
            </p:extLst>
          </p:nvPr>
        </p:nvGraphicFramePr>
        <p:xfrm>
          <a:off x="533400" y="1828800"/>
          <a:ext cx="6964681" cy="2212848"/>
        </p:xfrm>
        <a:graphic>
          <a:graphicData uri="http://schemas.openxmlformats.org/drawingml/2006/table">
            <a:tbl>
              <a:tblPr/>
              <a:tblGrid>
                <a:gridCol w="193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8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0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資料密級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地端模型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雲端模型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共用向量庫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 自動執行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 err="1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一般（DISA</a:t>
                      </a: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</a:t>
                      </a:r>
                      <a:r>
                        <a:rPr lang="en-US" altLang="zh-TW" sz="110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IL-</a:t>
                      </a: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5F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允許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5F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允許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5F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允許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5F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允許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 err="1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營業秘密（DISA</a:t>
                      </a: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</a:t>
                      </a:r>
                      <a:r>
                        <a:rPr lang="zh-TW" altLang="en-US" sz="110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</a:t>
                      </a:r>
                      <a:r>
                        <a:rPr lang="en-US" altLang="zh-TW" sz="110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IL-</a:t>
                      </a: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5F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允許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A5C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核准後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5F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允許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5F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允許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 err="1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核心營業秘密（DISA</a:t>
                      </a: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IL-4）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5F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允許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禁止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禁止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A5C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核准後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 err="1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機密（DISA</a:t>
                      </a: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 IL-6）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5F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允許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禁止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禁止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E2B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禁止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22452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模型閘道職責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03504" y="4727448"/>
            <a:ext cx="118872" cy="1188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" y="4590288"/>
            <a:ext cx="6656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依請求密級標籤自動路由，違規請求於閘道端直接拒絕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3504" y="5157216"/>
            <a:ext cx="118872" cy="1188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5020056"/>
            <a:ext cx="6656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統一計量、配額與成本歸屬至各部門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3504" y="5586984"/>
            <a:ext cx="118872" cy="1188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" y="5449824"/>
            <a:ext cx="6656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模型版本鎖定與灰度切換，避免供應商預設更新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3504" y="6016752"/>
            <a:ext cx="118872" cy="1188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" y="5879592"/>
            <a:ext cx="6656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推論請求與回應逐次留存，供品質稽核與事故調查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多模型分層部署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818120" y="1828800"/>
            <a:ext cx="3840480" cy="1005840"/>
          </a:xfrm>
          <a:prstGeom prst="roundRect">
            <a:avLst>
              <a:gd name="adj" fmla="val 3636"/>
            </a:avLst>
          </a:prstGeom>
          <a:solidFill>
            <a:srgbClr val="F3F6FA"/>
          </a:solidFill>
          <a:ln w="13970">
            <a:solidFill>
              <a:srgbClr val="0E7C8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01000" y="1993392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01000" y="199339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558784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規劃型（大型）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001000" y="23957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地端 GPU 叢集　·　至機密級 · 預設可用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818120" y="2953512"/>
            <a:ext cx="3840480" cy="1005840"/>
          </a:xfrm>
          <a:prstGeom prst="roundRect">
            <a:avLst>
              <a:gd name="adj" fmla="val 3636"/>
            </a:avLst>
          </a:prstGeom>
          <a:solidFill>
            <a:srgbClr val="F3F6FA"/>
          </a:solidFill>
          <a:ln w="13970">
            <a:solidFill>
              <a:srgbClr val="0E7C8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01000" y="311810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01000" y="3118104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T2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8558784" y="3090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執行型（中型）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3520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地端 GPU 叢集　·　至機密級 · 預設可用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818120" y="4078224"/>
            <a:ext cx="3840480" cy="1005840"/>
          </a:xfrm>
          <a:prstGeom prst="roundRect">
            <a:avLst>
              <a:gd name="adj" fmla="val 3636"/>
            </a:avLst>
          </a:prstGeom>
          <a:solidFill>
            <a:srgbClr val="F3F6FA"/>
          </a:solidFill>
          <a:ln w="13970">
            <a:solidFill>
              <a:srgbClr val="0E7C8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01000" y="4242816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001000" y="424281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8558784" y="42153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輕量型（小型）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001000" y="46451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地端／邊緣節點　·　至機密級 · 預設可用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818120" y="5202936"/>
            <a:ext cx="3840480" cy="1005840"/>
          </a:xfrm>
          <a:prstGeom prst="roundRect">
            <a:avLst>
              <a:gd name="adj" fmla="val 3636"/>
            </a:avLst>
          </a:prstGeom>
          <a:solidFill>
            <a:srgbClr val="FDF4E3"/>
          </a:solidFill>
          <a:ln w="13970">
            <a:solidFill>
              <a:srgbClr val="C8891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001000" y="5367528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C8891B"/>
          </a:solidFill>
          <a:ln w="12700">
            <a:solidFill>
              <a:srgbClr val="C8891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01000" y="536752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T4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8558784" y="53400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外部雲端模型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001000" y="57698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公有雲（經閘道）　·　機密級以下 · 逐案核准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1115568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Gateway：內外網資料交換安全檢核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778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Cross-Domain Exchange Control — </a:t>
            </a:r>
            <a:r>
              <a:rPr lang="en-US" sz="1400" dirty="0" err="1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單一出口、雙向不對稱管制、全量留</a:t>
            </a:r>
            <a:r>
              <a:rPr lang="zh-TW" altLang="en-US" sz="1400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軌跡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17904"/>
            <a:ext cx="2286000" cy="3401568"/>
          </a:xfrm>
          <a:prstGeom prst="roundRect">
            <a:avLst>
              <a:gd name="adj" fmla="val 1200"/>
            </a:avLst>
          </a:prstGeom>
          <a:solidFill>
            <a:srgbClr val="F7F8FA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外部網域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933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Untrusted Zone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359152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600"/>
              </a:spcAft>
              <a:buSzPct val="100000"/>
              <a:buChar char="•"/>
            </a:pPr>
            <a:r>
              <a:rPr lang="en-US" sz="110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公開語料與 CTI 情資</a:t>
            </a:r>
            <a:endParaRPr lang="en-US" sz="1100" dirty="0"/>
          </a:p>
          <a:p>
            <a:pPr marL="342900" indent="-342900">
              <a:spcAft>
                <a:spcPts val="2600"/>
              </a:spcAft>
              <a:buSzPct val="100000"/>
              <a:buChar char="•"/>
            </a:pPr>
            <a:r>
              <a:rPr lang="en-US" sz="110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廠商韌體與模型權重更新</a:t>
            </a:r>
            <a:endParaRPr lang="en-US" sz="1100" dirty="0"/>
          </a:p>
          <a:p>
            <a:pPr marL="342900" indent="-342900">
              <a:spcAft>
                <a:spcPts val="2600"/>
              </a:spcAft>
              <a:buSzPct val="100000"/>
              <a:buChar char="•"/>
            </a:pPr>
            <a:r>
              <a:rPr lang="en-US" sz="110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雲端模型服務 API</a:t>
            </a:r>
            <a:endParaRPr lang="en-US" sz="1100" dirty="0"/>
          </a:p>
          <a:p>
            <a:pPr marL="342900" indent="-342900">
              <a:spcAft>
                <a:spcPts val="2600"/>
              </a:spcAft>
              <a:buSzPct val="100000"/>
              <a:buChar char="•"/>
            </a:pPr>
            <a:r>
              <a:rPr lang="en-US" sz="110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外部合作單位交付檔案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1517904"/>
            <a:ext cx="6035040" cy="3401568"/>
          </a:xfrm>
          <a:prstGeom prst="roundRect">
            <a:avLst>
              <a:gd name="adj" fmla="val 80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737360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821" y="1841053"/>
            <a:ext cx="176662" cy="17666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3803904" y="1737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Gateway（全院單一出口）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10128" y="2295144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10128" y="2295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3712464" y="224942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身分與授權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084064" y="22494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服務帳號、mTLS 憑證與出口白名單，禁止繞道直連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310128" y="2807208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10128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3712464" y="2761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內容檢核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084064" y="27614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敏感資料標記比對與 DLP 規則，命中即阻擋並告警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310128" y="3319272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31012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3712464" y="32735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惡意內容掃描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084064" y="3273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病毒、隱碼、提示詞注入與投毒樣態偵測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310128" y="3831336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310128" y="3831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3712464" y="378561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格式正規化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5084064" y="37856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</a:t>
            </a:r>
            <a:r>
              <a:rPr lang="en-US" sz="1050" dirty="0" err="1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除巨集與可執行內容，僅保留純文字與結構化資料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310128" y="4343400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310128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3712464" y="4297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稽核留存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5084064" y="4297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全量請求、判定結果與處置理由留存，具不可否認性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9326880" y="1517904"/>
            <a:ext cx="2313432" cy="3401568"/>
          </a:xfrm>
          <a:prstGeom prst="roundRect">
            <a:avLst>
              <a:gd name="adj" fmla="val 1186"/>
            </a:avLst>
          </a:prstGeom>
          <a:solidFill>
            <a:srgbClr val="F7F8FA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9555480" y="173736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內網域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9555480" y="199339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Air-Gapped Trusted Zone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9555480" y="2359152"/>
            <a:ext cx="1856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600"/>
              </a:spcAft>
              <a:buSzPct val="100000"/>
              <a:buChar char="•"/>
            </a:pPr>
            <a:r>
              <a:rPr lang="en-US" sz="110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部門專屬 Agent 與 RAG</a:t>
            </a:r>
            <a:endParaRPr lang="en-US" sz="1100" dirty="0"/>
          </a:p>
          <a:p>
            <a:pPr marL="342900" indent="-342900">
              <a:spcAft>
                <a:spcPts val="2600"/>
              </a:spcAft>
              <a:buSzPct val="100000"/>
              <a:buChar char="•"/>
            </a:pPr>
            <a:r>
              <a:rPr lang="en-US" sz="110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DSLM 領域專用模型</a:t>
            </a:r>
            <a:endParaRPr lang="en-US" sz="1100" dirty="0"/>
          </a:p>
          <a:p>
            <a:pPr marL="342900" indent="-342900">
              <a:spcAft>
                <a:spcPts val="2600"/>
              </a:spcAft>
              <a:buSzPct val="100000"/>
              <a:buChar char="•"/>
            </a:pPr>
            <a:r>
              <a:rPr lang="en-US" sz="110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稽核與監控平台</a:t>
            </a:r>
            <a:endParaRPr lang="en-US" sz="1100" dirty="0"/>
          </a:p>
          <a:p>
            <a:pPr marL="342900" indent="-342900">
              <a:spcAft>
                <a:spcPts val="2600"/>
              </a:spcAft>
              <a:buSzPct val="100000"/>
              <a:buChar char="•"/>
            </a:pPr>
            <a:r>
              <a:rPr lang="en-US" sz="110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紅／紫隊測試環境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5120640"/>
            <a:ext cx="5358384" cy="1051560"/>
          </a:xfrm>
          <a:prstGeom prst="roundRect">
            <a:avLst>
              <a:gd name="adj" fmla="val 2609"/>
            </a:avLst>
          </a:prstGeom>
          <a:solidFill>
            <a:srgbClr val="F1F7F8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804672" y="5248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入向 Inbound（外 → 內）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804672" y="552297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 err="1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僅允許經檢核之純文字與結構化資料；透過資料</a:t>
            </a:r>
            <a:r>
              <a:rPr lang="zh-TW" alt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單閘</a:t>
            </a:r>
            <a:r>
              <a:rPr lang="en-US" sz="1050" dirty="0" err="1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單向寫入，先落地隔離區完成掃描與人工抽驗後始得匯入知識庫</a:t>
            </a: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281928" y="5120640"/>
            <a:ext cx="5358384" cy="1051560"/>
          </a:xfrm>
          <a:prstGeom prst="roundRect">
            <a:avLst>
              <a:gd name="adj" fmla="val 2609"/>
            </a:avLst>
          </a:prstGeom>
          <a:solidFill>
            <a:srgbClr val="FCF2F1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6537960" y="5248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出向 Outbound（內 → 外）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6537960" y="552297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機敏與管制級資料不得離開內網，亦不得送往雲端模型；僅開放統計摘要或雜湊值，須經 HITL 核可與雙人覆核並全數留痕。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內網資料治理：清洗、檢核、分級與存取控制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778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Sanitisation → Assurance → Classification → Access Control 四階管線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2560320" cy="1691640"/>
          </a:xfrm>
          <a:prstGeom prst="roundRect">
            <a:avLst>
              <a:gd name="adj" fmla="val 1622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664208"/>
            <a:ext cx="402336" cy="40233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1772839"/>
            <a:ext cx="185075" cy="18507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98448" y="16642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資料清洗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139696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Sanitisation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23591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去識別化與 PII 遮罩；剝除巨集、腳本、追蹤標記與嵌入物件。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92424" y="1481328"/>
            <a:ext cx="2560320" cy="1691640"/>
          </a:xfrm>
          <a:prstGeom prst="roundRect">
            <a:avLst>
              <a:gd name="adj" fmla="val 1622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48456" y="1664208"/>
            <a:ext cx="402336" cy="402336"/>
          </a:xfrm>
          <a:prstGeom prst="ellipse">
            <a:avLst/>
          </a:prstGeom>
          <a:solidFill>
            <a:srgbClr val="C8891B"/>
          </a:solidFill>
          <a:ln w="12700">
            <a:solidFill>
              <a:srgbClr val="C8891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087" y="1772839"/>
            <a:ext cx="185075" cy="18507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142232" y="16642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安全檢核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3648456" y="2139696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Assurance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3648456" y="23591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惡意內容與資料投毒樣態掃描；來源可信度與雜湊完整性驗證。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36208" y="1481328"/>
            <a:ext cx="2560320" cy="1691640"/>
          </a:xfrm>
          <a:prstGeom prst="roundRect">
            <a:avLst>
              <a:gd name="adj" fmla="val 1622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92240" y="1664208"/>
            <a:ext cx="402336" cy="40233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71" y="1772839"/>
            <a:ext cx="185075" cy="18507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986016" y="16642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資料分級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6492240" y="2139696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6492240" y="23591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依四級標準標記；標記隨資料生命週期繼承至切片與索引。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079992" y="1481328"/>
            <a:ext cx="2560320" cy="1691640"/>
          </a:xfrm>
          <a:prstGeom prst="roundRect">
            <a:avLst>
              <a:gd name="adj" fmla="val 1622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336024" y="1664208"/>
            <a:ext cx="402336" cy="402336"/>
          </a:xfrm>
          <a:prstGeom prst="ellipse">
            <a:avLst/>
          </a:prstGeom>
          <a:solidFill>
            <a:srgbClr val="B3372B"/>
          </a:solidFill>
          <a:ln w="12700">
            <a:solidFill>
              <a:srgbClr val="B3372B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4655" y="1772839"/>
            <a:ext cx="185075" cy="18507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829800" y="16642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存取控制</a:t>
            </a:r>
            <a:endParaRPr lang="en-US" sz="1450" dirty="0"/>
          </a:p>
        </p:txBody>
      </p:sp>
      <p:sp>
        <p:nvSpPr>
          <p:cNvPr id="29" name="Text 23"/>
          <p:cNvSpPr txBox="1"/>
          <p:nvPr/>
        </p:nvSpPr>
        <p:spPr>
          <a:xfrm>
            <a:off x="9336024" y="2139696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Access Control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9336024" y="23591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部門即租戶最小權限；每次取用產生稽核軌跡與級別檢查。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資料分級制度與對應管控（四級）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645335"/>
              </p:ext>
            </p:extLst>
          </p:nvPr>
        </p:nvGraphicFramePr>
        <p:xfrm>
          <a:off x="548639" y="3621024"/>
          <a:ext cx="11091671" cy="1975104"/>
        </p:xfrm>
        <a:graphic>
          <a:graphicData uri="http://schemas.openxmlformats.org/drawingml/2006/table">
            <a:tbl>
              <a:tblPr/>
              <a:tblGrid>
                <a:gridCol w="2686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21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級別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可用模型與環境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存取控制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7C8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L1 </a:t>
                      </a:r>
                      <a:r>
                        <a:rPr lang="zh-TW" altLang="en-US" sz="1050" b="1" dirty="0">
                          <a:solidFill>
                            <a:srgbClr val="0E7C8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 </a:t>
                      </a:r>
                      <a:r>
                        <a:rPr lang="en-US" altLang="zh-TW" sz="1050" b="1" dirty="0">
                          <a:solidFill>
                            <a:srgbClr val="0E7C8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(DISA IL-1)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65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Tier-1～Tier-4 各層環境均可使用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65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全院可讀，免申請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7C8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L2 </a:t>
                      </a:r>
                      <a:r>
                        <a:rPr lang="zh-TW" altLang="en-US" sz="1050" b="1" dirty="0">
                          <a:solidFill>
                            <a:srgbClr val="0E7C8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營業秘密</a:t>
                      </a:r>
                      <a:r>
                        <a:rPr lang="en-US" altLang="zh-TW" sz="1050" b="1" dirty="0">
                          <a:solidFill>
                            <a:srgbClr val="0E7C8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(DISA IL-2)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65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限內網本地模型與 DSLM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65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部門內可讀；跨部門需申請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889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L3 </a:t>
                      </a:r>
                      <a:r>
                        <a:rPr lang="zh-TW" altLang="en-US" sz="1050" b="1" dirty="0">
                          <a:solidFill>
                            <a:srgbClr val="C889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核心營業秘密</a:t>
                      </a:r>
                      <a:r>
                        <a:rPr lang="en-US" altLang="zh-TW" sz="1050" b="1" dirty="0">
                          <a:solidFill>
                            <a:srgbClr val="C889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(DISA IL-4)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65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僅限部門專屬容器內模型，禁止跨租戶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65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最小權限；主管核可並全量留痕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337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L4 </a:t>
                      </a:r>
                      <a:r>
                        <a:rPr lang="zh-TW" altLang="en-US" sz="1050" b="1" dirty="0">
                          <a:solidFill>
                            <a:srgbClr val="B337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機密</a:t>
                      </a:r>
                      <a:r>
                        <a:rPr lang="en-US" altLang="zh-TW" sz="1050" b="1" dirty="0">
                          <a:solidFill>
                            <a:srgbClr val="B337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(DISA IL-6)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65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禁止進入任何模型上下文與索引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65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雙人控管；實體隔離存放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Shape 26"/>
          <p:cNvSpPr/>
          <p:nvPr/>
        </p:nvSpPr>
        <p:spPr>
          <a:xfrm>
            <a:off x="548640" y="5724144"/>
            <a:ext cx="11091672" cy="438912"/>
          </a:xfrm>
          <a:prstGeom prst="roundRect">
            <a:avLst>
              <a:gd name="adj" fmla="val 6250"/>
            </a:avLst>
          </a:prstGeom>
          <a:solidFill>
            <a:srgbClr val="FCF2F1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4" name="Text 27"/>
          <p:cNvSpPr txBox="1"/>
          <p:nvPr/>
        </p:nvSpPr>
        <p:spPr>
          <a:xfrm>
            <a:off x="822960" y="5724144"/>
            <a:ext cx="10543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架構紅線：L3／L4 </a:t>
            </a:r>
            <a:r>
              <a:rPr lang="en-US" sz="1100" b="1" dirty="0" err="1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資料一律不得送往雲端模型，亦不得離開所屬部門</a:t>
            </a:r>
            <a:r>
              <a:rPr lang="zh-TW" altLang="en-US" sz="1100" b="1" dirty="0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</a:t>
            </a:r>
            <a:r>
              <a:rPr lang="en-US" sz="1100" b="1" dirty="0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；分級標記於切片、向量索引與快取中均需完整繼承。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DSLM 使用紀錄、安全監控與資料分級落實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778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Usage Logging, Continuous Monitoring &amp; Model Compartmentalisation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6309360" cy="4590288"/>
          </a:xfrm>
          <a:prstGeom prst="roundRect">
            <a:avLst>
              <a:gd name="adj" fmla="val 598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700784"/>
            <a:ext cx="384048" cy="38404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65" y="1804477"/>
            <a:ext cx="176662" cy="17666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98448" y="170078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使用紀錄必要欄位（不可否認性基準）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4672" y="2249424"/>
            <a:ext cx="5797296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24942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請求識別碼與時間戳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2834640" y="22494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全鏈路追蹤識別，供 SOC 事件關聯比對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70662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身分與租戶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27066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使用者、服務帳號與所屬部門租戶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4672" y="3163824"/>
            <a:ext cx="5797296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316382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模型與版本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2834640" y="31638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DSLM 名稱、版本與權重雜湊值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62102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提示詞內容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2834640" y="36210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遮罩後全文，並標註輸入資料級別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04672" y="4078224"/>
            <a:ext cx="5797296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407822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 引用來源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2834640" y="40782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文件識別碼、引用片段與該片段分級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53542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工具呼叫紀錄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2834640" y="45354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伺服器、方法名稱與參數摘要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04672" y="4992624"/>
            <a:ext cx="5797296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99262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HITL 核可紀錄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2834640" y="49926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核可人、核可時間與 interrupt() 事由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914400" y="544982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判定與處置結果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2834640" y="54498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檢核命中項目、阻擋原因與後續處理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178040" y="1481328"/>
            <a:ext cx="4462272" cy="1463040"/>
          </a:xfrm>
          <a:prstGeom prst="roundRect">
            <a:avLst>
              <a:gd name="adj" fmla="val 1875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434072" y="1682496"/>
            <a:ext cx="347472" cy="3474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889" y="1776313"/>
            <a:ext cx="159837" cy="159837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7872984" y="16824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監控指標與告警</a:t>
            </a:r>
            <a:endParaRPr lang="en-US" sz="1350" dirty="0"/>
          </a:p>
        </p:txBody>
      </p:sp>
      <p:sp>
        <p:nvSpPr>
          <p:cNvPr id="35" name="Text 31"/>
          <p:cNvSpPr txBox="1"/>
          <p:nvPr/>
        </p:nvSpPr>
        <p:spPr>
          <a:xfrm>
            <a:off x="7434072" y="2103120"/>
            <a:ext cx="4005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越權存取嘗試率、跨級資料引用次數、提示詞注入樣態命中率、查詢量與時段偏移；告警分四級並即時介接 SOC。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7178040" y="3044952"/>
            <a:ext cx="4462272" cy="1463040"/>
          </a:xfrm>
          <a:prstGeom prst="roundRect">
            <a:avLst>
              <a:gd name="adj" fmla="val 1875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7434072" y="3246120"/>
            <a:ext cx="347472" cy="347472"/>
          </a:xfrm>
          <a:prstGeom prst="ellipse">
            <a:avLst/>
          </a:prstGeom>
          <a:solidFill>
            <a:srgbClr val="C8891B"/>
          </a:solidFill>
          <a:ln w="12700">
            <a:solidFill>
              <a:srgbClr val="C8891B"/>
            </a:solidFill>
            <a:prstDash val="solid"/>
          </a:ln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7889" y="3339937"/>
            <a:ext cx="159837" cy="159837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7872984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模型分艙與分級對應</a:t>
            </a:r>
            <a:endParaRPr lang="en-US" sz="1350" dirty="0"/>
          </a:p>
        </p:txBody>
      </p:sp>
      <p:sp>
        <p:nvSpPr>
          <p:cNvPr id="40" name="Text 35"/>
          <p:cNvSpPr txBox="1"/>
          <p:nvPr/>
        </p:nvSpPr>
        <p:spPr>
          <a:xfrm>
            <a:off x="7434072" y="3666744"/>
            <a:ext cx="4005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L1／L2 資料方可進入 DSLM 上下文；L3 僅限部門專屬容器內模型並全量留痕；L4 禁止進入任何模型與索引。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7178040" y="4608576"/>
            <a:ext cx="4462272" cy="1463040"/>
          </a:xfrm>
          <a:prstGeom prst="roundRect">
            <a:avLst>
              <a:gd name="adj" fmla="val 1875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7434072" y="4809744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7889" y="4903561"/>
            <a:ext cx="159837" cy="159837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7872984" y="4809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留存與復原基準（建議）</a:t>
            </a:r>
            <a:endParaRPr lang="en-US" sz="1350" dirty="0"/>
          </a:p>
        </p:txBody>
      </p:sp>
      <p:sp>
        <p:nvSpPr>
          <p:cNvPr id="45" name="Text 39"/>
          <p:cNvSpPr txBox="1"/>
          <p:nvPr/>
        </p:nvSpPr>
        <p:spPr>
          <a:xfrm>
            <a:off x="7434072" y="5230368"/>
            <a:ext cx="4005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使用紀錄以僅可附加方式留存 ≥ 1 年並防竄改；模型與索引保留 ≥ 3 個已驗證版本，異常時即時復原。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Harness 框架：執行迴圈的四道控制點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778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Governed Execution Harness — 橫跨 L1～L5 的治理外框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89520" cy="3913632"/>
          </a:xfrm>
          <a:prstGeom prst="roundRect">
            <a:avLst>
              <a:gd name="adj" fmla="val 467"/>
            </a:avLst>
          </a:prstGeom>
          <a:solidFill>
            <a:srgbClr val="FAFBFD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9105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Harness 治理外框（橫跨 L1 基礎模型 ～ L5 領域知識）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2011680"/>
            <a:ext cx="1508760" cy="713232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23544" y="2011680"/>
            <a:ext cx="1399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 Plan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32304" y="2276856"/>
            <a:ext cx="182880" cy="182880"/>
          </a:xfrm>
          <a:prstGeom prst="rightArrow">
            <a:avLst/>
          </a:prstGeom>
          <a:solidFill>
            <a:srgbClr val="A9B3C4"/>
          </a:solidFill>
          <a:ln w="12700">
            <a:solidFill>
              <a:srgbClr val="A9B3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70048" y="2011680"/>
            <a:ext cx="1508760" cy="713232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24912" y="2011680"/>
            <a:ext cx="1399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工具呼叫 Tool Call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33672" y="2276856"/>
            <a:ext cx="182880" cy="182880"/>
          </a:xfrm>
          <a:prstGeom prst="rightArrow">
            <a:avLst/>
          </a:prstGeom>
          <a:solidFill>
            <a:srgbClr val="A9B3C4"/>
          </a:solidFill>
          <a:ln w="12700">
            <a:solidFill>
              <a:srgbClr val="A9B3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1416" y="2011680"/>
            <a:ext cx="1508760" cy="713232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2011680"/>
            <a:ext cx="1399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 Execute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2276856"/>
            <a:ext cx="182880" cy="182880"/>
          </a:xfrm>
          <a:prstGeom prst="rightArrow">
            <a:avLst/>
          </a:prstGeom>
          <a:solidFill>
            <a:srgbClr val="A9B3C4"/>
          </a:solidFill>
          <a:ln w="12700">
            <a:solidFill>
              <a:srgbClr val="A9B3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2011680"/>
            <a:ext cx="1508760" cy="713232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27648" y="2011680"/>
            <a:ext cx="1399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 Output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623060" y="2724912"/>
            <a:ext cx="0" cy="310896"/>
          </a:xfrm>
          <a:prstGeom prst="line">
            <a:avLst/>
          </a:prstGeom>
          <a:noFill/>
          <a:ln w="15875">
            <a:solidFill>
              <a:srgbClr val="C3CB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035808"/>
            <a:ext cx="150876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72184" y="3163824"/>
            <a:ext cx="301752" cy="30175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472184" y="316382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3529584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前置准入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78408" y="3803904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技能與工具須完成註冊、審查與簽章驗證，未登錄者不得載入。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24428" y="2724912"/>
            <a:ext cx="0" cy="310896"/>
          </a:xfrm>
          <a:prstGeom prst="line">
            <a:avLst/>
          </a:prstGeom>
          <a:noFill/>
          <a:ln w="15875">
            <a:solidFill>
              <a:srgbClr val="C3CB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70048" y="3035808"/>
            <a:ext cx="150876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73552" y="3163824"/>
            <a:ext cx="301752" cy="301752"/>
          </a:xfrm>
          <a:prstGeom prst="ellipse">
            <a:avLst/>
          </a:prstGeom>
          <a:solidFill>
            <a:srgbClr val="C8891B"/>
          </a:solidFill>
          <a:ln w="12700">
            <a:solidFill>
              <a:srgbClr val="C8891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73552" y="316382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743200" y="3529584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參數校驗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779776" y="3803904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比對權限範圍與工具白名單，超出授權的參數組合直接拒絕。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25796" y="2724912"/>
            <a:ext cx="0" cy="310896"/>
          </a:xfrm>
          <a:prstGeom prst="line">
            <a:avLst/>
          </a:prstGeom>
          <a:noFill/>
          <a:ln w="15875">
            <a:solidFill>
              <a:srgbClr val="C3CB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71416" y="3035808"/>
            <a:ext cx="150876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74920" y="3163824"/>
            <a:ext cx="301752" cy="301752"/>
          </a:xfrm>
          <a:prstGeom prst="ellipse">
            <a:avLst/>
          </a:prstGeom>
          <a:solidFill>
            <a:srgbClr val="B3372B"/>
          </a:solidFill>
          <a:ln w="12700">
            <a:solidFill>
              <a:srgbClr val="B337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74920" y="316382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44568" y="3529584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HITL 閘門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581144" y="3803904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高衝擊動作以 interrupt() 停等人工核可，核可前不得續行。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027164" y="2724912"/>
            <a:ext cx="0" cy="310896"/>
          </a:xfrm>
          <a:prstGeom prst="line">
            <a:avLst/>
          </a:prstGeom>
          <a:noFill/>
          <a:ln w="15875">
            <a:solidFill>
              <a:srgbClr val="C3CB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72784" y="3035808"/>
            <a:ext cx="150876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76288" y="3163824"/>
            <a:ext cx="301752" cy="30175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76288" y="316382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345936" y="3529584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輸出過濾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382512" y="3803904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DLP 比對、系統提示詞防洩漏與資料級別再檢查後始得回傳。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68680" y="4645152"/>
            <a:ext cx="6949440" cy="566928"/>
          </a:xfrm>
          <a:prstGeom prst="roundRect">
            <a:avLst>
              <a:gd name="adj" fmla="val 806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51560" y="464515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全鏈路稽核與失效復原：任一控制點命中即中止執行，並將工作階段復原至前一已驗證狀態。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12480" y="1481328"/>
            <a:ext cx="3227832" cy="1225296"/>
          </a:xfrm>
          <a:prstGeom prst="roundRect">
            <a:avLst>
              <a:gd name="adj" fmla="val 2239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631936" y="1664208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816" y="1753088"/>
            <a:ext cx="151425" cy="151425"/>
          </a:xfrm>
          <a:prstGeom prst="rect">
            <a:avLst/>
          </a:prstGeom>
        </p:spPr>
      </p:pic>
      <p:sp>
        <p:nvSpPr>
          <p:cNvPr id="49" name="Text 46"/>
          <p:cNvSpPr txBox="1"/>
          <p:nvPr/>
        </p:nvSpPr>
        <p:spPr>
          <a:xfrm>
            <a:off x="9052560" y="16642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技能生命週期治理</a:t>
            </a:r>
            <a:endParaRPr lang="en-US" sz="1250" dirty="0"/>
          </a:p>
        </p:txBody>
      </p:sp>
      <p:sp>
        <p:nvSpPr>
          <p:cNvPr id="50" name="Text 47"/>
          <p:cNvSpPr txBox="1"/>
          <p:nvPr/>
        </p:nvSpPr>
        <p:spPr>
          <a:xfrm>
            <a:off x="8631936" y="204825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註冊、審查、版本控管與下架；技能視同受控資產，變更須留存審查紀錄。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412480" y="2825496"/>
            <a:ext cx="3227832" cy="1225296"/>
          </a:xfrm>
          <a:prstGeom prst="roundRect">
            <a:avLst>
              <a:gd name="adj" fmla="val 2239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8631936" y="3008376"/>
            <a:ext cx="329184" cy="329184"/>
          </a:xfrm>
          <a:prstGeom prst="ellipse">
            <a:avLst/>
          </a:prstGeom>
          <a:solidFill>
            <a:srgbClr val="C8891B"/>
          </a:solidFill>
          <a:ln w="12700">
            <a:solidFill>
              <a:srgbClr val="C8891B"/>
            </a:solidFill>
            <a:prstDash val="solid"/>
          </a:ln>
        </p:spPr>
      </p:sp>
      <p:pic>
        <p:nvPicPr>
          <p:cNvPr id="5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0816" y="3097256"/>
            <a:ext cx="151425" cy="151425"/>
          </a:xfrm>
          <a:prstGeom prst="rect">
            <a:avLst/>
          </a:prstGeom>
        </p:spPr>
      </p:pic>
      <p:sp>
        <p:nvSpPr>
          <p:cNvPr id="54" name="Text 50"/>
          <p:cNvSpPr txBox="1"/>
          <p:nvPr/>
        </p:nvSpPr>
        <p:spPr>
          <a:xfrm>
            <a:off x="9052560" y="30083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伺服器自建自審</a:t>
            </a:r>
            <a:endParaRPr lang="en-US" sz="1250" dirty="0"/>
          </a:p>
        </p:txBody>
      </p:sp>
      <p:sp>
        <p:nvSpPr>
          <p:cNvPr id="55" name="Text 51"/>
          <p:cNvSpPr txBox="1"/>
          <p:nvPr/>
        </p:nvSpPr>
        <p:spPr>
          <a:xfrm>
            <a:off x="8631936" y="339242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zh-TW" altLang="en-US" sz="100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實體隔離</a:t>
            </a:r>
            <a:r>
              <a:rPr lang="en-US" sz="1000" dirty="0" err="1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環境僅採自建伺服器，須完成程式碼審查與介面揭露後方可掛載</a:t>
            </a:r>
            <a:r>
              <a:rPr lang="en-US" sz="100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8412480" y="4169664"/>
            <a:ext cx="3227832" cy="1225296"/>
          </a:xfrm>
          <a:prstGeom prst="roundRect">
            <a:avLst>
              <a:gd name="adj" fmla="val 2239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57" name="Shape 53"/>
          <p:cNvSpPr/>
          <p:nvPr/>
        </p:nvSpPr>
        <p:spPr>
          <a:xfrm>
            <a:off x="8631936" y="4352544"/>
            <a:ext cx="329184" cy="32918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816" y="4441424"/>
            <a:ext cx="151425" cy="151425"/>
          </a:xfrm>
          <a:prstGeom prst="rect">
            <a:avLst/>
          </a:prstGeom>
        </p:spPr>
      </p:pic>
      <p:sp>
        <p:nvSpPr>
          <p:cNvPr id="59" name="Text 54"/>
          <p:cNvSpPr txBox="1"/>
          <p:nvPr/>
        </p:nvSpPr>
        <p:spPr>
          <a:xfrm>
            <a:off x="9052560" y="43525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評測與上線閘門</a:t>
            </a:r>
            <a:endParaRPr lang="en-US" sz="1250" dirty="0"/>
          </a:p>
        </p:txBody>
      </p:sp>
      <p:sp>
        <p:nvSpPr>
          <p:cNvPr id="60" name="Text 55"/>
          <p:cNvSpPr txBox="1"/>
          <p:nvPr/>
        </p:nvSpPr>
        <p:spPr>
          <a:xfrm>
            <a:off x="8631936" y="47365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離線評測 harness </a:t>
            </a:r>
            <a:r>
              <a:rPr lang="en-US" sz="1000" dirty="0" err="1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以統計信賴區間設定門檻，未達標者不予放行</a:t>
            </a:r>
            <a:r>
              <a:rPr lang="en-US" sz="100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000" dirty="0"/>
          </a:p>
        </p:txBody>
      </p:sp>
      <p:sp>
        <p:nvSpPr>
          <p:cNvPr id="61" name="Shape 56"/>
          <p:cNvSpPr/>
          <p:nvPr/>
        </p:nvSpPr>
        <p:spPr>
          <a:xfrm>
            <a:off x="548640" y="5541264"/>
            <a:ext cx="11091672" cy="512064"/>
          </a:xfrm>
          <a:prstGeom prst="roundRect">
            <a:avLst>
              <a:gd name="adj" fmla="val 5357"/>
            </a:avLst>
          </a:prstGeom>
          <a:solidFill>
            <a:srgbClr val="FCF2F1"/>
          </a:solidFill>
          <a:ln w="12700">
            <a:solidFill>
              <a:srgbClr val="E2E7F0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62" name="Text 57"/>
          <p:cNvSpPr txBox="1"/>
          <p:nvPr/>
        </p:nvSpPr>
        <p:spPr>
          <a:xfrm>
            <a:off x="822960" y="5541264"/>
            <a:ext cx="10543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架構紅線</a:t>
            </a:r>
            <a:r>
              <a:rPr lang="en-US" sz="1100" b="1" dirty="0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1100" b="1" dirty="0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實體隔離</a:t>
            </a:r>
            <a:r>
              <a:rPr lang="en-US" sz="1100" b="1" dirty="0" err="1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不得破壞；敏感資料不得送往雲端模型；高衝擊動作一律經</a:t>
            </a:r>
            <a:r>
              <a:rPr lang="zh-TW" altLang="en-US" sz="1100" b="1" dirty="0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人在迴路</a:t>
            </a:r>
            <a:r>
              <a:rPr lang="en-US" altLang="zh-TW" sz="1100" b="1" dirty="0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en-US" sz="1100" b="1" dirty="0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HITL) 核可，且須具備可稽核之復原路徑。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底層基礎設施隔離：零信任執行環境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Infrastructure Isolation — 支撐 L1～L5 縱深防禦的三支柱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3429000" cy="4114800"/>
          </a:xfrm>
          <a:prstGeom prst="roundRect">
            <a:avLst>
              <a:gd name="adj" fmla="val 800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  <a:effectLst>
            <a:outerShdw blurRad="1270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28800"/>
            <a:ext cx="566928" cy="5669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1961388"/>
            <a:ext cx="301752" cy="30175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71800" y="18288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2DA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50545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容器化隔離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8529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Containerised Isolation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23697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889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　制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45643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部門級實體隔離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9044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889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　節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13308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專屬 Agent 與 RAG 知識庫獨立運行，杜絕跨部門運算資源與資料混用；租戶邊界即容器邊界。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29200"/>
            <a:ext cx="2880360" cy="420624"/>
          </a:xfrm>
          <a:prstGeom prst="roundRect">
            <a:avLst>
              <a:gd name="adj" fmla="val 30435"/>
            </a:avLst>
          </a:prstGeom>
          <a:solidFill>
            <a:srgbClr val="E7ECF5"/>
          </a:solidFill>
          <a:ln w="12700">
            <a:solidFill>
              <a:srgbClr val="E7EC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50292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驗證方式｜跨租戶資源與資料存取測試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79976" y="1572768"/>
            <a:ext cx="3429000" cy="4114800"/>
          </a:xfrm>
          <a:prstGeom prst="roundRect">
            <a:avLst>
              <a:gd name="adj" fmla="val 800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  <a:effectLst>
            <a:outerShdw blurRad="1270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54296" y="1828800"/>
            <a:ext cx="566928" cy="566928"/>
          </a:xfrm>
          <a:prstGeom prst="ellipse">
            <a:avLst/>
          </a:prstGeom>
          <a:solidFill>
            <a:srgbClr val="C8891B"/>
          </a:solidFill>
          <a:ln w="12700">
            <a:solidFill>
              <a:srgbClr val="C8891B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884" y="1961388"/>
            <a:ext cx="301752" cy="30175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803136" y="18288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2DA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800" dirty="0"/>
          </a:p>
        </p:txBody>
      </p:sp>
      <p:sp>
        <p:nvSpPr>
          <p:cNvPr id="23" name="Text 19"/>
          <p:cNvSpPr txBox="1"/>
          <p:nvPr/>
        </p:nvSpPr>
        <p:spPr>
          <a:xfrm>
            <a:off x="4654296" y="250545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Sandbox 沙盒防護</a:t>
            </a:r>
            <a:endParaRPr lang="en-US" sz="1900" dirty="0"/>
          </a:p>
        </p:txBody>
      </p:sp>
      <p:sp>
        <p:nvSpPr>
          <p:cNvPr id="24" name="Text 20"/>
          <p:cNvSpPr txBox="1"/>
          <p:nvPr/>
        </p:nvSpPr>
        <p:spPr>
          <a:xfrm>
            <a:off x="4654296" y="28529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Malicious-Instruction Buffer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4654296" y="323697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889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　制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4654296" y="345643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惡意指令緩衝區</a:t>
            </a:r>
            <a:endParaRPr lang="en-US" sz="1450" dirty="0"/>
          </a:p>
        </p:txBody>
      </p:sp>
      <p:sp>
        <p:nvSpPr>
          <p:cNvPr id="27" name="Text 23"/>
          <p:cNvSpPr txBox="1"/>
          <p:nvPr/>
        </p:nvSpPr>
        <p:spPr>
          <a:xfrm>
            <a:off x="4654296" y="39044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889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　節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4654296" y="413308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執行程式碼或呼叫外部工具一律強制於沙盒內運行，隔絕企業內網橫向移動風險。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4654296" y="5029200"/>
            <a:ext cx="2880360" cy="420624"/>
          </a:xfrm>
          <a:prstGeom prst="roundRect">
            <a:avLst>
              <a:gd name="adj" fmla="val 30435"/>
            </a:avLst>
          </a:prstGeom>
          <a:solidFill>
            <a:srgbClr val="E7ECF5"/>
          </a:solidFill>
          <a:ln w="12700">
            <a:solidFill>
              <a:srgbClr val="E7ECF5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654296" y="50292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驗證方式｜沙盒逃逸與橫向移動演練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8211312" y="1572768"/>
            <a:ext cx="3429000" cy="4114800"/>
          </a:xfrm>
          <a:prstGeom prst="roundRect">
            <a:avLst>
              <a:gd name="adj" fmla="val 800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  <a:effectLst>
            <a:outerShdw blurRad="1270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485632" y="1828800"/>
            <a:ext cx="566928" cy="566928"/>
          </a:xfrm>
          <a:prstGeom prst="ellipse">
            <a:avLst/>
          </a:prstGeom>
          <a:solidFill>
            <a:srgbClr val="B3372B"/>
          </a:solidFill>
          <a:ln w="12700">
            <a:solidFill>
              <a:srgbClr val="B3372B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220" y="1961388"/>
            <a:ext cx="301752" cy="301752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0634472" y="18288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2DA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800" dirty="0"/>
          </a:p>
        </p:txBody>
      </p:sp>
      <p:sp>
        <p:nvSpPr>
          <p:cNvPr id="35" name="Text 30"/>
          <p:cNvSpPr txBox="1"/>
          <p:nvPr/>
        </p:nvSpPr>
        <p:spPr>
          <a:xfrm>
            <a:off x="8485632" y="250545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Harness 部署框架</a:t>
            </a:r>
            <a:endParaRPr lang="en-US" sz="1900" dirty="0"/>
          </a:p>
        </p:txBody>
      </p:sp>
      <p:sp>
        <p:nvSpPr>
          <p:cNvPr id="36" name="Text 31"/>
          <p:cNvSpPr txBox="1"/>
          <p:nvPr/>
        </p:nvSpPr>
        <p:spPr>
          <a:xfrm>
            <a:off x="8485632" y="28529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Governed Deployment Harness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8485632" y="323697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889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　制</a:t>
            </a:r>
            <a:endParaRPr lang="en-US" sz="1050" dirty="0"/>
          </a:p>
        </p:txBody>
      </p:sp>
      <p:sp>
        <p:nvSpPr>
          <p:cNvPr id="38" name="Text 33"/>
          <p:cNvSpPr txBox="1"/>
          <p:nvPr/>
        </p:nvSpPr>
        <p:spPr>
          <a:xfrm>
            <a:off x="8485632" y="345643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標準化 CI/CD 安全管線</a:t>
            </a:r>
            <a:endParaRPr lang="en-US" sz="1450" dirty="0"/>
          </a:p>
        </p:txBody>
      </p:sp>
      <p:sp>
        <p:nvSpPr>
          <p:cNvPr id="39" name="Text 34"/>
          <p:cNvSpPr txBox="1"/>
          <p:nvPr/>
        </p:nvSpPr>
        <p:spPr>
          <a:xfrm>
            <a:off x="8485632" y="39044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889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　節</a:t>
            </a:r>
            <a:endParaRPr lang="en-US" sz="1050" dirty="0"/>
          </a:p>
        </p:txBody>
      </p:sp>
      <p:sp>
        <p:nvSpPr>
          <p:cNvPr id="40" name="Text 35"/>
          <p:cNvSpPr txBox="1"/>
          <p:nvPr/>
        </p:nvSpPr>
        <p:spPr>
          <a:xfrm>
            <a:off x="8485632" y="413308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46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強制執行上線前資安掃描與紅隊測試 (Red Teaming) 驗證，未通過者不得進入生產環境。</a:t>
            </a:r>
            <a:endParaRPr lang="en-US" sz="1250" dirty="0"/>
          </a:p>
        </p:txBody>
      </p:sp>
      <p:sp>
        <p:nvSpPr>
          <p:cNvPr id="41" name="Shape 36"/>
          <p:cNvSpPr/>
          <p:nvPr/>
        </p:nvSpPr>
        <p:spPr>
          <a:xfrm>
            <a:off x="8485632" y="5029200"/>
            <a:ext cx="2880360" cy="420624"/>
          </a:xfrm>
          <a:prstGeom prst="roundRect">
            <a:avLst>
              <a:gd name="adj" fmla="val 30435"/>
            </a:avLst>
          </a:prstGeom>
          <a:solidFill>
            <a:srgbClr val="E7ECF5"/>
          </a:solidFill>
          <a:ln w="12700">
            <a:solidFill>
              <a:srgbClr val="E7ECF5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8485632" y="50292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驗證方式｜管線閘門與放行紀錄稽核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548640" y="56875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548640" y="56875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實體基礎設施 Physical Infrastructure</a:t>
            </a:r>
            <a:r>
              <a:rPr lang="en-US" sz="1200" dirty="0">
                <a:solidFill>
                  <a:srgbClr val="AEBB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｜　</a:t>
            </a:r>
            <a:r>
              <a:rPr lang="zh-TW" altLang="en-US" sz="1200" dirty="0">
                <a:solidFill>
                  <a:srgbClr val="AEBB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實體隔離</a:t>
            </a:r>
            <a:r>
              <a:rPr lang="en-US" sz="1200" dirty="0" err="1">
                <a:solidFill>
                  <a:srgbClr val="AEBBD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網段・專屬硬體資源・實體門禁與機房管制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16152" y="402336"/>
            <a:ext cx="1047262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Harness 治理外框：定位、作用範圍與效用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Harness </a:t>
            </a:r>
            <a:r>
              <a:rPr lang="en-US" sz="1400" dirty="0" err="1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是包覆</a:t>
            </a: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L3 代理行程的執行外框；跨層呼叫皆須經其放行，主要作用對象為 L4。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105497" cy="1280160"/>
          </a:xfrm>
          <a:prstGeom prst="roundRect">
            <a:avLst>
              <a:gd name="adj" fmla="val 1429"/>
            </a:avLst>
          </a:prstGeom>
          <a:solidFill>
            <a:srgbClr val="F4F6F9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609344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60934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609344"/>
            <a:ext cx="1282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基礎模型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" y="1938528"/>
            <a:ext cx="17763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間接作用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7512" y="2194560"/>
            <a:ext cx="1776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呼叫模型時套用輸入與輸出護欄，並經模型閘道依密級路由。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73009" y="1463040"/>
            <a:ext cx="2105497" cy="1280160"/>
          </a:xfrm>
          <a:prstGeom prst="roundRect">
            <a:avLst>
              <a:gd name="adj" fmla="val 1429"/>
            </a:avLst>
          </a:prstGeom>
          <a:solidFill>
            <a:srgbClr val="F4F6F9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37601" y="1609344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2937601" y="160934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3089" y="1609344"/>
            <a:ext cx="1282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領域模型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37601" y="1938528"/>
            <a:ext cx="17763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間接作用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37601" y="2194560"/>
            <a:ext cx="1776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同一路徑，並額外檢核調用者是否具該微調模型之授權。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43099" y="1463040"/>
            <a:ext cx="2105497" cy="1280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07691" y="1609344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5207691" y="160934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83179" y="1609344"/>
            <a:ext cx="1282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代理執行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07691" y="1938528"/>
            <a:ext cx="17763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掛載點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07691" y="2194560"/>
            <a:ext cx="1776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以基礎映像注入，Agent 行程在 Harness 內啟動，無從繞過。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3188" y="1463040"/>
            <a:ext cx="2105497" cy="1280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77780" y="1609344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7477780" y="160934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3268" y="1609344"/>
            <a:ext cx="1282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技能工具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7780" y="1938528"/>
            <a:ext cx="17763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主要作用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477780" y="2194560"/>
            <a:ext cx="1776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每一次工具、函式與 MCP 呼叫的必經關卡，決策點集中於此。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583278" y="1463040"/>
            <a:ext cx="2105497" cy="1280160"/>
          </a:xfrm>
          <a:prstGeom prst="roundRect">
            <a:avLst>
              <a:gd name="adj" fmla="val 1429"/>
            </a:avLst>
          </a:prstGeom>
          <a:solidFill>
            <a:srgbClr val="F4F6F9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47870" y="1609344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/>
        </p:spPr>
      </p:sp>
      <p:sp>
        <p:nvSpPr>
          <p:cNvPr id="32" name="Text 30"/>
          <p:cNvSpPr/>
          <p:nvPr/>
        </p:nvSpPr>
        <p:spPr>
          <a:xfrm>
            <a:off x="9747870" y="160934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23358" y="1609344"/>
            <a:ext cx="1282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領域知識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747870" y="1938528"/>
            <a:ext cx="17763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間接作用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747870" y="2194560"/>
            <a:ext cx="1776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檢索前套用 ACL 權限過濾，輸出端強制引用溯源。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279806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Harness 六項強制功能（部門僅能在框內定義行為，不得關閉或改寫）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2920" y="3127248"/>
            <a:ext cx="3582314" cy="115214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4088" y="3310128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9" name="Text 37"/>
          <p:cNvSpPr/>
          <p:nvPr/>
        </p:nvSpPr>
        <p:spPr>
          <a:xfrm>
            <a:off x="704088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24712" y="3291840"/>
            <a:ext cx="27410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工具白名單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704088" y="3694176"/>
            <a:ext cx="317997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各部門</a:t>
            </a:r>
            <a:r>
              <a:rPr lang="en-US" sz="1050" dirty="0" err="1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可用工具經審查後註冊；MCP</a:t>
            </a: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伺服器一律自建自審。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304690" y="3127248"/>
            <a:ext cx="3582314" cy="115214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05858" y="3310128"/>
            <a:ext cx="310896" cy="310896"/>
          </a:xfrm>
          <a:prstGeom prst="ellipse">
            <a:avLst/>
          </a:prstGeom>
          <a:solidFill>
            <a:srgbClr val="2C4270"/>
          </a:solidFill>
          <a:ln/>
        </p:spPr>
      </p:sp>
      <p:sp>
        <p:nvSpPr>
          <p:cNvPr id="44" name="Text 42"/>
          <p:cNvSpPr/>
          <p:nvPr/>
        </p:nvSpPr>
        <p:spPr>
          <a:xfrm>
            <a:off x="4505858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26482" y="3291840"/>
            <a:ext cx="27410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HITL 中斷閘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4505858" y="3694176"/>
            <a:ext cx="317997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050" dirty="0" err="1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對外發送、系統寫入</a:t>
            </a: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zh-TW" alt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部門資訊</a:t>
            </a: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，執行前中斷等待核准。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106461" y="3127248"/>
            <a:ext cx="3582314" cy="115214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07629" y="3310128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9" name="Text 47"/>
          <p:cNvSpPr/>
          <p:nvPr/>
        </p:nvSpPr>
        <p:spPr>
          <a:xfrm>
            <a:off x="8307629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728253" y="3291840"/>
            <a:ext cx="27410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四類護欄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8307629" y="3694176"/>
            <a:ext cx="317997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050" dirty="0" err="1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輸入、輸出、行為、主題一致套用，命中即阻斷</a:t>
            </a: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02920" y="4425696"/>
            <a:ext cx="3582314" cy="115214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4088" y="4608576"/>
            <a:ext cx="310896" cy="310896"/>
          </a:xfrm>
          <a:prstGeom prst="ellipse">
            <a:avLst/>
          </a:prstGeom>
          <a:solidFill>
            <a:srgbClr val="C8891B"/>
          </a:solidFill>
          <a:ln/>
        </p:spPr>
      </p:sp>
      <p:sp>
        <p:nvSpPr>
          <p:cNvPr id="54" name="Text 52"/>
          <p:cNvSpPr/>
          <p:nvPr/>
        </p:nvSpPr>
        <p:spPr>
          <a:xfrm>
            <a:off x="704088" y="4608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124712" y="4590288"/>
            <a:ext cx="27410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用量與成本控管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704088" y="4992624"/>
            <a:ext cx="317997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050" dirty="0" err="1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單次任務Token上限、每日部門配額、異常暴衝自動熔斷</a:t>
            </a: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304690" y="4425696"/>
            <a:ext cx="3582314" cy="115214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05858" y="4608576"/>
            <a:ext cx="310896" cy="310896"/>
          </a:xfrm>
          <a:prstGeom prst="ellipse">
            <a:avLst/>
          </a:prstGeom>
          <a:solidFill>
            <a:srgbClr val="B3372B"/>
          </a:solidFill>
          <a:ln/>
        </p:spPr>
      </p:sp>
      <p:sp>
        <p:nvSpPr>
          <p:cNvPr id="59" name="Text 57"/>
          <p:cNvSpPr/>
          <p:nvPr/>
        </p:nvSpPr>
        <p:spPr>
          <a:xfrm>
            <a:off x="4505858" y="4608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926482" y="4590288"/>
            <a:ext cx="27410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決策軌跡記錄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4505858" y="4992624"/>
            <a:ext cx="317997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記錄計畫、工具參數、檢索命中與最終輸出，供事後重建。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106461" y="4425696"/>
            <a:ext cx="3582314" cy="115214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307629" y="4608576"/>
            <a:ext cx="310896" cy="31089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64" name="Text 62"/>
          <p:cNvSpPr/>
          <p:nvPr/>
        </p:nvSpPr>
        <p:spPr>
          <a:xfrm>
            <a:off x="8307629" y="4608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728253" y="4590288"/>
            <a:ext cx="27410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政策即程式碼</a:t>
            </a:r>
            <a:endParaRPr lang="en-US" sz="1450" dirty="0"/>
          </a:p>
        </p:txBody>
      </p:sp>
      <p:sp>
        <p:nvSpPr>
          <p:cNvPr id="66" name="Text 64"/>
          <p:cNvSpPr/>
          <p:nvPr/>
        </p:nvSpPr>
        <p:spPr>
          <a:xfrm>
            <a:off x="8307629" y="4992624"/>
            <a:ext cx="317997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050" dirty="0" err="1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規則管理，版本控管、變更留Log、可自動化測試</a:t>
            </a:r>
            <a:r>
              <a:rPr lang="en-US" sz="10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02920" y="5669280"/>
            <a:ext cx="11185855" cy="566928"/>
          </a:xfrm>
          <a:prstGeom prst="roundRect">
            <a:avLst>
              <a:gd name="adj" fmla="val 4839"/>
            </a:avLst>
          </a:prstGeom>
          <a:solidFill>
            <a:srgbClr val="E7F1F2"/>
          </a:solidFill>
          <a:ln/>
        </p:spPr>
      </p:sp>
      <p:sp>
        <p:nvSpPr>
          <p:cNvPr id="68" name="Text 66"/>
          <p:cNvSpPr/>
          <p:nvPr/>
        </p:nvSpPr>
        <p:spPr>
          <a:xfrm>
            <a:off x="704088" y="5669280"/>
            <a:ext cx="107835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不可繞過　</a:t>
            </a:r>
            <a:r>
              <a:rPr lang="en-US" sz="1150" dirty="0">
                <a:solidFill>
                  <a:srgbClr val="1F29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管行程隔離、Sandbox 管系統呼叫、Harness 管「允不允許做這件事」；Harness 以基礎映像強制注入，映像簽章比對失敗者拒絕排程，因此部門無法建置不含 Harness 的執行環境。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10865815" y="6382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OWASP RISK BASELINE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OWASP 四大風險基準與五層之對應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2560320" cy="146304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37360"/>
            <a:ext cx="118872" cy="960120"/>
          </a:xfrm>
          <a:prstGeom prst="roundRect">
            <a:avLst>
              <a:gd name="adj" fmla="val 46154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0704" y="1682496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OWASP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18836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Top 10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2212848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30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提示注入、敏感資訊洩漏、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30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供應鏈、輸出處理不當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536192"/>
            <a:ext cx="2560320" cy="146304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0168" y="1737360"/>
            <a:ext cx="118872" cy="960120"/>
          </a:xfrm>
          <a:prstGeom prst="roundRect">
            <a:avLst>
              <a:gd name="adj" fmla="val 4615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9624" y="1682496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OWASP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18836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Agentic AI Top 10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49624" y="2212848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30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記憶投毒、工具誤用、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30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權限擴張、目標操縱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536192"/>
            <a:ext cx="2560320" cy="146304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1737360"/>
            <a:ext cx="118872" cy="960120"/>
          </a:xfrm>
          <a:prstGeom prst="roundRect">
            <a:avLst>
              <a:gd name="adj" fmla="val 46154"/>
            </a:avLst>
          </a:prstGeom>
          <a:solidFill>
            <a:srgbClr val="B3372B"/>
          </a:solidFill>
          <a:ln w="12700">
            <a:solidFill>
              <a:srgbClr val="B337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38544" y="1682496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OWASP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638544" y="18836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Agentic Skills AST10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38544" y="2212848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30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惡意技能、權限過度、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30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外部指令、隔離不足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840" y="1536192"/>
            <a:ext cx="2560320" cy="146304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08008" y="1737360"/>
            <a:ext cx="118872" cy="960120"/>
          </a:xfrm>
          <a:prstGeom prst="roundRect">
            <a:avLst>
              <a:gd name="adj" fmla="val 46154"/>
            </a:avLst>
          </a:prstGeom>
          <a:solidFill>
            <a:srgbClr val="C8891B"/>
          </a:solidFill>
          <a:ln w="12700">
            <a:solidFill>
              <a:srgbClr val="C8891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27464" y="1682496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OWASP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427464" y="18836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AISVS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427464" y="2212848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30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C 章節作為驗證清單，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30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C10 用於 MCP 工具安全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640080" y="3200400"/>
          <a:ext cx="1088136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層級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代表性風險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對應控制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L1 基礎模型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越獄、供應鏈植入、輸出不當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模型來源驗簽、閘道輸入輸出過濾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L2 領域模型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校準資料投毒、能力外溢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校準資料審查、模型卡與能力邊界宣告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L3 代理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目標操縱、權限擴張、無限迴圈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狀態機約束、最小權限、步數與成本上限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L4 技能／工具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惡意技能、權限過度、外部指令注入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簽章驗證、最小權限宣告、沙箱與資源限額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L5 領域知識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2230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語料投毒、跨</a:t>
                      </a:r>
                      <a:r>
                        <a:rPr lang="zh-TW" altLang="en-US" sz="1200" dirty="0">
                          <a:solidFill>
                            <a:srgbClr val="2230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部門</a:t>
                      </a:r>
                      <a:r>
                        <a:rPr lang="en-US" sz="1200" dirty="0" err="1">
                          <a:solidFill>
                            <a:srgbClr val="2230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洩漏、查詢注入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來源分級、唯讀帳號、查詢靜態驗證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1459</Words>
  <Application>Microsoft Office PowerPoint</Application>
  <PresentationFormat>寬螢幕</PresentationFormat>
  <Paragraphs>351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企業級 AI 安全框架 — 兩頁摘要</dc:title>
  <dc:subject>PptxGenJS Presentation</dc:subject>
  <dc:creator>CACC 資通安全暨AI融合中心</dc:creator>
  <cp:lastModifiedBy>白方平</cp:lastModifiedBy>
  <cp:revision>8</cp:revision>
  <dcterms:created xsi:type="dcterms:W3CDTF">2026-08-27T09:43:37Z</dcterms:created>
  <dcterms:modified xsi:type="dcterms:W3CDTF">2026-08-27T23:45:43Z</dcterms:modified>
</cp:coreProperties>
</file>